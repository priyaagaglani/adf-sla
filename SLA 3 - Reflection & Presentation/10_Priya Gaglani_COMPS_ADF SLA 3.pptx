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1"/>
  </p:notesMasterIdLst>
  <p:sldIdLst>
    <p:sldId id="256" r:id="rId5"/>
    <p:sldId id="257" r:id="rId6"/>
    <p:sldId id="258" r:id="rId7"/>
    <p:sldId id="259" r:id="rId8"/>
    <p:sldId id="260" r:id="rId9"/>
    <p:sldId id="262" r:id="rId10"/>
    <p:sldId id="263" r:id="rId11"/>
    <p:sldId id="264" r:id="rId12"/>
    <p:sldId id="265" r:id="rId13"/>
    <p:sldId id="266" r:id="rId14"/>
    <p:sldId id="267" r:id="rId15"/>
    <p:sldId id="268" r:id="rId16"/>
    <p:sldId id="269" r:id="rId17"/>
    <p:sldId id="270" r:id="rId18"/>
    <p:sldId id="271" r:id="rId19"/>
    <p:sldId id="261" r:id="rId20"/>
  </p:sldIdLst>
  <p:sldSz cx="12192000" cy="6858000"/>
  <p:notesSz cx="6858000" cy="9144000"/>
  <p:embeddedFontLst>
    <p:embeddedFont>
      <p:font typeface="Bodoni" panose="020B0604020202020204" charset="0"/>
      <p:regular r:id="rId22"/>
      <p:bold r:id="rId23"/>
      <p:italic r:id="rId24"/>
      <p:boldItalic r:id="rId25"/>
    </p:embeddedFont>
    <p:embeddedFont>
      <p:font typeface="Calibri" panose="020F0502020204030204" pitchFamily="34" charset="0"/>
      <p:regular r:id="rId26"/>
      <p:bold r:id="rId27"/>
      <p:italic r:id="rId28"/>
      <p:boldItalic r:id="rId29"/>
    </p:embeddedFont>
    <p:embeddedFont>
      <p:font typeface="Verdana" panose="020B0604030504040204" pitchFamily="3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j8i/0QYR7hMratR+aAnh5MRVo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8269872-E178-4BFD-9306-1EBE11D6D2E7}">
  <a:tblStyle styleId="{78269872-E178-4BFD-9306-1EBE11D6D2E7}"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5.fntdata"/><Relationship Id="rId21" Type="http://schemas.openxmlformats.org/officeDocument/2006/relationships/notesMaster" Target="notesMasters/notesMaster1.xml"/><Relationship Id="rId34"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0.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1746731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99" name="Google Shape;9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27" name="Google Shape;12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82b4099f15_0_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382b4099f15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3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6"/>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 name="Google Shape;18;p3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37"/>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7"/>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4" name="Google Shape;24;p3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8"/>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8"/>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3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9"/>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39"/>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3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3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4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0"/>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40"/>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40"/>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40"/>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4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4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4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4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4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4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4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4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4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43"/>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3"/>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43"/>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4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4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4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44"/>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44"/>
          <p:cNvSpPr>
            <a:spLocks noGrp="1"/>
          </p:cNvSpPr>
          <p:nvPr>
            <p:ph type="pic" idx="2"/>
          </p:nvPr>
        </p:nvSpPr>
        <p:spPr>
          <a:xfrm>
            <a:off x="2389717" y="612775"/>
            <a:ext cx="7315200" cy="4114800"/>
          </a:xfrm>
          <a:prstGeom prst="rect">
            <a:avLst/>
          </a:prstGeom>
          <a:noFill/>
          <a:ln>
            <a:noFill/>
          </a:ln>
        </p:spPr>
      </p:sp>
      <p:sp>
        <p:nvSpPr>
          <p:cNvPr id="68" name="Google Shape;68;p44"/>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4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4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5"/>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4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4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6"/>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6"/>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4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4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4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mt="4000"/>
          </a:blip>
          <a:stretch>
            <a:fillRect/>
          </a:stretch>
        </a:blipFill>
        <a:effectLst/>
      </p:bgPr>
    </p:bg>
    <p:spTree>
      <p:nvGrpSpPr>
        <p:cNvPr id="1" name="Shape 9"/>
        <p:cNvGrpSpPr/>
        <p:nvPr/>
      </p:nvGrpSpPr>
      <p:grpSpPr>
        <a:xfrm>
          <a:off x="0" y="0"/>
          <a:ext cx="0" cy="0"/>
          <a:chOff x="0" y="0"/>
          <a:chExt cx="0" cy="0"/>
        </a:xfrm>
      </p:grpSpPr>
      <p:sp>
        <p:nvSpPr>
          <p:cNvPr id="10" name="Google Shape;10;p3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title"/>
          </p:nvPr>
        </p:nvSpPr>
        <p:spPr>
          <a:xfrm>
            <a:off x="1681758" y="-27384"/>
            <a:ext cx="8828484" cy="142876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Verdana"/>
              <a:buNone/>
            </a:pPr>
            <a:r>
              <a:rPr lang="en-US" sz="3600">
                <a:latin typeface="Verdana"/>
                <a:ea typeface="Verdana"/>
                <a:cs typeface="Verdana"/>
                <a:sym typeface="Verdana"/>
              </a:rPr>
              <a:t> </a:t>
            </a:r>
            <a:r>
              <a:rPr lang="en-US" sz="1800">
                <a:latin typeface="Bodoni"/>
                <a:ea typeface="Bodoni"/>
                <a:cs typeface="Bodoni"/>
                <a:sym typeface="Bodoni"/>
              </a:rPr>
              <a:t> Mahavir Education Trust’s</a:t>
            </a:r>
            <a:br>
              <a:rPr lang="en-US" sz="1800">
                <a:latin typeface="Bodoni"/>
                <a:ea typeface="Bodoni"/>
                <a:cs typeface="Bodoni"/>
                <a:sym typeface="Bodoni"/>
              </a:rPr>
            </a:br>
            <a:r>
              <a:rPr lang="en-US" sz="4000">
                <a:latin typeface="Bodoni"/>
                <a:ea typeface="Bodoni"/>
                <a:cs typeface="Bodoni"/>
                <a:sym typeface="Bodoni"/>
              </a:rPr>
              <a:t>Shah &amp; Anchor Kutchhi Engineering College</a:t>
            </a:r>
            <a:br>
              <a:rPr lang="en-US" sz="3100">
                <a:latin typeface="Bodoni"/>
                <a:ea typeface="Bodoni"/>
                <a:cs typeface="Bodoni"/>
                <a:sym typeface="Bodoni"/>
              </a:rPr>
            </a:br>
            <a:r>
              <a:rPr lang="en-US" sz="1800">
                <a:latin typeface="Bodoni"/>
                <a:ea typeface="Bodoni"/>
                <a:cs typeface="Bodoni"/>
                <a:sym typeface="Bodoni"/>
              </a:rPr>
              <a:t>Chembur, Mumbai-400088</a:t>
            </a:r>
            <a:br>
              <a:rPr lang="en-US" sz="1800">
                <a:latin typeface="Bodoni"/>
                <a:ea typeface="Bodoni"/>
                <a:cs typeface="Bodoni"/>
                <a:sym typeface="Bodoni"/>
              </a:rPr>
            </a:br>
            <a:r>
              <a:rPr lang="en-US" sz="1800">
                <a:solidFill>
                  <a:schemeClr val="dk1"/>
                </a:solidFill>
                <a:latin typeface="Bodoni"/>
                <a:ea typeface="Bodoni"/>
                <a:cs typeface="Bodoni"/>
                <a:sym typeface="Bodoni"/>
              </a:rPr>
              <a:t>(An Autonomous Institute Affiliated to University of Mumbai)</a:t>
            </a:r>
            <a:endParaRPr sz="2000">
              <a:latin typeface="Bodoni"/>
              <a:ea typeface="Bodoni"/>
              <a:cs typeface="Bodoni"/>
              <a:sym typeface="Bodoni"/>
            </a:endParaRPr>
          </a:p>
        </p:txBody>
      </p:sp>
      <p:sp>
        <p:nvSpPr>
          <p:cNvPr id="89" name="Google Shape;89;p1"/>
          <p:cNvSpPr txBox="1"/>
          <p:nvPr/>
        </p:nvSpPr>
        <p:spPr>
          <a:xfrm>
            <a:off x="2333820" y="3717032"/>
            <a:ext cx="7721579" cy="87686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000"/>
              <a:buFont typeface="Verdana"/>
              <a:buNone/>
            </a:pPr>
            <a:r>
              <a:rPr lang="en-US" sz="4000" b="0" i="0" u="none" strike="noStrike" cap="none">
                <a:solidFill>
                  <a:schemeClr val="dk1"/>
                </a:solidFill>
                <a:latin typeface="Verdana"/>
                <a:ea typeface="Verdana"/>
                <a:cs typeface="Verdana"/>
                <a:sym typeface="Verdana"/>
              </a:rPr>
              <a:t> </a:t>
            </a:r>
            <a:r>
              <a:rPr lang="en-US" sz="2000" b="0" i="0" u="none" strike="noStrike" cap="none">
                <a:solidFill>
                  <a:schemeClr val="dk1"/>
                </a:solidFill>
                <a:latin typeface="Bodoni"/>
                <a:ea typeface="Bodoni"/>
                <a:cs typeface="Bodoni"/>
                <a:sym typeface="Bodoni"/>
              </a:rPr>
              <a:t>Department of Cyber Security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600"/>
              <a:buFont typeface="Bodoni"/>
              <a:buNone/>
            </a:pPr>
            <a:endParaRPr sz="1050" b="1" i="1" u="none" strike="noStrike" cap="none">
              <a:solidFill>
                <a:srgbClr val="5A0886"/>
              </a:solidFill>
              <a:latin typeface="Bodoni"/>
              <a:ea typeface="Bodoni"/>
              <a:cs typeface="Bodoni"/>
              <a:sym typeface="Bodoni"/>
            </a:endParaRPr>
          </a:p>
        </p:txBody>
      </p:sp>
      <p:sp>
        <p:nvSpPr>
          <p:cNvPr id="90" name="Google Shape;90;p1"/>
          <p:cNvSpPr txBox="1"/>
          <p:nvPr/>
        </p:nvSpPr>
        <p:spPr>
          <a:xfrm>
            <a:off x="2468709" y="4591132"/>
            <a:ext cx="7586690" cy="2204864"/>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200"/>
              <a:buFont typeface="Verdana"/>
              <a:buNone/>
            </a:pPr>
            <a:r>
              <a:rPr lang="en-US" sz="1200" b="0" i="0" u="none" strike="noStrike" cap="none" dirty="0">
                <a:solidFill>
                  <a:schemeClr val="dk1"/>
                </a:solidFill>
                <a:latin typeface="Verdana"/>
                <a:ea typeface="Verdana"/>
                <a:cs typeface="Verdana"/>
                <a:sym typeface="Verdana"/>
              </a:rPr>
              <a:t>presentation</a:t>
            </a:r>
            <a:endParaRPr sz="1200" b="0" i="0" u="none" strike="noStrike" cap="none" dirty="0">
              <a:solidFill>
                <a:schemeClr val="dk1"/>
              </a:solidFill>
              <a:latin typeface="Verdana"/>
              <a:ea typeface="Verdana"/>
              <a:cs typeface="Verdana"/>
              <a:sym typeface="Verdana"/>
            </a:endParaRPr>
          </a:p>
          <a:p>
            <a:pPr marL="0" marR="0" lvl="0" indent="0" algn="ctr" rtl="0">
              <a:lnSpc>
                <a:spcPct val="100000"/>
              </a:lnSpc>
              <a:spcBef>
                <a:spcPts val="0"/>
              </a:spcBef>
              <a:spcAft>
                <a:spcPts val="0"/>
              </a:spcAft>
              <a:buClr>
                <a:schemeClr val="dk1"/>
              </a:buClr>
              <a:buSzPts val="1200"/>
              <a:buFont typeface="Verdana"/>
              <a:buNone/>
            </a:pPr>
            <a:r>
              <a:rPr lang="en-US" sz="1200" b="0" i="0" u="none" strike="noStrike" cap="none" dirty="0">
                <a:solidFill>
                  <a:schemeClr val="dk1"/>
                </a:solidFill>
                <a:latin typeface="Verdana"/>
                <a:ea typeface="Verdana"/>
                <a:cs typeface="Verdana"/>
                <a:sym typeface="Verdana"/>
              </a:rPr>
              <a:t>on</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200"/>
              <a:buFont typeface="Calibri"/>
              <a:buNone/>
            </a:pPr>
            <a:endParaRPr sz="1200" b="0" i="0" u="none" strike="noStrike" cap="none" dirty="0">
              <a:solidFill>
                <a:schemeClr val="dk1"/>
              </a:solidFill>
              <a:latin typeface="Verdana"/>
              <a:ea typeface="Verdana"/>
              <a:cs typeface="Verdana"/>
              <a:sym typeface="Verdana"/>
            </a:endParaRPr>
          </a:p>
          <a:p>
            <a:pPr algn="ctr">
              <a:buClr>
                <a:schemeClr val="dk1"/>
              </a:buClr>
              <a:buSzPts val="1600"/>
            </a:pPr>
            <a:r>
              <a:rPr lang="en-IN" sz="1800" b="1" dirty="0">
                <a:latin typeface="Verdana" panose="020B0604030504040204" pitchFamily="34" charset="0"/>
                <a:ea typeface="Verdana" panose="020B0604030504040204" pitchFamily="34" charset="0"/>
                <a:cs typeface="Bodoni"/>
                <a:sym typeface="Bodoni"/>
              </a:rPr>
              <a:t>My Self-Learning Journey</a:t>
            </a:r>
            <a:endParaRPr lang="en-US" sz="1800" b="1" dirty="0">
              <a:latin typeface="Verdana" panose="020B0604030504040204" pitchFamily="34" charset="0"/>
              <a:ea typeface="Verdana" panose="020B0604030504040204" pitchFamily="34" charset="0"/>
            </a:endParaRPr>
          </a:p>
          <a:p>
            <a:pPr marL="0" marR="0" lvl="0" indent="0" algn="ctr" rtl="0">
              <a:lnSpc>
                <a:spcPct val="100000"/>
              </a:lnSpc>
              <a:spcBef>
                <a:spcPts val="0"/>
              </a:spcBef>
              <a:spcAft>
                <a:spcPts val="0"/>
              </a:spcAft>
              <a:buClr>
                <a:schemeClr val="dk1"/>
              </a:buClr>
              <a:buSzPts val="1600"/>
              <a:buFont typeface="Verdana"/>
              <a:buNone/>
            </a:pPr>
            <a:endParaRPr sz="1400" b="0" i="0" u="none" strike="noStrike" cap="none" dirty="0">
              <a:solidFill>
                <a:srgbClr val="000000"/>
              </a:solidFill>
              <a:latin typeface="Arial"/>
              <a:ea typeface="Arial"/>
              <a:cs typeface="Arial"/>
              <a:sym typeface="Arial"/>
            </a:endParaRPr>
          </a:p>
          <a:p>
            <a:pPr lvl="0" algn="ctr">
              <a:buClr>
                <a:schemeClr val="dk1"/>
              </a:buClr>
              <a:buSzPts val="1200"/>
            </a:pPr>
            <a:r>
              <a:rPr lang="en-US" sz="1200" b="0" i="0" u="none" strike="noStrike" cap="none" dirty="0">
                <a:solidFill>
                  <a:schemeClr val="dk1"/>
                </a:solidFill>
                <a:highlight>
                  <a:schemeClr val="lt1"/>
                </a:highlight>
                <a:latin typeface="Verdana"/>
                <a:ea typeface="Verdana"/>
                <a:cs typeface="Verdana"/>
                <a:sym typeface="Verdana"/>
              </a:rPr>
              <a:t>(</a:t>
            </a:r>
            <a:r>
              <a:rPr lang="en-US" sz="1200" b="0" i="0" u="none" strike="noStrike" cap="none" dirty="0" err="1">
                <a:solidFill>
                  <a:schemeClr val="dk1"/>
                </a:solidFill>
                <a:highlight>
                  <a:schemeClr val="lt1"/>
                </a:highlight>
                <a:latin typeface="Verdana"/>
                <a:ea typeface="Verdana"/>
                <a:cs typeface="Verdana"/>
                <a:sym typeface="Verdana"/>
              </a:rPr>
              <a:t>Subject:Advanced</a:t>
            </a:r>
            <a:r>
              <a:rPr lang="en-US" sz="1200" b="0" i="0" u="none" strike="noStrike" cap="none" dirty="0">
                <a:solidFill>
                  <a:schemeClr val="dk1"/>
                </a:solidFill>
                <a:highlight>
                  <a:schemeClr val="lt1"/>
                </a:highlight>
                <a:latin typeface="Verdana"/>
                <a:ea typeface="Verdana"/>
                <a:cs typeface="Verdana"/>
                <a:sym typeface="Verdana"/>
              </a:rPr>
              <a:t> Digital Forensics      </a:t>
            </a:r>
            <a:r>
              <a:rPr lang="en-IN" sz="1200" dirty="0"/>
              <a:t>HNCSCR0701</a:t>
            </a:r>
            <a:r>
              <a:rPr lang="en-US" sz="1200" b="0" i="0" u="none" strike="noStrike" cap="none" dirty="0">
                <a:solidFill>
                  <a:schemeClr val="dk1"/>
                </a:solidFill>
                <a:highlight>
                  <a:schemeClr val="lt1"/>
                </a:highlight>
                <a:latin typeface="Verdana"/>
                <a:ea typeface="Verdana"/>
                <a:cs typeface="Verdana"/>
                <a:sym typeface="Verdana"/>
              </a:rPr>
              <a:t> )</a:t>
            </a:r>
            <a:endParaRPr sz="1400" b="0" i="0" u="none" strike="noStrike" cap="none" dirty="0">
              <a:solidFill>
                <a:srgbClr val="000000"/>
              </a:solidFill>
              <a:highlight>
                <a:schemeClr val="lt1"/>
              </a:highlight>
              <a:latin typeface="Arial"/>
              <a:ea typeface="Arial"/>
              <a:cs typeface="Arial"/>
              <a:sym typeface="Arial"/>
            </a:endParaRPr>
          </a:p>
          <a:p>
            <a:pPr marL="0" marR="0" lvl="0" indent="0" algn="ctr" rtl="0">
              <a:lnSpc>
                <a:spcPct val="100000"/>
              </a:lnSpc>
              <a:spcBef>
                <a:spcPts val="0"/>
              </a:spcBef>
              <a:spcAft>
                <a:spcPts val="0"/>
              </a:spcAft>
              <a:buClr>
                <a:schemeClr val="dk1"/>
              </a:buClr>
              <a:buSzPts val="1200"/>
              <a:buFont typeface="Verdana"/>
              <a:buNone/>
            </a:pPr>
            <a:br>
              <a:rPr lang="en-US" sz="1200" b="1" i="0" u="none" strike="noStrike" cap="none" dirty="0">
                <a:solidFill>
                  <a:schemeClr val="dk1"/>
                </a:solidFill>
                <a:latin typeface="Verdana"/>
                <a:ea typeface="Verdana"/>
                <a:cs typeface="Verdana"/>
                <a:sym typeface="Verdana"/>
              </a:rPr>
            </a:br>
            <a:r>
              <a:rPr lang="en-US" sz="1200" b="0" i="0" u="none" strike="noStrike" cap="none" dirty="0">
                <a:solidFill>
                  <a:schemeClr val="dk1"/>
                </a:solidFill>
                <a:latin typeface="Verdana"/>
                <a:ea typeface="Verdana"/>
                <a:cs typeface="Verdana"/>
                <a:sym typeface="Verdana"/>
              </a:rPr>
              <a:t>by</a:t>
            </a:r>
            <a:br>
              <a:rPr lang="en-US" sz="1200" b="0" i="0" u="none" strike="noStrike" cap="none" dirty="0">
                <a:solidFill>
                  <a:schemeClr val="dk1"/>
                </a:solidFill>
                <a:latin typeface="Verdana"/>
                <a:ea typeface="Verdana"/>
                <a:cs typeface="Verdana"/>
                <a:sym typeface="Verdana"/>
              </a:rPr>
            </a:br>
            <a:r>
              <a:rPr lang="en-US" sz="1600" b="1" dirty="0">
                <a:solidFill>
                  <a:schemeClr val="dk1"/>
                </a:solidFill>
                <a:highlight>
                  <a:schemeClr val="lt1"/>
                </a:highlight>
                <a:latin typeface="Verdana"/>
                <a:ea typeface="Verdana"/>
                <a:cs typeface="Verdana"/>
                <a:sym typeface="Verdana"/>
              </a:rPr>
              <a:t>(Priya </a:t>
            </a:r>
            <a:r>
              <a:rPr lang="en-US" sz="1600" b="1" dirty="0" err="1">
                <a:solidFill>
                  <a:schemeClr val="dk1"/>
                </a:solidFill>
                <a:highlight>
                  <a:schemeClr val="lt1"/>
                </a:highlight>
                <a:latin typeface="Verdana"/>
                <a:ea typeface="Verdana"/>
                <a:cs typeface="Verdana"/>
                <a:sym typeface="Verdana"/>
              </a:rPr>
              <a:t>Gaglani</a:t>
            </a:r>
            <a:r>
              <a:rPr lang="en-US" sz="1600" b="1" dirty="0">
                <a:solidFill>
                  <a:schemeClr val="dk1"/>
                </a:solidFill>
                <a:highlight>
                  <a:schemeClr val="lt1"/>
                </a:highlight>
                <a:latin typeface="Verdana"/>
                <a:ea typeface="Verdana"/>
                <a:cs typeface="Verdana"/>
                <a:sym typeface="Verdana"/>
              </a:rPr>
              <a:t>       23UF18027CM016)</a:t>
            </a:r>
            <a:endParaRPr sz="1400" b="0" i="0" u="none" strike="noStrike" cap="none" dirty="0">
              <a:solidFill>
                <a:srgbClr val="000000"/>
              </a:solidFill>
              <a:highlight>
                <a:schemeClr val="lt1"/>
              </a:highlight>
              <a:latin typeface="Arial"/>
              <a:ea typeface="Arial"/>
              <a:cs typeface="Arial"/>
              <a:sym typeface="Arial"/>
            </a:endParaRPr>
          </a:p>
          <a:p>
            <a:pPr marL="0" marR="0" lvl="0" indent="0" algn="ctr" rtl="0">
              <a:lnSpc>
                <a:spcPct val="100000"/>
              </a:lnSpc>
              <a:spcBef>
                <a:spcPts val="0"/>
              </a:spcBef>
              <a:spcAft>
                <a:spcPts val="0"/>
              </a:spcAft>
              <a:buClr>
                <a:schemeClr val="dk1"/>
              </a:buClr>
              <a:buSzPts val="1200"/>
              <a:buFont typeface="Verdana"/>
              <a:buNone/>
            </a:pPr>
            <a:r>
              <a:rPr lang="en-US" sz="1200" b="0" i="1" u="none" strike="noStrike" cap="none" dirty="0">
                <a:solidFill>
                  <a:schemeClr val="dk1"/>
                </a:solidFill>
                <a:highlight>
                  <a:schemeClr val="lt1"/>
                </a:highlight>
                <a:latin typeface="Verdana"/>
                <a:ea typeface="Verdana"/>
                <a:cs typeface="Verdana"/>
                <a:sym typeface="Verdana"/>
              </a:rPr>
              <a:t>Email: priya.18027@sakec.ac.in</a:t>
            </a:r>
            <a:endParaRPr sz="1400" b="0" i="0" u="none" strike="noStrike" cap="none" dirty="0">
              <a:solidFill>
                <a:srgbClr val="000000"/>
              </a:solidFill>
              <a:highlight>
                <a:schemeClr val="lt1"/>
              </a:highlight>
              <a:latin typeface="Arial"/>
              <a:ea typeface="Arial"/>
              <a:cs typeface="Arial"/>
              <a:sym typeface="Arial"/>
            </a:endParaRPr>
          </a:p>
        </p:txBody>
      </p:sp>
      <p:pic>
        <p:nvPicPr>
          <p:cNvPr id="91" name="Google Shape;91;p1" descr="A white building with many balconies&#10;&#10;AI-generated content may be incorrect."/>
          <p:cNvPicPr preferRelativeResize="0"/>
          <p:nvPr/>
        </p:nvPicPr>
        <p:blipFill rotWithShape="1">
          <a:blip r:embed="rId3">
            <a:alphaModFix/>
          </a:blip>
          <a:srcRect/>
          <a:stretch/>
        </p:blipFill>
        <p:spPr>
          <a:xfrm>
            <a:off x="4507629" y="1460620"/>
            <a:ext cx="3316563" cy="2376264"/>
          </a:xfrm>
          <a:prstGeom prst="rect">
            <a:avLst/>
          </a:prstGeom>
          <a:noFill/>
          <a:ln>
            <a:noFill/>
          </a:ln>
        </p:spPr>
      </p:pic>
      <p:pic>
        <p:nvPicPr>
          <p:cNvPr id="92" name="Google Shape;92;p1" descr="A circular logo with a circle and a logo on it&#10;&#10;AI-generated content may be incorrect."/>
          <p:cNvPicPr preferRelativeResize="0"/>
          <p:nvPr/>
        </p:nvPicPr>
        <p:blipFill rotWithShape="1">
          <a:blip r:embed="rId4">
            <a:alphaModFix/>
          </a:blip>
          <a:srcRect/>
          <a:stretch/>
        </p:blipFill>
        <p:spPr>
          <a:xfrm>
            <a:off x="10983735" y="196636"/>
            <a:ext cx="980728" cy="980728"/>
          </a:xfrm>
          <a:prstGeom prst="rect">
            <a:avLst/>
          </a:prstGeom>
          <a:noFill/>
          <a:ln>
            <a:noFill/>
          </a:ln>
        </p:spPr>
      </p:pic>
      <p:grpSp>
        <p:nvGrpSpPr>
          <p:cNvPr id="93" name="Google Shape;93;p1"/>
          <p:cNvGrpSpPr/>
          <p:nvPr/>
        </p:nvGrpSpPr>
        <p:grpSpPr>
          <a:xfrm>
            <a:off x="7300" y="2220"/>
            <a:ext cx="1443834" cy="6855780"/>
            <a:chOff x="7300" y="2220"/>
            <a:chExt cx="1443834" cy="6855780"/>
          </a:xfrm>
        </p:grpSpPr>
        <p:sp>
          <p:nvSpPr>
            <p:cNvPr id="94" name="Google Shape;94;p1"/>
            <p:cNvSpPr/>
            <p:nvPr/>
          </p:nvSpPr>
          <p:spPr>
            <a:xfrm>
              <a:off x="7300" y="2220"/>
              <a:ext cx="425219" cy="685578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5" name="Google Shape;95;p1" descr="A logo with a blue design&#10;&#10;AI-generated content may be incorrect."/>
            <p:cNvPicPr preferRelativeResize="0"/>
            <p:nvPr/>
          </p:nvPicPr>
          <p:blipFill rotWithShape="1">
            <a:blip r:embed="rId5">
              <a:alphaModFix/>
            </a:blip>
            <a:srcRect/>
            <a:stretch/>
          </p:blipFill>
          <p:spPr>
            <a:xfrm>
              <a:off x="524957" y="183372"/>
              <a:ext cx="926177" cy="841980"/>
            </a:xfrm>
            <a:prstGeom prst="rect">
              <a:avLst/>
            </a:prstGeom>
            <a:noFill/>
            <a:ln>
              <a:noFill/>
            </a:ln>
          </p:spPr>
        </p:pic>
      </p:grpSp>
      <p:sp>
        <p:nvSpPr>
          <p:cNvPr id="96" name="Google Shape;96;p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22/10/2026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5"/>
          <p:cNvSpPr txBox="1">
            <a:spLocks noGrp="1"/>
          </p:cNvSpPr>
          <p:nvPr>
            <p:ph type="title"/>
          </p:nvPr>
        </p:nvSpPr>
        <p:spPr>
          <a:xfrm>
            <a:off x="4371757" y="343884"/>
            <a:ext cx="3815023" cy="6093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Clr>
                <a:schemeClr val="dk1"/>
              </a:buClr>
              <a:buSzPts val="2300"/>
              <a:buFont typeface="Bodoni"/>
              <a:buNone/>
            </a:pPr>
            <a:r>
              <a:rPr lang="en-US" sz="3600" b="1">
                <a:latin typeface="Bodoni"/>
                <a:ea typeface="Bodoni"/>
                <a:cs typeface="Bodoni"/>
                <a:sym typeface="Bodoni"/>
              </a:rPr>
              <a:t>Vision &amp; Mission</a:t>
            </a:r>
            <a:endParaRPr sz="3600" b="1">
              <a:latin typeface="Bodoni"/>
              <a:ea typeface="Bodoni"/>
              <a:cs typeface="Bodoni"/>
              <a:sym typeface="Bodoni"/>
            </a:endParaRPr>
          </a:p>
        </p:txBody>
      </p:sp>
      <p:sp>
        <p:nvSpPr>
          <p:cNvPr id="102" name="Google Shape;102;p5"/>
          <p:cNvSpPr txBox="1"/>
          <p:nvPr/>
        </p:nvSpPr>
        <p:spPr>
          <a:xfrm>
            <a:off x="1264690" y="2040527"/>
            <a:ext cx="4061427" cy="532500"/>
          </a:xfrm>
          <a:prstGeom prst="rect">
            <a:avLst/>
          </a:prstGeom>
          <a:noFill/>
          <a:ln>
            <a:noFill/>
          </a:ln>
        </p:spPr>
        <p:txBody>
          <a:bodyPr spcFirstLastPara="1" wrap="square" lIns="68575" tIns="34275" rIns="68575" bIns="34275" anchor="t" anchorCtr="0">
            <a:noAutofit/>
          </a:bodyPr>
          <a:lstStyle/>
          <a:p>
            <a:pPr marL="0" marR="0" lvl="0" indent="0" algn="just" rtl="0">
              <a:lnSpc>
                <a:spcPct val="90000"/>
              </a:lnSpc>
              <a:spcBef>
                <a:spcPts val="0"/>
              </a:spcBef>
              <a:spcAft>
                <a:spcPts val="0"/>
              </a:spcAft>
              <a:buClr>
                <a:srgbClr val="000000"/>
              </a:buClr>
              <a:buSzPts val="1600"/>
              <a:buFont typeface="Arial"/>
              <a:buNone/>
            </a:pPr>
            <a:r>
              <a:rPr lang="en-US" sz="1200" b="0" i="0" u="none" strike="noStrike" cap="none" dirty="0">
                <a:solidFill>
                  <a:schemeClr val="dk1"/>
                </a:solidFill>
                <a:latin typeface="Verdana"/>
                <a:ea typeface="Verdana"/>
                <a:cs typeface="Verdana"/>
                <a:sym typeface="Verdana"/>
              </a:rPr>
              <a:t>To become a globally recognized institution offering quality education and enhancing professional standards</a:t>
            </a:r>
            <a:endParaRPr sz="1200" b="0" i="0" u="none" strike="noStrike" cap="none" dirty="0">
              <a:solidFill>
                <a:schemeClr val="dk1"/>
              </a:solidFill>
              <a:latin typeface="Verdana"/>
              <a:ea typeface="Verdana"/>
              <a:cs typeface="Verdana"/>
              <a:sym typeface="Verdana"/>
            </a:endParaRPr>
          </a:p>
        </p:txBody>
      </p:sp>
      <p:sp>
        <p:nvSpPr>
          <p:cNvPr id="103" name="Google Shape;103;p5"/>
          <p:cNvSpPr txBox="1"/>
          <p:nvPr/>
        </p:nvSpPr>
        <p:spPr>
          <a:xfrm>
            <a:off x="1199930" y="4166983"/>
            <a:ext cx="4126187" cy="1680185"/>
          </a:xfrm>
          <a:prstGeom prst="rect">
            <a:avLst/>
          </a:prstGeom>
          <a:noFill/>
          <a:ln>
            <a:noFill/>
          </a:ln>
        </p:spPr>
        <p:txBody>
          <a:bodyPr spcFirstLastPara="1" wrap="square" lIns="68575" tIns="34275" rIns="68575" bIns="34275" anchor="t" anchorCtr="0">
            <a:noAutofit/>
          </a:bodyPr>
          <a:lstStyle/>
          <a:p>
            <a:pPr marL="0" marR="0" lvl="0" indent="0" algn="just" rtl="0">
              <a:lnSpc>
                <a:spcPct val="100000"/>
              </a:lnSpc>
              <a:spcBef>
                <a:spcPts val="400"/>
              </a:spcBef>
              <a:spcAft>
                <a:spcPts val="0"/>
              </a:spcAft>
              <a:buClr>
                <a:srgbClr val="000000"/>
              </a:buClr>
              <a:buSzPts val="1600"/>
              <a:buFont typeface="Arial"/>
              <a:buNone/>
            </a:pPr>
            <a:r>
              <a:rPr lang="en-US" sz="1200" b="0" i="0" u="none" strike="noStrike" cap="none" dirty="0">
                <a:solidFill>
                  <a:schemeClr val="dk1"/>
                </a:solidFill>
                <a:latin typeface="Verdana"/>
                <a:ea typeface="Verdana"/>
                <a:cs typeface="Verdana"/>
                <a:sym typeface="Verdana"/>
              </a:rPr>
              <a:t>To impart high quality technical education to the students by providing an excellent academic environment, well - equipped laboratories and training through motivated teachers.</a:t>
            </a:r>
            <a:endParaRPr sz="1200" b="0" i="0" u="none" strike="noStrike" cap="none" dirty="0">
              <a:solidFill>
                <a:schemeClr val="dk1"/>
              </a:solidFill>
              <a:latin typeface="Verdana"/>
              <a:ea typeface="Verdana"/>
              <a:cs typeface="Verdana"/>
              <a:sym typeface="Verdana"/>
            </a:endParaRPr>
          </a:p>
        </p:txBody>
      </p:sp>
      <p:grpSp>
        <p:nvGrpSpPr>
          <p:cNvPr id="104" name="Google Shape;104;p5"/>
          <p:cNvGrpSpPr/>
          <p:nvPr/>
        </p:nvGrpSpPr>
        <p:grpSpPr>
          <a:xfrm>
            <a:off x="1199456" y="1337416"/>
            <a:ext cx="2544271" cy="432828"/>
            <a:chOff x="379810" y="257523"/>
            <a:chExt cx="3038100" cy="471600"/>
          </a:xfrm>
        </p:grpSpPr>
        <p:sp>
          <p:nvSpPr>
            <p:cNvPr id="105" name="Google Shape;105;p5"/>
            <p:cNvSpPr/>
            <p:nvPr/>
          </p:nvSpPr>
          <p:spPr>
            <a:xfrm rot="5400000">
              <a:off x="1663060" y="-1025727"/>
              <a:ext cx="471600" cy="3038100"/>
            </a:xfrm>
            <a:prstGeom prst="roundRect">
              <a:avLst>
                <a:gd name="adj" fmla="val 50000"/>
              </a:avLst>
            </a:prstGeom>
            <a:solidFill>
              <a:srgbClr val="5A0886"/>
            </a:solidFill>
            <a:ln w="19050" cap="flat" cmpd="sng">
              <a:solidFill>
                <a:srgbClr val="F2F2F2"/>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Verdana"/>
                <a:ea typeface="Verdana"/>
                <a:cs typeface="Verdana"/>
                <a:sym typeface="Verdana"/>
              </a:endParaRPr>
            </a:p>
          </p:txBody>
        </p:sp>
        <p:sp>
          <p:nvSpPr>
            <p:cNvPr id="106" name="Google Shape;106;p5"/>
            <p:cNvSpPr txBox="1"/>
            <p:nvPr/>
          </p:nvSpPr>
          <p:spPr>
            <a:xfrm>
              <a:off x="758977" y="281216"/>
              <a:ext cx="2372333" cy="372251"/>
            </a:xfrm>
            <a:prstGeom prst="rect">
              <a:avLst/>
            </a:prstGeom>
            <a:solidFill>
              <a:srgbClr val="5A0886"/>
            </a:solidFill>
            <a:ln>
              <a:noFill/>
            </a:ln>
          </p:spPr>
          <p:txBody>
            <a:bodyPr spcFirstLastPara="1" wrap="square" lIns="68575" tIns="68575" rIns="68575" bIns="68575" anchor="t"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b="1" i="0" u="none" strike="noStrike" cap="none">
                  <a:solidFill>
                    <a:srgbClr val="FFFFFF"/>
                  </a:solidFill>
                  <a:latin typeface="Verdana"/>
                  <a:ea typeface="Verdana"/>
                  <a:cs typeface="Verdana"/>
                  <a:sym typeface="Verdana"/>
                </a:rPr>
                <a:t>Institute Vision</a:t>
              </a:r>
              <a:endParaRPr sz="1100" b="0" i="0" u="none" strike="noStrike" cap="none">
                <a:solidFill>
                  <a:schemeClr val="dk1"/>
                </a:solidFill>
                <a:latin typeface="Verdana"/>
                <a:ea typeface="Verdana"/>
                <a:cs typeface="Verdana"/>
                <a:sym typeface="Verdana"/>
              </a:endParaRPr>
            </a:p>
          </p:txBody>
        </p:sp>
      </p:grpSp>
      <p:sp>
        <p:nvSpPr>
          <p:cNvPr id="107" name="Google Shape;107;p5"/>
          <p:cNvSpPr txBox="1"/>
          <p:nvPr/>
        </p:nvSpPr>
        <p:spPr>
          <a:xfrm>
            <a:off x="5877263" y="4205259"/>
            <a:ext cx="5547329" cy="1827895"/>
          </a:xfrm>
          <a:prstGeom prst="rect">
            <a:avLst/>
          </a:prstGeom>
          <a:noFill/>
          <a:ln>
            <a:noFill/>
          </a:ln>
        </p:spPr>
        <p:txBody>
          <a:bodyPr spcFirstLastPara="1" wrap="square" lIns="68575" tIns="34275" rIns="68575" bIns="34275" anchor="t" anchorCtr="0">
            <a:noAutofit/>
          </a:bodyPr>
          <a:lstStyle/>
          <a:p>
            <a:pPr marL="0" marR="0" lvl="0" indent="0" algn="just" rtl="0">
              <a:lnSpc>
                <a:spcPct val="100000"/>
              </a:lnSpc>
              <a:spcBef>
                <a:spcPts val="0"/>
              </a:spcBef>
              <a:spcAft>
                <a:spcPts val="0"/>
              </a:spcAft>
              <a:buClr>
                <a:srgbClr val="000000"/>
              </a:buClr>
              <a:buSzPts val="1600"/>
              <a:buFont typeface="Arial"/>
              <a:buNone/>
            </a:pPr>
            <a:r>
              <a:rPr lang="en-US" sz="1200" i="0" u="none" strike="noStrike" cap="none" dirty="0">
                <a:solidFill>
                  <a:schemeClr val="dk1"/>
                </a:solidFill>
                <a:latin typeface="Verdana"/>
                <a:ea typeface="Verdana"/>
                <a:cs typeface="Verdana"/>
                <a:sym typeface="Verdana"/>
              </a:rPr>
              <a:t>1. To provide an academic environment for the development by providing training and skill development to build knowledge, skills, values, and confidence to take a leadership role in the field of Cyber Security.</a:t>
            </a:r>
            <a:endParaRPr sz="1200" i="0" u="none" strike="noStrike" cap="none" dirty="0">
              <a:solidFill>
                <a:schemeClr val="dk1"/>
              </a:solidFill>
              <a:latin typeface="Verdana"/>
              <a:ea typeface="Verdana"/>
              <a:cs typeface="Verdana"/>
              <a:sym typeface="Verdana"/>
            </a:endParaRPr>
          </a:p>
          <a:p>
            <a:pPr lvl="0" algn="just">
              <a:buSzPts val="1600"/>
            </a:pPr>
            <a:r>
              <a:rPr lang="en-US" sz="1200" i="0" u="none" strike="noStrike" cap="none" dirty="0">
                <a:solidFill>
                  <a:schemeClr val="dk1"/>
                </a:solidFill>
                <a:latin typeface="Verdana"/>
                <a:ea typeface="Verdana"/>
                <a:cs typeface="Verdana"/>
                <a:sym typeface="Verdana"/>
              </a:rPr>
              <a:t>2. </a:t>
            </a:r>
            <a:r>
              <a:rPr lang="en-US" sz="1200" dirty="0">
                <a:solidFill>
                  <a:schemeClr val="dk1"/>
                </a:solidFill>
                <a:latin typeface="Verdana"/>
                <a:ea typeface="Verdana"/>
                <a:cs typeface="Verdana"/>
                <a:sym typeface="Verdana"/>
              </a:rPr>
              <a:t>To cultivate research and entrepreneurship culture resulting in knowledge and innovative technologies that contribute to sustainable development of the society.</a:t>
            </a:r>
          </a:p>
          <a:p>
            <a:pPr lvl="0" algn="just">
              <a:buSzPts val="1600"/>
            </a:pPr>
            <a:r>
              <a:rPr lang="en-US" sz="1200" dirty="0">
                <a:solidFill>
                  <a:schemeClr val="dk1"/>
                </a:solidFill>
                <a:latin typeface="Verdana"/>
                <a:ea typeface="Verdana"/>
                <a:cs typeface="Verdana"/>
                <a:sym typeface="Verdana"/>
              </a:rPr>
              <a:t>3. To enhance academic and corporate collaborations.</a:t>
            </a:r>
            <a:endParaRPr sz="1200" i="0" u="none" strike="noStrike" cap="none" dirty="0">
              <a:solidFill>
                <a:schemeClr val="dk1"/>
              </a:solidFill>
              <a:latin typeface="Verdana"/>
              <a:ea typeface="Verdana"/>
              <a:cs typeface="Verdana"/>
              <a:sym typeface="Verdana"/>
            </a:endParaRPr>
          </a:p>
        </p:txBody>
      </p:sp>
      <p:sp>
        <p:nvSpPr>
          <p:cNvPr id="108" name="Google Shape;108;p5"/>
          <p:cNvSpPr txBox="1"/>
          <p:nvPr/>
        </p:nvSpPr>
        <p:spPr>
          <a:xfrm>
            <a:off x="5904435" y="1896105"/>
            <a:ext cx="5518669" cy="1001229"/>
          </a:xfrm>
          <a:prstGeom prst="rect">
            <a:avLst/>
          </a:prstGeom>
          <a:noFill/>
          <a:ln>
            <a:noFill/>
          </a:ln>
        </p:spPr>
        <p:txBody>
          <a:bodyPr spcFirstLastPara="1" wrap="square" lIns="68575" tIns="34275" rIns="68575" bIns="34275" anchor="t" anchorCtr="0">
            <a:noAutofit/>
          </a:bodyPr>
          <a:lstStyle/>
          <a:p>
            <a:pPr lvl="0" algn="just">
              <a:buSzPts val="1600"/>
            </a:pPr>
            <a:r>
              <a:rPr lang="en-US" sz="1200" dirty="0">
                <a:solidFill>
                  <a:schemeClr val="dk1"/>
                </a:solidFill>
                <a:latin typeface="Verdana"/>
                <a:ea typeface="Verdana"/>
                <a:cs typeface="Verdana"/>
                <a:sym typeface="Verdana"/>
              </a:rPr>
              <a:t>To be a high repute focused department preparing students ethically in field of cyber security and make them capable to lead technical, economic, social and ethical development of the society.</a:t>
            </a:r>
            <a:endParaRPr sz="1200" b="1" i="0" u="none" strike="noStrike" cap="none" dirty="0">
              <a:solidFill>
                <a:schemeClr val="dk1"/>
              </a:solidFill>
              <a:latin typeface="Verdana"/>
              <a:ea typeface="Verdana"/>
              <a:cs typeface="Verdana"/>
              <a:sym typeface="Verdana"/>
            </a:endParaRPr>
          </a:p>
        </p:txBody>
      </p:sp>
      <p:grpSp>
        <p:nvGrpSpPr>
          <p:cNvPr id="109" name="Google Shape;109;p5"/>
          <p:cNvGrpSpPr/>
          <p:nvPr/>
        </p:nvGrpSpPr>
        <p:grpSpPr>
          <a:xfrm>
            <a:off x="1199456" y="3647599"/>
            <a:ext cx="2544271" cy="432828"/>
            <a:chOff x="379810" y="257523"/>
            <a:chExt cx="3038100" cy="471600"/>
          </a:xfrm>
        </p:grpSpPr>
        <p:sp>
          <p:nvSpPr>
            <p:cNvPr id="110" name="Google Shape;110;p5"/>
            <p:cNvSpPr/>
            <p:nvPr/>
          </p:nvSpPr>
          <p:spPr>
            <a:xfrm rot="5400000">
              <a:off x="1663060" y="-1025727"/>
              <a:ext cx="471600" cy="3038100"/>
            </a:xfrm>
            <a:prstGeom prst="roundRect">
              <a:avLst>
                <a:gd name="adj" fmla="val 50000"/>
              </a:avLst>
            </a:prstGeom>
            <a:solidFill>
              <a:srgbClr val="5A0886"/>
            </a:solidFill>
            <a:ln w="19050" cap="flat" cmpd="sng">
              <a:solidFill>
                <a:srgbClr val="F2F2F2"/>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Verdana"/>
                <a:ea typeface="Verdana"/>
                <a:cs typeface="Verdana"/>
                <a:sym typeface="Verdana"/>
              </a:endParaRPr>
            </a:p>
          </p:txBody>
        </p:sp>
        <p:sp>
          <p:nvSpPr>
            <p:cNvPr id="111" name="Google Shape;111;p5"/>
            <p:cNvSpPr txBox="1"/>
            <p:nvPr/>
          </p:nvSpPr>
          <p:spPr>
            <a:xfrm>
              <a:off x="680337" y="333178"/>
              <a:ext cx="2536958" cy="313831"/>
            </a:xfrm>
            <a:prstGeom prst="rect">
              <a:avLst/>
            </a:prstGeom>
            <a:solidFill>
              <a:srgbClr val="5A0886"/>
            </a:solidFill>
            <a:ln>
              <a:noFill/>
            </a:ln>
          </p:spPr>
          <p:txBody>
            <a:bodyPr spcFirstLastPara="1" wrap="square" lIns="68575" tIns="68575" rIns="68575" bIns="68575" anchor="t" anchorCtr="0">
              <a:noAutofit/>
            </a:bodyPr>
            <a:lstStyle/>
            <a:p>
              <a:pPr marL="0" marR="0" lvl="0" indent="0" algn="ctr" rtl="0">
                <a:lnSpc>
                  <a:spcPct val="115000"/>
                </a:lnSpc>
                <a:spcBef>
                  <a:spcPts val="0"/>
                </a:spcBef>
                <a:spcAft>
                  <a:spcPts val="0"/>
                </a:spcAft>
                <a:buClr>
                  <a:srgbClr val="000000"/>
                </a:buClr>
                <a:buSzPts val="1600"/>
                <a:buFont typeface="Arial"/>
                <a:buNone/>
              </a:pPr>
              <a:r>
                <a:rPr lang="en-US" sz="1600" b="1" i="0" u="none" strike="noStrike" cap="none">
                  <a:solidFill>
                    <a:srgbClr val="FFFFFF"/>
                  </a:solidFill>
                  <a:latin typeface="Verdana"/>
                  <a:ea typeface="Verdana"/>
                  <a:cs typeface="Verdana"/>
                  <a:sym typeface="Verdana"/>
                </a:rPr>
                <a:t>Institute Mission</a:t>
              </a:r>
              <a:endParaRPr sz="1100" b="0" i="0" u="none" strike="noStrike" cap="none">
                <a:solidFill>
                  <a:schemeClr val="dk1"/>
                </a:solidFill>
                <a:latin typeface="Verdana"/>
                <a:ea typeface="Verdana"/>
                <a:cs typeface="Verdana"/>
                <a:sym typeface="Verdana"/>
              </a:endParaRPr>
            </a:p>
          </p:txBody>
        </p:sp>
      </p:grpSp>
      <p:grpSp>
        <p:nvGrpSpPr>
          <p:cNvPr id="112" name="Google Shape;112;p5"/>
          <p:cNvGrpSpPr/>
          <p:nvPr/>
        </p:nvGrpSpPr>
        <p:grpSpPr>
          <a:xfrm>
            <a:off x="5950958" y="1337416"/>
            <a:ext cx="3054223" cy="432828"/>
            <a:chOff x="379810" y="257523"/>
            <a:chExt cx="3038100" cy="471600"/>
          </a:xfrm>
        </p:grpSpPr>
        <p:sp>
          <p:nvSpPr>
            <p:cNvPr id="113" name="Google Shape;113;p5"/>
            <p:cNvSpPr/>
            <p:nvPr/>
          </p:nvSpPr>
          <p:spPr>
            <a:xfrm rot="5400000">
              <a:off x="1663060" y="-1025727"/>
              <a:ext cx="471600" cy="3038100"/>
            </a:xfrm>
            <a:prstGeom prst="roundRect">
              <a:avLst>
                <a:gd name="adj" fmla="val 50000"/>
              </a:avLst>
            </a:prstGeom>
            <a:solidFill>
              <a:srgbClr val="5A0886"/>
            </a:solidFill>
            <a:ln w="19050" cap="flat" cmpd="sng">
              <a:solidFill>
                <a:srgbClr val="F2F2F2"/>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Verdana"/>
                <a:ea typeface="Verdana"/>
                <a:cs typeface="Verdana"/>
                <a:sym typeface="Verdana"/>
              </a:endParaRPr>
            </a:p>
          </p:txBody>
        </p:sp>
        <p:sp>
          <p:nvSpPr>
            <p:cNvPr id="114" name="Google Shape;114;p5"/>
            <p:cNvSpPr txBox="1"/>
            <p:nvPr/>
          </p:nvSpPr>
          <p:spPr>
            <a:xfrm>
              <a:off x="785634" y="281216"/>
              <a:ext cx="2366106" cy="443176"/>
            </a:xfrm>
            <a:prstGeom prst="rect">
              <a:avLst/>
            </a:prstGeom>
            <a:solidFill>
              <a:srgbClr val="5A0886"/>
            </a:solidFill>
            <a:ln>
              <a:noFill/>
            </a:ln>
          </p:spPr>
          <p:txBody>
            <a:bodyPr spcFirstLastPara="1" wrap="square" lIns="68575" tIns="68575" rIns="68575" bIns="68575" anchor="t"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b="1" i="0" u="none" strike="noStrike" cap="none">
                  <a:solidFill>
                    <a:srgbClr val="FFFFFF"/>
                  </a:solidFill>
                  <a:latin typeface="Verdana"/>
                  <a:ea typeface="Verdana"/>
                  <a:cs typeface="Verdana"/>
                  <a:sym typeface="Verdana"/>
                </a:rPr>
                <a:t>Department Vision</a:t>
              </a:r>
              <a:endParaRPr sz="1100" b="0" i="0" u="none" strike="noStrike" cap="none">
                <a:solidFill>
                  <a:schemeClr val="dk1"/>
                </a:solidFill>
                <a:latin typeface="Verdana"/>
                <a:ea typeface="Verdana"/>
                <a:cs typeface="Verdana"/>
                <a:sym typeface="Verdana"/>
              </a:endParaRPr>
            </a:p>
          </p:txBody>
        </p:sp>
      </p:grpSp>
      <p:grpSp>
        <p:nvGrpSpPr>
          <p:cNvPr id="115" name="Google Shape;115;p5"/>
          <p:cNvGrpSpPr/>
          <p:nvPr/>
        </p:nvGrpSpPr>
        <p:grpSpPr>
          <a:xfrm>
            <a:off x="6010892" y="3642227"/>
            <a:ext cx="3054223" cy="432829"/>
            <a:chOff x="379810" y="257523"/>
            <a:chExt cx="3038100" cy="471600"/>
          </a:xfrm>
        </p:grpSpPr>
        <p:sp>
          <p:nvSpPr>
            <p:cNvPr id="116" name="Google Shape;116;p5"/>
            <p:cNvSpPr/>
            <p:nvPr/>
          </p:nvSpPr>
          <p:spPr>
            <a:xfrm rot="5400000">
              <a:off x="1663060" y="-1025727"/>
              <a:ext cx="471600" cy="3038100"/>
            </a:xfrm>
            <a:prstGeom prst="roundRect">
              <a:avLst>
                <a:gd name="adj" fmla="val 50000"/>
              </a:avLst>
            </a:prstGeom>
            <a:solidFill>
              <a:srgbClr val="5A0886"/>
            </a:solidFill>
            <a:ln w="19050" cap="flat" cmpd="sng">
              <a:solidFill>
                <a:srgbClr val="F2F2F2"/>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Verdana"/>
                <a:ea typeface="Verdana"/>
                <a:cs typeface="Verdana"/>
                <a:sym typeface="Verdana"/>
              </a:endParaRPr>
            </a:p>
          </p:txBody>
        </p:sp>
        <p:sp>
          <p:nvSpPr>
            <p:cNvPr id="117" name="Google Shape;117;p5"/>
            <p:cNvSpPr txBox="1"/>
            <p:nvPr/>
          </p:nvSpPr>
          <p:spPr>
            <a:xfrm>
              <a:off x="726018" y="287066"/>
              <a:ext cx="2460310" cy="365796"/>
            </a:xfrm>
            <a:prstGeom prst="rect">
              <a:avLst/>
            </a:prstGeom>
            <a:solidFill>
              <a:srgbClr val="5A0886"/>
            </a:solidFill>
            <a:ln>
              <a:noFill/>
            </a:ln>
          </p:spPr>
          <p:txBody>
            <a:bodyPr spcFirstLastPara="1" wrap="square" lIns="68575" tIns="68575" rIns="68575" bIns="68575" anchor="t"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b="1" i="0" u="none" strike="noStrike" cap="none">
                  <a:solidFill>
                    <a:srgbClr val="FFFFFF"/>
                  </a:solidFill>
                  <a:latin typeface="Verdana"/>
                  <a:ea typeface="Verdana"/>
                  <a:cs typeface="Verdana"/>
                  <a:sym typeface="Verdana"/>
                </a:rPr>
                <a:t>Department Mission</a:t>
              </a:r>
              <a:endParaRPr sz="1100" b="0" i="0" u="none" strike="noStrike" cap="none">
                <a:solidFill>
                  <a:schemeClr val="dk1"/>
                </a:solidFill>
                <a:latin typeface="Verdana"/>
                <a:ea typeface="Verdana"/>
                <a:cs typeface="Verdana"/>
                <a:sym typeface="Verdana"/>
              </a:endParaRPr>
            </a:p>
          </p:txBody>
        </p:sp>
      </p:grpSp>
      <p:sp>
        <p:nvSpPr>
          <p:cNvPr id="118" name="Google Shape;118;p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19" name="Google Shape;119;p5"/>
          <p:cNvSpPr txBox="1">
            <a:spLocks noGrp="1"/>
          </p:cNvSpPr>
          <p:nvPr>
            <p:ph type="ftr" idx="11"/>
          </p:nvPr>
        </p:nvSpPr>
        <p:spPr>
          <a:xfrm>
            <a:off x="4165600" y="6356351"/>
            <a:ext cx="481072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20" name="Google Shape;120;p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pic>
        <p:nvPicPr>
          <p:cNvPr id="121" name="Google Shape;121;p5" descr="A circular logo with a circle and a logo on it&#10;&#10;AI-generated content may be incorrect."/>
          <p:cNvPicPr preferRelativeResize="0"/>
          <p:nvPr/>
        </p:nvPicPr>
        <p:blipFill rotWithShape="1">
          <a:blip r:embed="rId3">
            <a:alphaModFix/>
          </a:blip>
          <a:srcRect/>
          <a:stretch/>
        </p:blipFill>
        <p:spPr>
          <a:xfrm>
            <a:off x="11136560" y="44624"/>
            <a:ext cx="980728" cy="980728"/>
          </a:xfrm>
          <a:prstGeom prst="rect">
            <a:avLst/>
          </a:prstGeom>
          <a:noFill/>
          <a:ln>
            <a:noFill/>
          </a:ln>
        </p:spPr>
      </p:pic>
      <p:grpSp>
        <p:nvGrpSpPr>
          <p:cNvPr id="122" name="Google Shape;122;p5"/>
          <p:cNvGrpSpPr/>
          <p:nvPr/>
        </p:nvGrpSpPr>
        <p:grpSpPr>
          <a:xfrm>
            <a:off x="7300" y="2220"/>
            <a:ext cx="1443834" cy="6855780"/>
            <a:chOff x="7300" y="2220"/>
            <a:chExt cx="1443834" cy="6855780"/>
          </a:xfrm>
        </p:grpSpPr>
        <p:sp>
          <p:nvSpPr>
            <p:cNvPr id="123" name="Google Shape;123;p5"/>
            <p:cNvSpPr/>
            <p:nvPr/>
          </p:nvSpPr>
          <p:spPr>
            <a:xfrm>
              <a:off x="7300" y="2220"/>
              <a:ext cx="425219" cy="685578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24" name="Google Shape;124;p5" descr="A logo with a blue design&#10;&#10;AI-generated content may be incorrect."/>
            <p:cNvPicPr preferRelativeResize="0"/>
            <p:nvPr/>
          </p:nvPicPr>
          <p:blipFill rotWithShape="1">
            <a:blip r:embed="rId4">
              <a:alphaModFix/>
            </a:blip>
            <a:srcRect/>
            <a:stretch/>
          </p:blipFill>
          <p:spPr>
            <a:xfrm>
              <a:off x="524957" y="183372"/>
              <a:ext cx="926177" cy="841980"/>
            </a:xfrm>
            <a:prstGeom prst="rect">
              <a:avLst/>
            </a:prstGeom>
            <a:noFill/>
            <a:ln>
              <a:noFill/>
            </a:ln>
          </p:spPr>
        </p:pic>
      </p:gr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graphicFrame>
        <p:nvGraphicFramePr>
          <p:cNvPr id="129" name="Google Shape;129;p11"/>
          <p:cNvGraphicFramePr/>
          <p:nvPr>
            <p:extLst>
              <p:ext uri="{D42A27DB-BD31-4B8C-83A1-F6EECF244321}">
                <p14:modId xmlns:p14="http://schemas.microsoft.com/office/powerpoint/2010/main" val="4278003758"/>
              </p:ext>
            </p:extLst>
          </p:nvPr>
        </p:nvGraphicFramePr>
        <p:xfrm>
          <a:off x="1343472" y="1340769"/>
          <a:ext cx="10238928" cy="4923364"/>
        </p:xfrm>
        <a:graphic>
          <a:graphicData uri="http://schemas.openxmlformats.org/drawingml/2006/table">
            <a:tbl>
              <a:tblPr>
                <a:noFill/>
                <a:tableStyleId>{78269872-E178-4BFD-9306-1EBE11D6D2E7}</a:tableStyleId>
              </a:tblPr>
              <a:tblGrid>
                <a:gridCol w="1672873">
                  <a:extLst>
                    <a:ext uri="{9D8B030D-6E8A-4147-A177-3AD203B41FA5}">
                      <a16:colId xmlns:a16="http://schemas.microsoft.com/office/drawing/2014/main" val="20000"/>
                    </a:ext>
                  </a:extLst>
                </a:gridCol>
                <a:gridCol w="8566055">
                  <a:extLst>
                    <a:ext uri="{9D8B030D-6E8A-4147-A177-3AD203B41FA5}">
                      <a16:colId xmlns:a16="http://schemas.microsoft.com/office/drawing/2014/main" val="20001"/>
                    </a:ext>
                  </a:extLst>
                </a:gridCol>
              </a:tblGrid>
              <a:tr h="491436">
                <a:tc>
                  <a:txBody>
                    <a:bodyPr/>
                    <a:lstStyle/>
                    <a:p>
                      <a:pPr marL="0" marR="0" lvl="0" indent="0" algn="ctr" rtl="0">
                        <a:lnSpc>
                          <a:spcPct val="115000"/>
                        </a:lnSpc>
                        <a:spcBef>
                          <a:spcPts val="0"/>
                        </a:spcBef>
                        <a:spcAft>
                          <a:spcPts val="0"/>
                        </a:spcAft>
                        <a:buClr>
                          <a:srgbClr val="000000"/>
                        </a:buClr>
                        <a:buSzPts val="1100"/>
                        <a:buFont typeface="Arial"/>
                        <a:buNone/>
                      </a:pPr>
                      <a:r>
                        <a:rPr lang="en-US" sz="1900" b="1" u="none" strike="noStrike" cap="none">
                          <a:solidFill>
                            <a:schemeClr val="lt1"/>
                          </a:solidFill>
                          <a:latin typeface="Verdana"/>
                          <a:ea typeface="Verdana"/>
                          <a:cs typeface="Verdana"/>
                          <a:sym typeface="Verdana"/>
                        </a:rPr>
                        <a:t>Index</a:t>
                      </a:r>
                      <a:endParaRPr sz="1900" b="1" u="none" strike="noStrike" cap="none">
                        <a:solidFill>
                          <a:schemeClr val="lt1"/>
                        </a:solidFill>
                        <a:latin typeface="Verdana"/>
                        <a:ea typeface="Verdana"/>
                        <a:cs typeface="Verdana"/>
                        <a:sym typeface="Verdana"/>
                      </a:endParaRPr>
                    </a:p>
                  </a:txBody>
                  <a:tcPr marL="51425" marR="51425" marT="0" marB="0" anchor="ctr">
                    <a:solidFill>
                      <a:srgbClr val="5A0886"/>
                    </a:solidFill>
                  </a:tcPr>
                </a:tc>
                <a:tc>
                  <a:txBody>
                    <a:bodyPr/>
                    <a:lstStyle/>
                    <a:p>
                      <a:pPr marL="0" marR="0" lvl="0" indent="0" algn="ctr" rtl="0">
                        <a:lnSpc>
                          <a:spcPct val="115000"/>
                        </a:lnSpc>
                        <a:spcBef>
                          <a:spcPts val="0"/>
                        </a:spcBef>
                        <a:spcAft>
                          <a:spcPts val="0"/>
                        </a:spcAft>
                        <a:buClr>
                          <a:srgbClr val="000000"/>
                        </a:buClr>
                        <a:buSzPts val="1100"/>
                        <a:buFont typeface="Arial"/>
                        <a:buNone/>
                      </a:pPr>
                      <a:r>
                        <a:rPr lang="en-US" sz="1900" b="1" u="none" strike="noStrike" cap="none">
                          <a:solidFill>
                            <a:schemeClr val="lt1"/>
                          </a:solidFill>
                          <a:latin typeface="Verdana"/>
                          <a:ea typeface="Verdana"/>
                          <a:cs typeface="Verdana"/>
                          <a:sym typeface="Verdana"/>
                        </a:rPr>
                        <a:t>Outcome</a:t>
                      </a:r>
                      <a:endParaRPr sz="1900" b="1" u="none" strike="noStrike" cap="none">
                        <a:solidFill>
                          <a:schemeClr val="lt1"/>
                        </a:solidFill>
                        <a:latin typeface="Verdana"/>
                        <a:ea typeface="Verdana"/>
                        <a:cs typeface="Verdana"/>
                        <a:sym typeface="Verdana"/>
                      </a:endParaRPr>
                    </a:p>
                  </a:txBody>
                  <a:tcPr marL="51425" marR="51425" marT="0" marB="0" anchor="ctr">
                    <a:solidFill>
                      <a:srgbClr val="5A0886"/>
                    </a:solidFill>
                  </a:tcPr>
                </a:tc>
                <a:extLst>
                  <a:ext uri="{0D108BD9-81ED-4DB2-BD59-A6C34878D82A}">
                    <a16:rowId xmlns:a16="http://schemas.microsoft.com/office/drawing/2014/main" val="10000"/>
                  </a:ext>
                </a:extLst>
              </a:tr>
              <a:tr h="1366722">
                <a:tc>
                  <a:txBody>
                    <a:bodyPr/>
                    <a:lstStyle/>
                    <a:p>
                      <a:pPr marL="0" marR="0" lvl="0" indent="0" algn="ctr" rtl="0">
                        <a:lnSpc>
                          <a:spcPct val="115000"/>
                        </a:lnSpc>
                        <a:spcBef>
                          <a:spcPts val="0"/>
                        </a:spcBef>
                        <a:spcAft>
                          <a:spcPts val="0"/>
                        </a:spcAft>
                        <a:buClr>
                          <a:srgbClr val="000000"/>
                        </a:buClr>
                        <a:buSzPts val="1100"/>
                        <a:buFont typeface="Arial"/>
                        <a:buNone/>
                      </a:pPr>
                      <a:r>
                        <a:rPr lang="en-US" sz="1400" b="0" u="none" strike="noStrike" cap="none" dirty="0">
                          <a:solidFill>
                            <a:schemeClr val="dk1"/>
                          </a:solidFill>
                          <a:latin typeface="Verdana"/>
                          <a:ea typeface="Verdana"/>
                          <a:cs typeface="Verdana"/>
                          <a:sym typeface="Verdana"/>
                        </a:rPr>
                        <a:t>PSO1</a:t>
                      </a:r>
                      <a:endParaRPr sz="1400" b="0" u="none" strike="noStrike" cap="none" dirty="0">
                        <a:solidFill>
                          <a:schemeClr val="dk1"/>
                        </a:solidFill>
                        <a:latin typeface="Verdana"/>
                        <a:ea typeface="Verdana"/>
                        <a:cs typeface="Verdana"/>
                        <a:sym typeface="Verdana"/>
                      </a:endParaRPr>
                    </a:p>
                  </a:txBody>
                  <a:tcPr marL="51425" marR="51425" marT="0" marB="0" anchor="ctr"/>
                </a:tc>
                <a:tc>
                  <a:txBody>
                    <a:bodyPr/>
                    <a:lstStyle/>
                    <a:p>
                      <a:pPr marL="0" marR="0" lvl="0" indent="0" algn="just" rtl="0">
                        <a:lnSpc>
                          <a:spcPct val="100000"/>
                        </a:lnSpc>
                        <a:spcBef>
                          <a:spcPts val="0"/>
                        </a:spcBef>
                        <a:spcAft>
                          <a:spcPts val="0"/>
                        </a:spcAft>
                        <a:buClr>
                          <a:srgbClr val="000000"/>
                        </a:buClr>
                        <a:buSzPts val="1000"/>
                        <a:buFont typeface="Arial"/>
                        <a:buNone/>
                      </a:pPr>
                      <a:r>
                        <a:rPr lang="en-US" sz="1400" b="0" i="0" u="none" strike="noStrike" cap="none" dirty="0">
                          <a:solidFill>
                            <a:schemeClr val="dk1"/>
                          </a:solidFill>
                          <a:latin typeface="Verdana"/>
                          <a:ea typeface="Verdana"/>
                          <a:cs typeface="Verdana"/>
                          <a:sym typeface="Verdana"/>
                        </a:rPr>
                        <a:t>The Cyber Security graduates are able to gain a thorough understanding of the Cyber Security landscape with its growing threats and vulnerabilities in the world of computing including</a:t>
                      </a:r>
                    </a:p>
                    <a:p>
                      <a:pPr marL="0" marR="0" lvl="0" indent="0" algn="just" rtl="0">
                        <a:lnSpc>
                          <a:spcPct val="100000"/>
                        </a:lnSpc>
                        <a:spcBef>
                          <a:spcPts val="0"/>
                        </a:spcBef>
                        <a:spcAft>
                          <a:spcPts val="0"/>
                        </a:spcAft>
                        <a:buClr>
                          <a:srgbClr val="000000"/>
                        </a:buClr>
                        <a:buSzPts val="1000"/>
                        <a:buFont typeface="Arial"/>
                        <a:buNone/>
                      </a:pPr>
                      <a:r>
                        <a:rPr lang="en-US" sz="1400" b="0" i="0" u="none" strike="noStrike" cap="none" dirty="0">
                          <a:solidFill>
                            <a:schemeClr val="dk1"/>
                          </a:solidFill>
                          <a:latin typeface="Verdana"/>
                          <a:ea typeface="Verdana"/>
                          <a:cs typeface="Verdana"/>
                          <a:sym typeface="Verdana"/>
                        </a:rPr>
                        <a:t>software and hardware.</a:t>
                      </a:r>
                      <a:endParaRPr sz="1400" b="0" i="0" u="none" strike="noStrike" cap="none" dirty="0">
                        <a:solidFill>
                          <a:schemeClr val="dk1"/>
                        </a:solidFill>
                        <a:latin typeface="Verdana"/>
                        <a:ea typeface="Verdana"/>
                        <a:cs typeface="Verdana"/>
                        <a:sym typeface="Verdana"/>
                      </a:endParaRPr>
                    </a:p>
                  </a:txBody>
                  <a:tcPr marL="51425" marR="51425" marT="0" marB="0" anchor="ctr"/>
                </a:tc>
                <a:extLst>
                  <a:ext uri="{0D108BD9-81ED-4DB2-BD59-A6C34878D82A}">
                    <a16:rowId xmlns:a16="http://schemas.microsoft.com/office/drawing/2014/main" val="10001"/>
                  </a:ext>
                </a:extLst>
              </a:tr>
              <a:tr h="1217854">
                <a:tc>
                  <a:txBody>
                    <a:bodyPr/>
                    <a:lstStyle/>
                    <a:p>
                      <a:pPr marL="0" marR="0" lvl="0" indent="0" algn="ctr" rtl="0">
                        <a:lnSpc>
                          <a:spcPct val="115000"/>
                        </a:lnSpc>
                        <a:spcBef>
                          <a:spcPts val="0"/>
                        </a:spcBef>
                        <a:spcAft>
                          <a:spcPts val="0"/>
                        </a:spcAft>
                        <a:buClr>
                          <a:srgbClr val="000000"/>
                        </a:buClr>
                        <a:buSzPts val="1100"/>
                        <a:buFont typeface="Arial"/>
                        <a:buNone/>
                      </a:pPr>
                      <a:r>
                        <a:rPr lang="en-IN" sz="1400" b="0" i="0" u="none" strike="noStrike" cap="none" dirty="0">
                          <a:solidFill>
                            <a:schemeClr val="dk1"/>
                          </a:solidFill>
                          <a:latin typeface="Verdana"/>
                          <a:ea typeface="Verdana"/>
                          <a:cs typeface="Verdana"/>
                          <a:sym typeface="Arial"/>
                        </a:rPr>
                        <a:t>PSO2</a:t>
                      </a:r>
                      <a:endParaRPr sz="1400" b="0" i="0" u="none" strike="noStrike" cap="none" dirty="0">
                        <a:solidFill>
                          <a:schemeClr val="dk1"/>
                        </a:solidFill>
                        <a:latin typeface="Verdana"/>
                        <a:ea typeface="Verdana"/>
                        <a:cs typeface="Verdana"/>
                        <a:sym typeface="Verdana"/>
                      </a:endParaRPr>
                    </a:p>
                  </a:txBody>
                  <a:tcPr marL="51425" marR="51425" marT="0" marB="0" anchor="ctr"/>
                </a:tc>
                <a:tc>
                  <a:txBody>
                    <a:bodyPr/>
                    <a:lstStyle/>
                    <a:p>
                      <a:pPr marL="0" marR="0" lvl="0" indent="0" algn="just" rtl="0">
                        <a:lnSpc>
                          <a:spcPct val="115000"/>
                        </a:lnSpc>
                        <a:spcBef>
                          <a:spcPts val="0"/>
                        </a:spcBef>
                        <a:spcAft>
                          <a:spcPts val="0"/>
                        </a:spcAft>
                        <a:buClr>
                          <a:srgbClr val="000000"/>
                        </a:buClr>
                        <a:buSzPts val="1100"/>
                        <a:buFont typeface="Arial"/>
                        <a:buNone/>
                      </a:pPr>
                      <a:r>
                        <a:rPr lang="en-US" sz="1400" b="0" i="0" u="none" strike="noStrike" cap="none" dirty="0">
                          <a:solidFill>
                            <a:schemeClr val="dk1"/>
                          </a:solidFill>
                          <a:latin typeface="Verdana"/>
                          <a:ea typeface="Verdana"/>
                          <a:sym typeface="Arial"/>
                        </a:rPr>
                        <a:t>The Cyber Security graduates are able to attain skills to comprehend and anticipate future challenges and devise methods to meet them and also, be articulate and skilled to convince all the stakeholders</a:t>
                      </a:r>
                      <a:endParaRPr sz="1400" b="0" i="0" u="none" strike="noStrike" cap="none" dirty="0">
                        <a:solidFill>
                          <a:schemeClr val="dk1"/>
                        </a:solidFill>
                        <a:latin typeface="Verdana"/>
                        <a:ea typeface="Verdana"/>
                        <a:sym typeface="Arial"/>
                      </a:endParaRPr>
                    </a:p>
                  </a:txBody>
                  <a:tcPr marL="51425" marR="51425" marT="0" marB="0" anchor="ctr"/>
                </a:tc>
                <a:extLst>
                  <a:ext uri="{0D108BD9-81ED-4DB2-BD59-A6C34878D82A}">
                    <a16:rowId xmlns:a16="http://schemas.microsoft.com/office/drawing/2014/main" val="1917427192"/>
                  </a:ext>
                </a:extLst>
              </a:tr>
              <a:tr h="1847352">
                <a:tc>
                  <a:txBody>
                    <a:bodyPr/>
                    <a:lstStyle/>
                    <a:p>
                      <a:pPr marL="0" marR="0" lvl="0" indent="0" algn="ctr" rtl="0">
                        <a:lnSpc>
                          <a:spcPct val="115000"/>
                        </a:lnSpc>
                        <a:spcBef>
                          <a:spcPts val="0"/>
                        </a:spcBef>
                        <a:spcAft>
                          <a:spcPts val="0"/>
                        </a:spcAft>
                        <a:buClr>
                          <a:srgbClr val="000000"/>
                        </a:buClr>
                        <a:buSzPts val="1100"/>
                        <a:buFont typeface="Arial"/>
                        <a:buNone/>
                      </a:pPr>
                      <a:r>
                        <a:rPr lang="en-US" sz="1400" b="0" i="0" u="none" strike="noStrike" cap="none" dirty="0">
                          <a:solidFill>
                            <a:schemeClr val="dk1"/>
                          </a:solidFill>
                          <a:latin typeface="Verdana"/>
                          <a:ea typeface="Verdana"/>
                          <a:cs typeface="Verdana"/>
                          <a:sym typeface="Verdana"/>
                        </a:rPr>
                        <a:t>PSO3</a:t>
                      </a:r>
                      <a:endParaRPr sz="1400" b="0" i="0" u="none" strike="noStrike" cap="none" dirty="0">
                        <a:solidFill>
                          <a:schemeClr val="dk1"/>
                        </a:solidFill>
                        <a:latin typeface="Verdana"/>
                        <a:ea typeface="Verdana"/>
                        <a:cs typeface="Verdana"/>
                        <a:sym typeface="Verdana"/>
                      </a:endParaRPr>
                    </a:p>
                  </a:txBody>
                  <a:tcPr marL="51425" marR="51425" marT="0" marB="0" anchor="ctr"/>
                </a:tc>
                <a:tc>
                  <a:txBody>
                    <a:bodyPr/>
                    <a:lstStyle/>
                    <a:p>
                      <a:pPr marL="0" marR="0" lvl="0" indent="0" algn="just" rtl="0">
                        <a:lnSpc>
                          <a:spcPct val="115000"/>
                        </a:lnSpc>
                        <a:spcBef>
                          <a:spcPts val="0"/>
                        </a:spcBef>
                        <a:spcAft>
                          <a:spcPts val="0"/>
                        </a:spcAft>
                        <a:buClr>
                          <a:srgbClr val="000000"/>
                        </a:buClr>
                        <a:buSzPts val="1100"/>
                        <a:buFont typeface="Arial"/>
                        <a:buNone/>
                      </a:pPr>
                      <a:r>
                        <a:rPr lang="en-US" sz="1400" b="0" i="0" u="none" strike="noStrike" cap="none" dirty="0">
                          <a:solidFill>
                            <a:schemeClr val="dk1"/>
                          </a:solidFill>
                          <a:latin typeface="Verdana"/>
                          <a:ea typeface="Verdana"/>
                          <a:cs typeface="Verdana"/>
                          <a:sym typeface="Verdana"/>
                        </a:rPr>
                        <a:t>The Cyber Security graduates are able to acquire and demonstrate the ability to use ethical standard tools, practices and technologies for the analysis, design, development, implementation and testing of innovative and optimal Cyber Security solutions without compromising the privacy needs of individual and entities and the security concerns of law enforcement agencies.</a:t>
                      </a:r>
                      <a:endParaRPr sz="1400" b="0" i="0" u="none" strike="noStrike" cap="none" dirty="0">
                        <a:solidFill>
                          <a:schemeClr val="dk1"/>
                        </a:solidFill>
                        <a:latin typeface="Verdana"/>
                        <a:ea typeface="Verdana"/>
                        <a:sym typeface="Arial"/>
                      </a:endParaRPr>
                    </a:p>
                  </a:txBody>
                  <a:tcPr marL="51425" marR="51425" marT="0" marB="0" anchor="ctr"/>
                </a:tc>
                <a:extLst>
                  <a:ext uri="{0D108BD9-81ED-4DB2-BD59-A6C34878D82A}">
                    <a16:rowId xmlns:a16="http://schemas.microsoft.com/office/drawing/2014/main" val="10002"/>
                  </a:ext>
                </a:extLst>
              </a:tr>
            </a:tbl>
          </a:graphicData>
        </a:graphic>
      </p:graphicFrame>
      <p:sp>
        <p:nvSpPr>
          <p:cNvPr id="130" name="Google Shape;130;p11"/>
          <p:cNvSpPr txBox="1">
            <a:spLocks noGrp="1"/>
          </p:cNvSpPr>
          <p:nvPr>
            <p:ph type="title"/>
          </p:nvPr>
        </p:nvSpPr>
        <p:spPr>
          <a:xfrm>
            <a:off x="3355208" y="323833"/>
            <a:ext cx="5481583" cy="6093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Clr>
                <a:srgbClr val="0800A6"/>
              </a:buClr>
              <a:buSzPts val="4267"/>
              <a:buFont typeface="Bodoni"/>
              <a:buNone/>
            </a:pPr>
            <a:r>
              <a:rPr lang="en-US" sz="4267" b="1">
                <a:solidFill>
                  <a:srgbClr val="0800A6"/>
                </a:solidFill>
                <a:latin typeface="Bodoni"/>
                <a:ea typeface="Bodoni"/>
                <a:cs typeface="Bodoni"/>
                <a:sym typeface="Bodoni"/>
              </a:rPr>
              <a:t> </a:t>
            </a:r>
            <a:br>
              <a:rPr lang="en-US" sz="4267" b="1">
                <a:solidFill>
                  <a:srgbClr val="0800A6"/>
                </a:solidFill>
                <a:latin typeface="Bodoni"/>
                <a:ea typeface="Bodoni"/>
                <a:cs typeface="Bodoni"/>
                <a:sym typeface="Bodoni"/>
              </a:rPr>
            </a:br>
            <a:r>
              <a:rPr lang="en-US" sz="3600" b="1">
                <a:latin typeface="Bodoni"/>
                <a:ea typeface="Bodoni"/>
                <a:cs typeface="Bodoni"/>
                <a:sym typeface="Bodoni"/>
              </a:rPr>
              <a:t>Program Specific Outcomes</a:t>
            </a:r>
            <a:br>
              <a:rPr lang="en-US" sz="4267" b="1">
                <a:solidFill>
                  <a:srgbClr val="0800A6"/>
                </a:solidFill>
                <a:latin typeface="Bodoni"/>
                <a:ea typeface="Bodoni"/>
                <a:cs typeface="Bodoni"/>
                <a:sym typeface="Bodoni"/>
              </a:rPr>
            </a:br>
            <a:endParaRPr sz="4267" b="1">
              <a:solidFill>
                <a:srgbClr val="0800A6"/>
              </a:solidFill>
              <a:latin typeface="Bodoni"/>
              <a:ea typeface="Bodoni"/>
              <a:cs typeface="Bodoni"/>
              <a:sym typeface="Bodoni"/>
            </a:endParaRPr>
          </a:p>
        </p:txBody>
      </p:sp>
      <p:sp>
        <p:nvSpPr>
          <p:cNvPr id="131" name="Google Shape;131;p1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32" name="Google Shape;132;p11"/>
          <p:cNvSpPr txBox="1">
            <a:spLocks noGrp="1"/>
          </p:cNvSpPr>
          <p:nvPr>
            <p:ph type="ftr" idx="11"/>
          </p:nvPr>
        </p:nvSpPr>
        <p:spPr>
          <a:xfrm>
            <a:off x="4165600" y="6356351"/>
            <a:ext cx="481072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33" name="Google Shape;133;p1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pic>
        <p:nvPicPr>
          <p:cNvPr id="134" name="Google Shape;134;p11" descr="A circular logo with a circle and a logo on it&#10;&#10;AI-generated content may be incorrect."/>
          <p:cNvPicPr preferRelativeResize="0"/>
          <p:nvPr/>
        </p:nvPicPr>
        <p:blipFill rotWithShape="1">
          <a:blip r:embed="rId3">
            <a:alphaModFix/>
          </a:blip>
          <a:srcRect/>
          <a:stretch/>
        </p:blipFill>
        <p:spPr>
          <a:xfrm>
            <a:off x="11136560" y="44624"/>
            <a:ext cx="980728" cy="980728"/>
          </a:xfrm>
          <a:prstGeom prst="rect">
            <a:avLst/>
          </a:prstGeom>
          <a:noFill/>
          <a:ln>
            <a:noFill/>
          </a:ln>
        </p:spPr>
      </p:pic>
      <p:grpSp>
        <p:nvGrpSpPr>
          <p:cNvPr id="135" name="Google Shape;135;p11"/>
          <p:cNvGrpSpPr/>
          <p:nvPr/>
        </p:nvGrpSpPr>
        <p:grpSpPr>
          <a:xfrm>
            <a:off x="7300" y="2220"/>
            <a:ext cx="1443834" cy="6855780"/>
            <a:chOff x="7300" y="2220"/>
            <a:chExt cx="1443834" cy="6855780"/>
          </a:xfrm>
        </p:grpSpPr>
        <p:sp>
          <p:nvSpPr>
            <p:cNvPr id="136" name="Google Shape;136;p11"/>
            <p:cNvSpPr/>
            <p:nvPr/>
          </p:nvSpPr>
          <p:spPr>
            <a:xfrm>
              <a:off x="7300" y="2220"/>
              <a:ext cx="425219" cy="685578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7" name="Google Shape;137;p11" descr="A logo with a blue design&#10;&#10;AI-generated content may be incorrect."/>
            <p:cNvPicPr preferRelativeResize="0"/>
            <p:nvPr/>
          </p:nvPicPr>
          <p:blipFill rotWithShape="1">
            <a:blip r:embed="rId4">
              <a:alphaModFix/>
            </a:blip>
            <a:srcRect/>
            <a:stretch/>
          </p:blipFill>
          <p:spPr>
            <a:xfrm>
              <a:off x="524957" y="183372"/>
              <a:ext cx="926177" cy="841980"/>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US" sz="3600" b="1">
                <a:latin typeface="Bodoni"/>
                <a:ea typeface="Bodoni"/>
                <a:cs typeface="Bodoni"/>
                <a:sym typeface="Bodoni"/>
              </a:rPr>
              <a:t>Outline</a:t>
            </a:r>
            <a:endParaRPr sz="3600" b="1">
              <a:latin typeface="Bodoni"/>
              <a:ea typeface="Bodoni"/>
              <a:cs typeface="Bodoni"/>
              <a:sym typeface="Bodoni"/>
            </a:endParaRPr>
          </a:p>
        </p:txBody>
      </p:sp>
      <p:sp>
        <p:nvSpPr>
          <p:cNvPr id="143" name="Google Shape;143;p2"/>
          <p:cNvSpPr txBox="1">
            <a:spLocks noGrp="1"/>
          </p:cNvSpPr>
          <p:nvPr>
            <p:ph type="body" idx="1"/>
          </p:nvPr>
        </p:nvSpPr>
        <p:spPr>
          <a:xfrm>
            <a:off x="2130000" y="1329000"/>
            <a:ext cx="6778330" cy="4864410"/>
          </a:xfrm>
          <a:prstGeom prst="rect">
            <a:avLst/>
          </a:prstGeom>
          <a:noFill/>
          <a:ln>
            <a:noFill/>
          </a:ln>
        </p:spPr>
        <p:txBody>
          <a:bodyPr spcFirstLastPara="1" wrap="square" lIns="91425" tIns="45700" rIns="91425" bIns="45700" anchor="t" anchorCtr="0">
            <a:noAutofit/>
          </a:bodyPr>
          <a:lstStyle/>
          <a:p>
            <a:pPr marL="285750" lvl="0" indent="-304800" algn="l" rtl="0">
              <a:lnSpc>
                <a:spcPct val="150000"/>
              </a:lnSpc>
              <a:spcBef>
                <a:spcPts val="240"/>
              </a:spcBef>
              <a:spcAft>
                <a:spcPts val="0"/>
              </a:spcAft>
              <a:buClr>
                <a:schemeClr val="dk1"/>
              </a:buClr>
              <a:buSzPts val="1500"/>
              <a:buFont typeface="Times New Roman"/>
              <a:buChar char="❖"/>
            </a:pPr>
            <a:r>
              <a:rPr lang="en-US" sz="1500" b="1" dirty="0">
                <a:latin typeface="Times New Roman"/>
                <a:ea typeface="Times New Roman"/>
                <a:cs typeface="Times New Roman"/>
                <a:sym typeface="Times New Roman"/>
              </a:rPr>
              <a:t>Introduction</a:t>
            </a:r>
          </a:p>
          <a:p>
            <a:pPr marL="285750" indent="-304800">
              <a:lnSpc>
                <a:spcPct val="150000"/>
              </a:lnSpc>
              <a:spcBef>
                <a:spcPts val="240"/>
              </a:spcBef>
              <a:buSzPts val="1500"/>
              <a:buFont typeface="Times New Roman"/>
              <a:buChar char="❖"/>
            </a:pPr>
            <a:r>
              <a:rPr lang="en-US" sz="1500" b="1" dirty="0">
                <a:latin typeface="Times New Roman"/>
                <a:cs typeface="Times New Roman"/>
              </a:rPr>
              <a:t>Problem Statement &amp; Objectives</a:t>
            </a:r>
          </a:p>
          <a:p>
            <a:pPr marL="285750" indent="-304800">
              <a:lnSpc>
                <a:spcPct val="150000"/>
              </a:lnSpc>
              <a:spcBef>
                <a:spcPts val="240"/>
              </a:spcBef>
              <a:buSzPts val="1500"/>
              <a:buFont typeface="Times New Roman"/>
              <a:buChar char="❖"/>
            </a:pPr>
            <a:r>
              <a:rPr lang="en-US" sz="1500" b="1" dirty="0">
                <a:latin typeface="Times New Roman"/>
                <a:cs typeface="Times New Roman"/>
                <a:sym typeface="Times New Roman"/>
              </a:rPr>
              <a:t>Core Concept / Theory </a:t>
            </a:r>
            <a:endParaRPr sz="1500" b="1" dirty="0">
              <a:latin typeface="Times New Roman"/>
              <a:cs typeface="Times New Roman"/>
              <a:sym typeface="Times New Roman"/>
            </a:endParaRPr>
          </a:p>
          <a:p>
            <a:pPr marL="285750" lvl="0" indent="-304800" algn="l" rtl="0">
              <a:lnSpc>
                <a:spcPct val="150000"/>
              </a:lnSpc>
              <a:spcBef>
                <a:spcPts val="240"/>
              </a:spcBef>
              <a:spcAft>
                <a:spcPts val="0"/>
              </a:spcAft>
              <a:buSzPts val="1500"/>
              <a:buFont typeface="Times New Roman"/>
              <a:buChar char="❖"/>
            </a:pPr>
            <a:r>
              <a:rPr lang="en-US" sz="1500" b="1" dirty="0">
                <a:latin typeface="Times New Roman"/>
                <a:cs typeface="Times New Roman"/>
                <a:sym typeface="Times New Roman"/>
              </a:rPr>
              <a:t>Working / Mechanism </a:t>
            </a:r>
            <a:endParaRPr sz="1500" b="1" dirty="0">
              <a:latin typeface="Times New Roman"/>
              <a:cs typeface="Times New Roman"/>
              <a:sym typeface="Times New Roman"/>
            </a:endParaRPr>
          </a:p>
          <a:p>
            <a:pPr marL="285750" indent="-304800">
              <a:lnSpc>
                <a:spcPct val="150000"/>
              </a:lnSpc>
              <a:spcBef>
                <a:spcPts val="240"/>
              </a:spcBef>
              <a:buSzPts val="1500"/>
              <a:buFont typeface="Times New Roman"/>
              <a:buChar char="❖"/>
            </a:pPr>
            <a:r>
              <a:rPr lang="en-US" sz="1500" b="1" dirty="0">
                <a:latin typeface="Times New Roman"/>
                <a:cs typeface="Times New Roman"/>
              </a:rPr>
              <a:t>Functional &amp; Non-Functional Requirements (if applicable)</a:t>
            </a:r>
          </a:p>
          <a:p>
            <a:pPr marL="285750" indent="-304800">
              <a:lnSpc>
                <a:spcPct val="150000"/>
              </a:lnSpc>
              <a:spcBef>
                <a:spcPts val="240"/>
              </a:spcBef>
              <a:buSzPts val="1500"/>
              <a:buFont typeface="Times New Roman"/>
              <a:buChar char="❖"/>
            </a:pPr>
            <a:r>
              <a:rPr lang="en-US" sz="1500" b="1" dirty="0">
                <a:latin typeface="Times New Roman"/>
                <a:cs typeface="Times New Roman"/>
              </a:rPr>
              <a:t>Challenges / Limitations</a:t>
            </a:r>
          </a:p>
          <a:p>
            <a:pPr marL="285750" indent="-304800">
              <a:lnSpc>
                <a:spcPct val="150000"/>
              </a:lnSpc>
              <a:spcBef>
                <a:spcPts val="240"/>
              </a:spcBef>
              <a:buSzPts val="1500"/>
              <a:buFont typeface="Times New Roman"/>
              <a:buChar char="❖"/>
            </a:pPr>
            <a:r>
              <a:rPr lang="en-US" sz="1500" b="1" dirty="0">
                <a:latin typeface="Times New Roman"/>
                <a:cs typeface="Times New Roman"/>
                <a:sym typeface="Times New Roman"/>
              </a:rPr>
              <a:t>Case Study / Example </a:t>
            </a:r>
            <a:endParaRPr sz="1500" b="1" dirty="0">
              <a:latin typeface="Times New Roman"/>
              <a:cs typeface="Times New Roman"/>
              <a:sym typeface="Times New Roman"/>
            </a:endParaRPr>
          </a:p>
          <a:p>
            <a:pPr marL="285750" lvl="0" indent="-304800" algn="l" rtl="0">
              <a:lnSpc>
                <a:spcPct val="150000"/>
              </a:lnSpc>
              <a:spcBef>
                <a:spcPts val="240"/>
              </a:spcBef>
              <a:spcAft>
                <a:spcPts val="0"/>
              </a:spcAft>
              <a:buSzPts val="1500"/>
              <a:buFont typeface="Times New Roman"/>
              <a:buChar char="❖"/>
            </a:pPr>
            <a:r>
              <a:rPr lang="en-US" sz="1500" b="1" dirty="0">
                <a:latin typeface="Times New Roman"/>
                <a:cs typeface="Times New Roman"/>
                <a:sym typeface="Times New Roman"/>
              </a:rPr>
              <a:t>Comparative Analysis (if applicable) </a:t>
            </a:r>
            <a:endParaRPr sz="1500" b="1" dirty="0">
              <a:latin typeface="Times New Roman"/>
              <a:cs typeface="Times New Roman"/>
              <a:sym typeface="Times New Roman"/>
            </a:endParaRPr>
          </a:p>
          <a:p>
            <a:pPr marL="285750" lvl="0" indent="-304800">
              <a:lnSpc>
                <a:spcPct val="150000"/>
              </a:lnSpc>
              <a:spcBef>
                <a:spcPts val="240"/>
              </a:spcBef>
              <a:buSzPts val="1500"/>
              <a:buFont typeface="Times New Roman"/>
              <a:buChar char="❖"/>
            </a:pPr>
            <a:r>
              <a:rPr lang="en-US" sz="1500" b="1" dirty="0">
                <a:latin typeface="Times New Roman"/>
                <a:cs typeface="Times New Roman"/>
              </a:rPr>
              <a:t>Tools &amp; Modeling Approaches</a:t>
            </a:r>
            <a:endParaRPr lang="en-US" sz="1500" b="1" dirty="0">
              <a:latin typeface="Times New Roman"/>
              <a:cs typeface="Times New Roman"/>
              <a:sym typeface="Times New Roman"/>
            </a:endParaRPr>
          </a:p>
          <a:p>
            <a:pPr marL="285750" lvl="0" indent="-304800" algn="l" rtl="0">
              <a:lnSpc>
                <a:spcPct val="150000"/>
              </a:lnSpc>
              <a:spcBef>
                <a:spcPts val="240"/>
              </a:spcBef>
              <a:spcAft>
                <a:spcPts val="0"/>
              </a:spcAft>
              <a:buSzPts val="1500"/>
              <a:buFont typeface="Times New Roman"/>
              <a:buChar char="❖"/>
            </a:pPr>
            <a:r>
              <a:rPr lang="en-US" sz="1500" b="1" dirty="0">
                <a:latin typeface="Times New Roman"/>
                <a:cs typeface="Times New Roman"/>
                <a:sym typeface="Times New Roman"/>
              </a:rPr>
              <a:t>Applications in Real Life</a:t>
            </a:r>
          </a:p>
          <a:p>
            <a:pPr marL="285750" indent="-304800">
              <a:lnSpc>
                <a:spcPct val="150000"/>
              </a:lnSpc>
              <a:spcBef>
                <a:spcPts val="240"/>
              </a:spcBef>
              <a:buSzPts val="1500"/>
              <a:buFont typeface="Times New Roman"/>
              <a:buChar char="❖"/>
            </a:pPr>
            <a:r>
              <a:rPr lang="en-US" sz="1500" b="1" dirty="0">
                <a:latin typeface="Times New Roman"/>
                <a:cs typeface="Times New Roman"/>
              </a:rPr>
              <a:t>Proposed Framework / Design</a:t>
            </a:r>
            <a:endParaRPr sz="1500" b="1" dirty="0">
              <a:latin typeface="Times New Roman"/>
              <a:cs typeface="Times New Roman"/>
              <a:sym typeface="Times New Roman"/>
            </a:endParaRPr>
          </a:p>
          <a:p>
            <a:pPr marL="285750" indent="-304800">
              <a:lnSpc>
                <a:spcPct val="150000"/>
              </a:lnSpc>
              <a:spcBef>
                <a:spcPts val="240"/>
              </a:spcBef>
              <a:buSzPts val="1500"/>
              <a:buFont typeface="Times New Roman"/>
              <a:buChar char="❖"/>
            </a:pPr>
            <a:r>
              <a:rPr lang="en-US" sz="1500" b="1" dirty="0">
                <a:latin typeface="Times New Roman"/>
                <a:cs typeface="Times New Roman"/>
                <a:sym typeface="Times New Roman"/>
              </a:rPr>
              <a:t>Conclusion </a:t>
            </a:r>
            <a:r>
              <a:rPr lang="en-US" sz="1500" b="1" dirty="0">
                <a:latin typeface="Times New Roman"/>
                <a:cs typeface="Times New Roman"/>
              </a:rPr>
              <a:t>&amp; Future Scope</a:t>
            </a:r>
            <a:endParaRPr sz="1500" b="1" dirty="0">
              <a:latin typeface="Times New Roman"/>
              <a:cs typeface="Times New Roman"/>
              <a:sym typeface="Times New Roman"/>
            </a:endParaRPr>
          </a:p>
          <a:p>
            <a:pPr marL="285750" lvl="0" indent="-304800" algn="l" rtl="0">
              <a:lnSpc>
                <a:spcPct val="150000"/>
              </a:lnSpc>
              <a:spcBef>
                <a:spcPts val="240"/>
              </a:spcBef>
              <a:spcAft>
                <a:spcPts val="0"/>
              </a:spcAft>
              <a:buSzPts val="1500"/>
              <a:buFont typeface="Times New Roman"/>
              <a:buChar char="❖"/>
            </a:pPr>
            <a:r>
              <a:rPr lang="en-US" sz="1500" b="1" dirty="0">
                <a:latin typeface="Times New Roman"/>
                <a:cs typeface="Times New Roman"/>
                <a:sym typeface="Times New Roman"/>
              </a:rPr>
              <a:t>Reference</a:t>
            </a:r>
            <a:endParaRPr sz="1500" b="1" dirty="0">
              <a:latin typeface="Times New Roman"/>
              <a:cs typeface="Times New Roman"/>
              <a:sym typeface="Times New Roman"/>
            </a:endParaRPr>
          </a:p>
        </p:txBody>
      </p:sp>
      <p:sp>
        <p:nvSpPr>
          <p:cNvPr id="144" name="Google Shape;144;p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45" name="Google Shape;145;p2"/>
          <p:cNvSpPr txBox="1">
            <a:spLocks noGrp="1"/>
          </p:cNvSpPr>
          <p:nvPr>
            <p:ph type="ftr" idx="11"/>
          </p:nvPr>
        </p:nvSpPr>
        <p:spPr>
          <a:xfrm>
            <a:off x="4165600" y="6356351"/>
            <a:ext cx="481072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46" name="Google Shape;146;p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pic>
        <p:nvPicPr>
          <p:cNvPr id="147" name="Google Shape;147;p2" descr="A circular logo with a circle and a logo on it&#10;&#10;AI-generated content may be incorrect."/>
          <p:cNvPicPr preferRelativeResize="0"/>
          <p:nvPr/>
        </p:nvPicPr>
        <p:blipFill rotWithShape="1">
          <a:blip r:embed="rId3">
            <a:alphaModFix/>
          </a:blip>
          <a:srcRect/>
          <a:stretch/>
        </p:blipFill>
        <p:spPr>
          <a:xfrm>
            <a:off x="11136560" y="44624"/>
            <a:ext cx="980728" cy="980728"/>
          </a:xfrm>
          <a:prstGeom prst="rect">
            <a:avLst/>
          </a:prstGeom>
          <a:noFill/>
          <a:ln>
            <a:noFill/>
          </a:ln>
        </p:spPr>
      </p:pic>
      <p:grpSp>
        <p:nvGrpSpPr>
          <p:cNvPr id="148" name="Google Shape;148;p2"/>
          <p:cNvGrpSpPr/>
          <p:nvPr/>
        </p:nvGrpSpPr>
        <p:grpSpPr>
          <a:xfrm>
            <a:off x="7300" y="2220"/>
            <a:ext cx="1443834" cy="6855780"/>
            <a:chOff x="7300" y="2220"/>
            <a:chExt cx="1443834" cy="6855780"/>
          </a:xfrm>
        </p:grpSpPr>
        <p:sp>
          <p:nvSpPr>
            <p:cNvPr id="149" name="Google Shape;149;p2"/>
            <p:cNvSpPr/>
            <p:nvPr/>
          </p:nvSpPr>
          <p:spPr>
            <a:xfrm>
              <a:off x="7300" y="2220"/>
              <a:ext cx="425219" cy="685578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50" name="Google Shape;150;p2" descr="A logo with a blue design&#10;&#10;AI-generated content may be incorrect."/>
            <p:cNvPicPr preferRelativeResize="0"/>
            <p:nvPr/>
          </p:nvPicPr>
          <p:blipFill rotWithShape="1">
            <a:blip r:embed="rId4">
              <a:alphaModFix/>
            </a:blip>
            <a:srcRect/>
            <a:stretch/>
          </p:blipFill>
          <p:spPr>
            <a:xfrm>
              <a:off x="524957" y="183372"/>
              <a:ext cx="926177" cy="841980"/>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2b4099f15_0_15"/>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IN" sz="2600" b="1" dirty="0">
                <a:latin typeface="Bodoni"/>
                <a:ea typeface="Bodoni"/>
                <a:cs typeface="Bodoni"/>
                <a:sym typeface="Bodoni"/>
              </a:rPr>
              <a:t>My Self-Learning Journey</a:t>
            </a:r>
            <a:endParaRPr sz="3600" b="1" dirty="0">
              <a:latin typeface="Bodoni"/>
              <a:ea typeface="Bodoni"/>
              <a:cs typeface="Bodoni"/>
              <a:sym typeface="Bodoni"/>
            </a:endParaRPr>
          </a:p>
        </p:txBody>
      </p:sp>
      <p:sp>
        <p:nvSpPr>
          <p:cNvPr id="157" name="Google Shape;157;g382b4099f15_0_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58" name="Google Shape;158;g382b4099f15_0_15"/>
          <p:cNvSpPr txBox="1">
            <a:spLocks noGrp="1"/>
          </p:cNvSpPr>
          <p:nvPr>
            <p:ph type="ftr" idx="11"/>
          </p:nvPr>
        </p:nvSpPr>
        <p:spPr>
          <a:xfrm>
            <a:off x="4165600" y="6356351"/>
            <a:ext cx="4810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59" name="Google Shape;159;g382b4099f15_0_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pic>
        <p:nvPicPr>
          <p:cNvPr id="160" name="Google Shape;160;g382b4099f15_0_15" descr="A circular logo with a circle and a logo on it&#10;&#10;AI-generated content may be incorrect."/>
          <p:cNvPicPr preferRelativeResize="0"/>
          <p:nvPr/>
        </p:nvPicPr>
        <p:blipFill rotWithShape="1">
          <a:blip r:embed="rId3">
            <a:alphaModFix/>
          </a:blip>
          <a:srcRect/>
          <a:stretch/>
        </p:blipFill>
        <p:spPr>
          <a:xfrm>
            <a:off x="11136560" y="44624"/>
            <a:ext cx="980728" cy="980728"/>
          </a:xfrm>
          <a:prstGeom prst="rect">
            <a:avLst/>
          </a:prstGeom>
          <a:noFill/>
          <a:ln>
            <a:noFill/>
          </a:ln>
        </p:spPr>
      </p:pic>
      <p:grpSp>
        <p:nvGrpSpPr>
          <p:cNvPr id="161" name="Google Shape;161;g382b4099f15_0_15"/>
          <p:cNvGrpSpPr/>
          <p:nvPr/>
        </p:nvGrpSpPr>
        <p:grpSpPr>
          <a:xfrm>
            <a:off x="7300" y="2220"/>
            <a:ext cx="1443834" cy="6855900"/>
            <a:chOff x="7300" y="2220"/>
            <a:chExt cx="1443834" cy="6855900"/>
          </a:xfrm>
        </p:grpSpPr>
        <p:sp>
          <p:nvSpPr>
            <p:cNvPr id="162" name="Google Shape;162;g382b4099f15_0_15"/>
            <p:cNvSpPr/>
            <p:nvPr/>
          </p:nvSpPr>
          <p:spPr>
            <a:xfrm>
              <a:off x="7300" y="2220"/>
              <a:ext cx="425100" cy="685590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3" name="Google Shape;163;g382b4099f15_0_15" descr="A logo with a blue design&#10;&#10;AI-generated content may be incorrect."/>
            <p:cNvPicPr preferRelativeResize="0"/>
            <p:nvPr/>
          </p:nvPicPr>
          <p:blipFill rotWithShape="1">
            <a:blip r:embed="rId4">
              <a:alphaModFix/>
            </a:blip>
            <a:srcRect/>
            <a:stretch/>
          </p:blipFill>
          <p:spPr>
            <a:xfrm>
              <a:off x="524957" y="183372"/>
              <a:ext cx="926177" cy="841980"/>
            </a:xfrm>
            <a:prstGeom prst="rect">
              <a:avLst/>
            </a:prstGeom>
            <a:noFill/>
            <a:ln>
              <a:noFill/>
            </a:ln>
          </p:spPr>
        </p:pic>
      </p:grpSp>
      <p:sp>
        <p:nvSpPr>
          <p:cNvPr id="301" name="Purpose banner"/>
          <p:cNvSpPr/>
          <p:nvPr/>
        </p:nvSpPr>
        <p:spPr>
          <a:xfrm>
            <a:off x="822960" y="1234440"/>
            <a:ext cx="10607040" cy="777240"/>
          </a:xfrm>
          <a:prstGeom prst="roundRect">
            <a:avLst>
              <a:gd name="adj" fmla="val 6000"/>
            </a:avLst>
          </a:prstGeom>
          <a:solidFill>
            <a:srgbClr val="EFE6F7"/>
          </a:solidFill>
          <a:ln>
            <a:noFill/>
          </a:ln>
        </p:spPr>
        <p:txBody>
          <a:bodyPr wrap="square" lIns="109728" tIns="54864" rIns="109728" bIns="54864" anchor="ctr" anchorCtr="0">
            <a:noAutofit/>
          </a:bodyPr>
          <a:lstStyle/>
          <a:p>
            <a:pPr marL="0" indent="0" algn="l">
              <a:lnSpc>
                <a:spcPct val="100000"/>
              </a:lnSpc>
              <a:spcBef>
                <a:spcPts val="0"/>
              </a:spcBef>
              <a:spcAft>
                <a:spcPts val="0"/>
              </a:spcAft>
              <a:buNone/>
            </a:pPr>
            <a:r>
              <a:rPr lang="en-IN" sz="1600" b="1" i="0" dirty="0">
                <a:solidFill>
                  <a:srgbClr val="5A0886"/>
                </a:solidFill>
                <a:latin typeface="Calibri"/>
                <a:cs typeface="Calibri"/>
              </a:rPr>
              <a:t>Purpose: </a:t>
            </a:r>
            <a:r>
              <a:rPr lang="en-IN" sz="1600" b="0" i="0" dirty="0">
                <a:solidFill>
                  <a:srgbClr val="2B2B2B"/>
                </a:solidFill>
                <a:latin typeface="Calibri"/>
                <a:cs typeface="Calibri"/>
              </a:rPr>
              <a:t>to reflect on what I learned from two self-paced cybersecurity courses, how I worked through them, and where they fit in my plans.</a:t>
            </a:r>
          </a:p>
        </p:txBody>
      </p:sp>
      <p:sp>
        <p:nvSpPr>
          <p:cNvPr id="302" name="Cisco card"/>
          <p:cNvSpPr/>
          <p:nvPr/>
        </p:nvSpPr>
        <p:spPr>
          <a:xfrm>
            <a:off x="822960" y="2286000"/>
            <a:ext cx="4709160" cy="2331720"/>
          </a:xfrm>
          <a:prstGeom prst="roundRect">
            <a:avLst>
              <a:gd name="adj" fmla="val 6000"/>
            </a:avLst>
          </a:prstGeom>
          <a:solidFill>
            <a:srgbClr val="FFFFFF"/>
          </a:solidFill>
          <a:ln w="19050">
            <a:solidFill>
              <a:srgbClr val="5A0886"/>
            </a:solidFill>
          </a:ln>
        </p:spPr>
        <p:txBody>
          <a:bodyPr wrap="square" lIns="182880" tIns="137160" rIns="182880" bIns="91440" anchor="t" anchorCtr="0">
            <a:noAutofit/>
          </a:bodyPr>
          <a:lstStyle/>
          <a:p>
            <a:pPr marL="0" indent="0" algn="l">
              <a:lnSpc>
                <a:spcPct val="100000"/>
              </a:lnSpc>
              <a:spcBef>
                <a:spcPts val="0"/>
              </a:spcBef>
              <a:spcAft>
                <a:spcPts val="0"/>
              </a:spcAft>
              <a:buNone/>
            </a:pPr>
            <a:r>
              <a:rPr lang="en-IN" sz="2000" b="1" i="0" dirty="0">
                <a:solidFill>
                  <a:srgbClr val="5A0886"/>
                </a:solidFill>
                <a:latin typeface="Calibri"/>
                <a:cs typeface="Calibri"/>
              </a:rPr>
              <a:t>Cisco Ethical Hacker</a:t>
            </a:r>
          </a:p>
          <a:p>
            <a:pPr marL="0" indent="0" algn="l">
              <a:lnSpc>
                <a:spcPct val="100000"/>
              </a:lnSpc>
              <a:spcBef>
                <a:spcPts val="200"/>
              </a:spcBef>
              <a:spcAft>
                <a:spcPts val="0"/>
              </a:spcAft>
              <a:buNone/>
            </a:pPr>
            <a:r>
              <a:rPr lang="en-IN" sz="1400" b="0" i="0" dirty="0">
                <a:solidFill>
                  <a:srgbClr val="555555"/>
                </a:solidFill>
                <a:latin typeface="Calibri"/>
                <a:cs typeface="Calibri"/>
              </a:rPr>
              <a:t>Cisco Networking Academy</a:t>
            </a:r>
          </a:p>
          <a:p>
            <a:pPr marL="0" indent="0" algn="l">
              <a:lnSpc>
                <a:spcPct val="100000"/>
              </a:lnSpc>
              <a:spcBef>
                <a:spcPts val="800"/>
              </a:spcBef>
              <a:spcAft>
                <a:spcPts val="0"/>
              </a:spcAft>
              <a:buNone/>
            </a:pPr>
            <a:r>
              <a:rPr lang="en-IN" sz="1400" b="1" i="0" dirty="0">
                <a:solidFill>
                  <a:srgbClr val="2B2B2B"/>
                </a:solidFill>
                <a:latin typeface="Calibri"/>
                <a:cs typeface="Calibri"/>
              </a:rPr>
              <a:t>The wide view: </a:t>
            </a:r>
            <a:r>
              <a:rPr lang="en-IN" sz="1400" b="0" i="0" dirty="0">
                <a:solidFill>
                  <a:srgbClr val="2B2B2B"/>
                </a:solidFill>
                <a:latin typeface="Calibri"/>
                <a:cs typeface="Calibri"/>
              </a:rPr>
              <a:t>how an authorised security assessment is scoped, carried out and reported.</a:t>
            </a:r>
          </a:p>
          <a:p>
            <a:pPr marL="0" indent="0" algn="l">
              <a:lnSpc>
                <a:spcPct val="100000"/>
              </a:lnSpc>
              <a:spcBef>
                <a:spcPts val="800"/>
              </a:spcBef>
              <a:spcAft>
                <a:spcPts val="0"/>
              </a:spcAft>
              <a:buNone/>
            </a:pPr>
            <a:r>
              <a:rPr lang="en-IN" sz="1400" b="1" i="0" dirty="0">
                <a:solidFill>
                  <a:srgbClr val="5A0886"/>
                </a:solidFill>
                <a:latin typeface="Calibri"/>
                <a:cs typeface="Calibri"/>
              </a:rPr>
              <a:t>Certificate date: 16 Sep 2026</a:t>
            </a:r>
          </a:p>
        </p:txBody>
      </p:sp>
      <p:sp>
        <p:nvSpPr>
          <p:cNvPr id="303" name="Infosys card"/>
          <p:cNvSpPr/>
          <p:nvPr/>
        </p:nvSpPr>
        <p:spPr>
          <a:xfrm>
            <a:off x="6720840" y="2286000"/>
            <a:ext cx="4709160" cy="2331720"/>
          </a:xfrm>
          <a:prstGeom prst="roundRect">
            <a:avLst>
              <a:gd name="adj" fmla="val 6000"/>
            </a:avLst>
          </a:prstGeom>
          <a:solidFill>
            <a:srgbClr val="FFFFFF"/>
          </a:solidFill>
          <a:ln w="19050">
            <a:solidFill>
              <a:srgbClr val="0E7C86"/>
            </a:solidFill>
          </a:ln>
        </p:spPr>
        <p:txBody>
          <a:bodyPr wrap="square" lIns="182880" tIns="137160" rIns="182880" bIns="91440" anchor="t" anchorCtr="0">
            <a:noAutofit/>
          </a:bodyPr>
          <a:lstStyle/>
          <a:p>
            <a:pPr marL="0" indent="0" algn="l">
              <a:lnSpc>
                <a:spcPct val="100000"/>
              </a:lnSpc>
              <a:spcBef>
                <a:spcPts val="0"/>
              </a:spcBef>
              <a:spcAft>
                <a:spcPts val="0"/>
              </a:spcAft>
              <a:buNone/>
            </a:pPr>
            <a:r>
              <a:rPr lang="en-IN" sz="1800" b="1" i="0" dirty="0">
                <a:solidFill>
                  <a:srgbClr val="0E7C86"/>
                </a:solidFill>
                <a:latin typeface="Calibri"/>
                <a:cs typeface="Calibri"/>
              </a:rPr>
              <a:t>Kali Linux Advanced Wireless Penetration Testing</a:t>
            </a:r>
          </a:p>
          <a:p>
            <a:pPr marL="0" indent="0" algn="l">
              <a:lnSpc>
                <a:spcPct val="100000"/>
              </a:lnSpc>
              <a:spcBef>
                <a:spcPts val="200"/>
              </a:spcBef>
              <a:spcAft>
                <a:spcPts val="0"/>
              </a:spcAft>
              <a:buNone/>
            </a:pPr>
            <a:r>
              <a:rPr lang="en-IN" sz="1400" b="0" i="0" dirty="0">
                <a:solidFill>
                  <a:srgbClr val="555555"/>
                </a:solidFill>
                <a:latin typeface="Calibri"/>
                <a:cs typeface="Calibri"/>
              </a:rPr>
              <a:t>Infosys Springboard</a:t>
            </a:r>
          </a:p>
          <a:p>
            <a:pPr marL="0" indent="0" algn="l">
              <a:lnSpc>
                <a:spcPct val="100000"/>
              </a:lnSpc>
              <a:spcBef>
                <a:spcPts val="800"/>
              </a:spcBef>
              <a:spcAft>
                <a:spcPts val="0"/>
              </a:spcAft>
              <a:buNone/>
            </a:pPr>
            <a:r>
              <a:rPr lang="en-IN" sz="1400" b="1" i="0" dirty="0">
                <a:solidFill>
                  <a:srgbClr val="2B2B2B"/>
                </a:solidFill>
                <a:latin typeface="Calibri"/>
                <a:cs typeface="Calibri"/>
              </a:rPr>
              <a:t>The close-up: </a:t>
            </a:r>
            <a:r>
              <a:rPr lang="en-IN" sz="1400" b="0" i="0" dirty="0">
                <a:solidFill>
                  <a:srgbClr val="2B2B2B"/>
                </a:solidFill>
                <a:latin typeface="Calibri"/>
                <a:cs typeface="Calibri"/>
              </a:rPr>
              <a:t>how the security of wireless networks is assessed.</a:t>
            </a:r>
          </a:p>
          <a:p>
            <a:pPr marL="0" indent="0" algn="l">
              <a:lnSpc>
                <a:spcPct val="100000"/>
              </a:lnSpc>
              <a:spcBef>
                <a:spcPts val="800"/>
              </a:spcBef>
              <a:spcAft>
                <a:spcPts val="0"/>
              </a:spcAft>
              <a:buNone/>
            </a:pPr>
            <a:r>
              <a:rPr lang="en-IN" sz="1400" b="1" i="0" dirty="0">
                <a:solidFill>
                  <a:srgbClr val="0E7C86"/>
                </a:solidFill>
                <a:latin typeface="Calibri"/>
                <a:cs typeface="Calibri"/>
              </a:rPr>
              <a:t>Completed: September 2, 2026</a:t>
            </a:r>
          </a:p>
        </p:txBody>
      </p:sp>
      <p:sp>
        <p:nvSpPr>
          <p:cNvPr id="304" name="Complement arrow"/>
          <p:cNvSpPr/>
          <p:nvPr/>
        </p:nvSpPr>
        <p:spPr>
          <a:xfrm>
            <a:off x="5596128" y="3035808"/>
            <a:ext cx="1005840" cy="640080"/>
          </a:xfrm>
          <a:prstGeom prst="leftRightArrow">
            <a:avLst/>
          </a:prstGeom>
          <a:solidFill>
            <a:srgbClr val="FFF3D1"/>
          </a:solidFill>
          <a:ln w="12700">
            <a:solidFill>
              <a:srgbClr val="B7791F"/>
            </a:solidFill>
          </a:ln>
        </p:spPr>
        <p:txBody>
          <a:bodyPr wrap="square" lIns="109728" tIns="54864" rIns="109728" bIns="54864" anchor="ctr" anchorCtr="0">
            <a:noAutofit/>
          </a:bodyPr>
          <a:lstStyle/>
          <a:p>
            <a:pPr marL="0" indent="0" algn="ctr">
              <a:lnSpc>
                <a:spcPct val="100000"/>
              </a:lnSpc>
              <a:spcBef>
                <a:spcPts val="0"/>
              </a:spcBef>
              <a:spcAft>
                <a:spcPts val="0"/>
              </a:spcAft>
              <a:buNone/>
            </a:pPr>
            <a:endParaRPr/>
          </a:p>
        </p:txBody>
      </p:sp>
      <p:sp>
        <p:nvSpPr>
          <p:cNvPr id="305" name="Complement label"/>
          <p:cNvSpPr/>
          <p:nvPr/>
        </p:nvSpPr>
        <p:spPr>
          <a:xfrm>
            <a:off x="5440680" y="3703320"/>
            <a:ext cx="1325880" cy="365760"/>
          </a:xfrm>
          <a:prstGeom prst="rect">
            <a:avLst/>
          </a:prstGeom>
          <a:noFill/>
          <a:ln>
            <a:noFill/>
          </a:ln>
        </p:spPr>
        <p:txBody>
          <a:bodyPr wrap="square" lIns="0" tIns="0" rIns="0" bIns="0" anchor="t" anchorCtr="0">
            <a:noAutofit/>
          </a:bodyPr>
          <a:lstStyle/>
          <a:p>
            <a:pPr marL="0" indent="0" algn="ctr">
              <a:lnSpc>
                <a:spcPct val="100000"/>
              </a:lnSpc>
              <a:spcBef>
                <a:spcPts val="0"/>
              </a:spcBef>
              <a:spcAft>
                <a:spcPts val="0"/>
              </a:spcAft>
              <a:buNone/>
            </a:pPr>
            <a:r>
              <a:rPr lang="en-IN" sz="1200" b="1" i="0" dirty="0">
                <a:solidFill>
                  <a:srgbClr val="5A3E00"/>
                </a:solidFill>
                <a:latin typeface="Calibri"/>
                <a:cs typeface="Calibri"/>
              </a:rPr>
              <a:t>complementary</a:t>
            </a:r>
          </a:p>
        </p:txBody>
      </p:sp>
      <p:sp>
        <p:nvSpPr>
          <p:cNvPr id="306" name="Focus 1"/>
          <p:cNvSpPr/>
          <p:nvPr/>
        </p:nvSpPr>
        <p:spPr>
          <a:xfrm>
            <a:off x="822960" y="4892040"/>
            <a:ext cx="3383280" cy="1097280"/>
          </a:xfrm>
          <a:prstGeom prst="roundRect">
            <a:avLst>
              <a:gd name="adj" fmla="val 6000"/>
            </a:avLst>
          </a:prstGeom>
          <a:solidFill>
            <a:srgbClr val="FFFFFF"/>
          </a:solidFill>
          <a:ln w="12700">
            <a:solidFill>
              <a:srgbClr val="CDB6E0"/>
            </a:solidFill>
          </a:ln>
        </p:spPr>
        <p:txBody>
          <a:bodyPr wrap="square" lIns="164592" tIns="73152" rIns="109728" bIns="73152" anchor="ctr" anchorCtr="0">
            <a:noAutofit/>
          </a:bodyPr>
          <a:lstStyle/>
          <a:p>
            <a:pPr marL="0" indent="0" algn="l">
              <a:lnSpc>
                <a:spcPct val="100000"/>
              </a:lnSpc>
              <a:spcBef>
                <a:spcPts val="0"/>
              </a:spcBef>
              <a:spcAft>
                <a:spcPts val="0"/>
              </a:spcAft>
              <a:buNone/>
            </a:pPr>
            <a:r>
              <a:rPr lang="en-IN" sz="1600" b="1" i="0" dirty="0">
                <a:solidFill>
                  <a:srgbClr val="5A0886"/>
                </a:solidFill>
                <a:latin typeface="Calibri"/>
                <a:cs typeface="Calibri"/>
              </a:rPr>
              <a:t>Independent learning</a:t>
            </a:r>
          </a:p>
          <a:p>
            <a:pPr marL="0" indent="0" algn="l">
              <a:lnSpc>
                <a:spcPct val="100000"/>
              </a:lnSpc>
              <a:spcBef>
                <a:spcPts val="300"/>
              </a:spcBef>
              <a:spcAft>
                <a:spcPts val="0"/>
              </a:spcAft>
              <a:buNone/>
            </a:pPr>
            <a:r>
              <a:rPr lang="en-IN" sz="1300" b="0" i="0" dirty="0">
                <a:solidFill>
                  <a:srgbClr val="2B2B2B"/>
                </a:solidFill>
                <a:latin typeface="Calibri"/>
                <a:cs typeface="Calibri"/>
              </a:rPr>
              <a:t>Working through self-paced material on my own</a:t>
            </a:r>
          </a:p>
        </p:txBody>
      </p:sp>
      <p:sp>
        <p:nvSpPr>
          <p:cNvPr id="307" name="Focus 2"/>
          <p:cNvSpPr/>
          <p:nvPr/>
        </p:nvSpPr>
        <p:spPr>
          <a:xfrm>
            <a:off x="4434840" y="4892040"/>
            <a:ext cx="3383280" cy="1097280"/>
          </a:xfrm>
          <a:prstGeom prst="roundRect">
            <a:avLst>
              <a:gd name="adj" fmla="val 6000"/>
            </a:avLst>
          </a:prstGeom>
          <a:solidFill>
            <a:srgbClr val="FFFFFF"/>
          </a:solidFill>
          <a:ln w="12700">
            <a:solidFill>
              <a:srgbClr val="CDB6E0"/>
            </a:solidFill>
          </a:ln>
        </p:spPr>
        <p:txBody>
          <a:bodyPr wrap="square" lIns="164592" tIns="73152" rIns="109728" bIns="73152" anchor="ctr" anchorCtr="0">
            <a:noAutofit/>
          </a:bodyPr>
          <a:lstStyle/>
          <a:p>
            <a:pPr marL="0" indent="0" algn="l">
              <a:lnSpc>
                <a:spcPct val="100000"/>
              </a:lnSpc>
              <a:spcBef>
                <a:spcPts val="0"/>
              </a:spcBef>
              <a:spcAft>
                <a:spcPts val="0"/>
              </a:spcAft>
              <a:buNone/>
            </a:pPr>
            <a:r>
              <a:rPr lang="en-IN" sz="1600" b="1" i="0" dirty="0">
                <a:solidFill>
                  <a:srgbClr val="5A0886"/>
                </a:solidFill>
                <a:latin typeface="Calibri"/>
                <a:cs typeface="Calibri"/>
              </a:rPr>
              <a:t>Technical understanding</a:t>
            </a:r>
          </a:p>
          <a:p>
            <a:pPr marL="0" indent="0" algn="l">
              <a:lnSpc>
                <a:spcPct val="100000"/>
              </a:lnSpc>
              <a:spcBef>
                <a:spcPts val="300"/>
              </a:spcBef>
              <a:spcAft>
                <a:spcPts val="0"/>
              </a:spcAft>
              <a:buNone/>
            </a:pPr>
            <a:r>
              <a:rPr lang="en-IN" sz="1300" b="0" i="0" dirty="0">
                <a:solidFill>
                  <a:srgbClr val="2B2B2B"/>
                </a:solidFill>
                <a:latin typeface="Calibri"/>
                <a:cs typeface="Calibri"/>
              </a:rPr>
              <a:t>Connecting ideas across the two courses</a:t>
            </a:r>
          </a:p>
        </p:txBody>
      </p:sp>
      <p:sp>
        <p:nvSpPr>
          <p:cNvPr id="308" name="Focus 3"/>
          <p:cNvSpPr/>
          <p:nvPr/>
        </p:nvSpPr>
        <p:spPr>
          <a:xfrm>
            <a:off x="8046720" y="4892040"/>
            <a:ext cx="3383280" cy="1097280"/>
          </a:xfrm>
          <a:prstGeom prst="roundRect">
            <a:avLst>
              <a:gd name="adj" fmla="val 6000"/>
            </a:avLst>
          </a:prstGeom>
          <a:solidFill>
            <a:srgbClr val="FFFFFF"/>
          </a:solidFill>
          <a:ln w="12700">
            <a:solidFill>
              <a:srgbClr val="CDB6E0"/>
            </a:solidFill>
          </a:ln>
        </p:spPr>
        <p:txBody>
          <a:bodyPr wrap="square" lIns="164592" tIns="73152" rIns="109728" bIns="73152" anchor="ctr" anchorCtr="0">
            <a:noAutofit/>
          </a:bodyPr>
          <a:lstStyle/>
          <a:p>
            <a:pPr marL="0" indent="0" algn="l">
              <a:lnSpc>
                <a:spcPct val="100000"/>
              </a:lnSpc>
              <a:spcBef>
                <a:spcPts val="0"/>
              </a:spcBef>
              <a:spcAft>
                <a:spcPts val="0"/>
              </a:spcAft>
              <a:buNone/>
            </a:pPr>
            <a:r>
              <a:rPr lang="en-IN" sz="1600" b="1" i="0" dirty="0">
                <a:solidFill>
                  <a:srgbClr val="5A0886"/>
                </a:solidFill>
                <a:latin typeface="Calibri"/>
                <a:cs typeface="Calibri"/>
              </a:rPr>
              <a:t>Career development</a:t>
            </a:r>
          </a:p>
          <a:p>
            <a:pPr marL="0" indent="0" algn="l">
              <a:lnSpc>
                <a:spcPct val="100000"/>
              </a:lnSpc>
              <a:spcBef>
                <a:spcPts val="300"/>
              </a:spcBef>
              <a:spcAft>
                <a:spcPts val="0"/>
              </a:spcAft>
              <a:buNone/>
            </a:pPr>
            <a:r>
              <a:rPr lang="en-IN" sz="1300" b="0" i="0" dirty="0">
                <a:solidFill>
                  <a:srgbClr val="2B2B2B"/>
                </a:solidFill>
                <a:latin typeface="Calibri"/>
                <a:cs typeface="Calibri"/>
              </a:rPr>
              <a:t>Building a base for security-related roles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2b4099f15_0_15"/>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IN" sz="2600" b="1" dirty="0">
                <a:latin typeface="Bodoni"/>
                <a:ea typeface="Bodoni"/>
                <a:cs typeface="Bodoni"/>
                <a:sym typeface="Bodoni"/>
              </a:rPr>
              <a:t>Activity 1: Cisco Ethical Hacker</a:t>
            </a:r>
            <a:endParaRPr sz="3600" b="1">
              <a:latin typeface="Bodoni"/>
              <a:ea typeface="Bodoni"/>
              <a:cs typeface="Bodoni"/>
              <a:sym typeface="Bodoni"/>
            </a:endParaRPr>
          </a:p>
        </p:txBody>
      </p:sp>
      <p:sp>
        <p:nvSpPr>
          <p:cNvPr id="157" name="Google Shape;157;g382b4099f15_0_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58" name="Google Shape;158;g382b4099f15_0_15"/>
          <p:cNvSpPr txBox="1">
            <a:spLocks noGrp="1"/>
          </p:cNvSpPr>
          <p:nvPr>
            <p:ph type="ftr" idx="11"/>
          </p:nvPr>
        </p:nvSpPr>
        <p:spPr>
          <a:xfrm>
            <a:off x="4165600" y="6356351"/>
            <a:ext cx="4810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Department of Cyber Security</a:t>
            </a:r>
            <a:endParaRPr dirty="0"/>
          </a:p>
        </p:txBody>
      </p:sp>
      <p:sp>
        <p:nvSpPr>
          <p:cNvPr id="159" name="Google Shape;159;g382b4099f15_0_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pic>
        <p:nvPicPr>
          <p:cNvPr id="160" name="Google Shape;160;g382b4099f15_0_15" descr="A circular logo with a circle and a logo on it&#10;&#10;AI-generated content may be incorrect."/>
          <p:cNvPicPr preferRelativeResize="0"/>
          <p:nvPr/>
        </p:nvPicPr>
        <p:blipFill rotWithShape="1">
          <a:blip r:embed="rId2">
            <a:alphaModFix/>
          </a:blip>
          <a:srcRect/>
          <a:stretch/>
        </p:blipFill>
        <p:spPr>
          <a:xfrm>
            <a:off x="11136560" y="44624"/>
            <a:ext cx="980728" cy="980728"/>
          </a:xfrm>
          <a:prstGeom prst="rect">
            <a:avLst/>
          </a:prstGeom>
          <a:noFill/>
          <a:ln>
            <a:noFill/>
          </a:ln>
        </p:spPr>
      </p:pic>
      <p:grpSp>
        <p:nvGrpSpPr>
          <p:cNvPr id="161" name="Google Shape;161;g382b4099f15_0_15"/>
          <p:cNvGrpSpPr/>
          <p:nvPr/>
        </p:nvGrpSpPr>
        <p:grpSpPr>
          <a:xfrm>
            <a:off x="7300" y="2220"/>
            <a:ext cx="1443834" cy="6855900"/>
            <a:chOff x="7300" y="2220"/>
            <a:chExt cx="1443834" cy="6855900"/>
          </a:xfrm>
        </p:grpSpPr>
        <p:sp>
          <p:nvSpPr>
            <p:cNvPr id="162" name="Google Shape;162;g382b4099f15_0_15"/>
            <p:cNvSpPr/>
            <p:nvPr/>
          </p:nvSpPr>
          <p:spPr>
            <a:xfrm>
              <a:off x="7300" y="2220"/>
              <a:ext cx="425100" cy="685590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3" name="Google Shape;163;g382b4099f15_0_15" descr="A logo with a blue design&#10;&#10;AI-generated content may be incorrect."/>
            <p:cNvPicPr preferRelativeResize="0"/>
            <p:nvPr/>
          </p:nvPicPr>
          <p:blipFill rotWithShape="1">
            <a:blip r:embed="rId3">
              <a:alphaModFix/>
            </a:blip>
            <a:srcRect/>
            <a:stretch/>
          </p:blipFill>
          <p:spPr>
            <a:xfrm>
              <a:off x="524957" y="183372"/>
              <a:ext cx="926177" cy="841980"/>
            </a:xfrm>
            <a:prstGeom prst="rect">
              <a:avLst/>
            </a:prstGeom>
            <a:noFill/>
            <a:ln>
              <a:noFill/>
            </a:ln>
          </p:spPr>
        </p:pic>
      </p:grpSp>
      <p:sp>
        <p:nvSpPr>
          <p:cNvPr id="309" name="Cisco facts"/>
          <p:cNvSpPr/>
          <p:nvPr/>
        </p:nvSpPr>
        <p:spPr>
          <a:xfrm>
            <a:off x="822960" y="1234440"/>
            <a:ext cx="5120640" cy="2103120"/>
          </a:xfrm>
          <a:prstGeom prst="roundRect">
            <a:avLst>
              <a:gd name="adj" fmla="val 6000"/>
            </a:avLst>
          </a:prstGeom>
          <a:solidFill>
            <a:srgbClr val="FFFFFF"/>
          </a:solidFill>
          <a:ln w="19050">
            <a:solidFill>
              <a:srgbClr val="5A0886"/>
            </a:solidFill>
          </a:ln>
        </p:spPr>
        <p:txBody>
          <a:bodyPr wrap="square" lIns="164592" tIns="109728" rIns="137160" bIns="91440" anchor="t" anchorCtr="0">
            <a:noAutofit/>
          </a:bodyPr>
          <a:lstStyle/>
          <a:p>
            <a:pPr marL="0" indent="0" algn="l">
              <a:lnSpc>
                <a:spcPct val="100000"/>
              </a:lnSpc>
              <a:spcBef>
                <a:spcPts val="0"/>
              </a:spcBef>
              <a:spcAft>
                <a:spcPts val="0"/>
              </a:spcAft>
              <a:buNone/>
            </a:pPr>
            <a:r>
              <a:rPr lang="en-IN" sz="1600" b="1" i="0" dirty="0">
                <a:solidFill>
                  <a:srgbClr val="5A0886"/>
                </a:solidFill>
                <a:latin typeface="Calibri"/>
                <a:cs typeface="Calibri"/>
              </a:rPr>
              <a:t>Course snapshot</a:t>
            </a:r>
          </a:p>
          <a:p>
            <a:pPr marL="0" indent="0" algn="l">
              <a:lnSpc>
                <a:spcPct val="100000"/>
              </a:lnSpc>
              <a:spcBef>
                <a:spcPts val="400"/>
              </a:spcBef>
              <a:spcAft>
                <a:spcPts val="0"/>
              </a:spcAft>
              <a:buNone/>
            </a:pPr>
            <a:r>
              <a:rPr lang="en-IN" sz="1400" b="1" i="0" dirty="0">
                <a:solidFill>
                  <a:srgbClr val="2B2B2B"/>
                </a:solidFill>
                <a:latin typeface="Calibri"/>
                <a:cs typeface="Calibri"/>
              </a:rPr>
              <a:t>Provider: </a:t>
            </a:r>
            <a:r>
              <a:rPr lang="en-IN" sz="1400" b="0" i="0" dirty="0">
                <a:solidFill>
                  <a:srgbClr val="2B2B2B"/>
                </a:solidFill>
                <a:latin typeface="Calibri"/>
                <a:cs typeface="Calibri"/>
              </a:rPr>
              <a:t>Cisco Networking Academy</a:t>
            </a:r>
          </a:p>
          <a:p>
            <a:pPr marL="0" indent="0" algn="l">
              <a:lnSpc>
                <a:spcPct val="100000"/>
              </a:lnSpc>
              <a:spcBef>
                <a:spcPts val="400"/>
              </a:spcBef>
              <a:spcAft>
                <a:spcPts val="0"/>
              </a:spcAft>
              <a:buNone/>
            </a:pPr>
            <a:r>
              <a:rPr lang="en-IN" sz="1400" b="1" i="0" dirty="0">
                <a:solidFill>
                  <a:srgbClr val="2B2B2B"/>
                </a:solidFill>
                <a:latin typeface="Calibri"/>
                <a:cs typeface="Calibri"/>
              </a:rPr>
              <a:t>Course: </a:t>
            </a:r>
            <a:r>
              <a:rPr lang="en-IN" sz="1400" b="0" i="0" dirty="0">
                <a:solidFill>
                  <a:srgbClr val="2B2B2B"/>
                </a:solidFill>
                <a:latin typeface="Calibri"/>
                <a:cs typeface="Calibri"/>
              </a:rPr>
              <a:t>Ethical Hacker</a:t>
            </a:r>
          </a:p>
          <a:p>
            <a:pPr marL="0" indent="0" algn="l">
              <a:lnSpc>
                <a:spcPct val="100000"/>
              </a:lnSpc>
              <a:spcBef>
                <a:spcPts val="400"/>
              </a:spcBef>
              <a:spcAft>
                <a:spcPts val="0"/>
              </a:spcAft>
              <a:buNone/>
            </a:pPr>
            <a:r>
              <a:rPr lang="en-IN" sz="1400" b="1" i="0" dirty="0">
                <a:solidFill>
                  <a:srgbClr val="2B2B2B"/>
                </a:solidFill>
                <a:latin typeface="Calibri"/>
                <a:cs typeface="Calibri"/>
              </a:rPr>
              <a:t>Certificate date: </a:t>
            </a:r>
            <a:r>
              <a:rPr lang="en-IN" sz="1400" b="0" i="0" dirty="0">
                <a:solidFill>
                  <a:srgbClr val="2B2B2B"/>
                </a:solidFill>
                <a:latin typeface="Calibri"/>
                <a:cs typeface="Calibri"/>
              </a:rPr>
              <a:t>16 Sep 2026</a:t>
            </a:r>
          </a:p>
          <a:p>
            <a:pPr marL="0" indent="0" algn="l">
              <a:lnSpc>
                <a:spcPct val="100000"/>
              </a:lnSpc>
              <a:spcBef>
                <a:spcPts val="400"/>
              </a:spcBef>
              <a:spcAft>
                <a:spcPts val="0"/>
              </a:spcAft>
              <a:buNone/>
            </a:pPr>
            <a:r>
              <a:rPr lang="en-IN" sz="1400" b="1" i="0" dirty="0">
                <a:solidFill>
                  <a:srgbClr val="2B2B2B"/>
                </a:solidFill>
                <a:latin typeface="Calibri"/>
                <a:cs typeface="Calibri"/>
              </a:rPr>
              <a:t>Completion: </a:t>
            </a:r>
            <a:r>
              <a:rPr lang="en-IN" sz="1400" b="0" i="0" dirty="0">
                <a:solidFill>
                  <a:srgbClr val="2B2B2B"/>
                </a:solidFill>
                <a:latin typeface="Calibri"/>
                <a:cs typeface="Calibri"/>
              </a:rPr>
              <a:t>Final assessment passed; badge awarded</a:t>
            </a:r>
          </a:p>
        </p:txBody>
      </p:sp>
      <p:pic>
        <p:nvPicPr>
          <p:cNvPr id="310" name="Certificate thumbnail" descr="Cisco Ethical Hacker certificate for Priya Gaglani"/>
          <p:cNvPicPr>
            <a:picLocks noChangeAspect="1"/>
          </p:cNvPicPr>
          <p:nvPr/>
        </p:nvPicPr>
        <p:blipFill>
          <a:blip r:embed="rId4"/>
          <a:stretch>
            <a:fillRect/>
          </a:stretch>
        </p:blipFill>
        <p:spPr>
          <a:xfrm>
            <a:off x="822959" y="3520439"/>
            <a:ext cx="5105401" cy="2670811"/>
          </a:xfrm>
          <a:prstGeom prst="rect">
            <a:avLst/>
          </a:prstGeom>
          <a:ln w="12700">
            <a:solidFill>
              <a:srgbClr val="5A0886"/>
            </a:solidFill>
          </a:ln>
        </p:spPr>
      </p:pic>
      <p:sp>
        <p:nvSpPr>
          <p:cNvPr id="312" name="Step 1"/>
          <p:cNvSpPr/>
          <p:nvPr/>
        </p:nvSpPr>
        <p:spPr>
          <a:xfrm>
            <a:off x="6263640" y="1344168"/>
            <a:ext cx="420624" cy="420624"/>
          </a:xfrm>
          <a:prstGeom prst="ellipse">
            <a:avLst/>
          </a:prstGeom>
          <a:solidFill>
            <a:srgbClr val="5A0886"/>
          </a:solidFill>
          <a:ln>
            <a:noFill/>
          </a:ln>
        </p:spPr>
        <p:txBody>
          <a:bodyPr wrap="square" lIns="0" tIns="0" rIns="0" bIns="0" anchor="ctr" anchorCtr="0">
            <a:noAutofit/>
          </a:bodyPr>
          <a:lstStyle/>
          <a:p>
            <a:pPr marL="0" indent="0" algn="ctr">
              <a:lnSpc>
                <a:spcPct val="100000"/>
              </a:lnSpc>
              <a:spcBef>
                <a:spcPts val="0"/>
              </a:spcBef>
              <a:spcAft>
                <a:spcPts val="0"/>
              </a:spcAft>
              <a:buNone/>
            </a:pPr>
            <a:r>
              <a:rPr lang="en-IN" sz="1400" b="1" i="0" dirty="0">
                <a:solidFill>
                  <a:srgbClr val="FFFFFF"/>
                </a:solidFill>
                <a:latin typeface="Calibri"/>
                <a:cs typeface="Calibri"/>
              </a:rPr>
              <a:t>1</a:t>
            </a:r>
          </a:p>
        </p:txBody>
      </p:sp>
      <p:sp>
        <p:nvSpPr>
          <p:cNvPr id="313" name="Cisco point 1"/>
          <p:cNvSpPr/>
          <p:nvPr/>
        </p:nvSpPr>
        <p:spPr>
          <a:xfrm>
            <a:off x="6858000" y="1234440"/>
            <a:ext cx="4572000" cy="1417320"/>
          </a:xfrm>
          <a:prstGeom prst="roundRect">
            <a:avLst>
              <a:gd name="adj" fmla="val 6000"/>
            </a:avLst>
          </a:prstGeom>
          <a:solidFill>
            <a:srgbClr val="FFFFFF"/>
          </a:solidFill>
          <a:ln w="12700">
            <a:solidFill>
              <a:srgbClr val="CDB6E0"/>
            </a:solidFill>
          </a:ln>
        </p:spPr>
        <p:txBody>
          <a:bodyPr wrap="square" lIns="137160" tIns="91440" rIns="109728" bIns="73152" anchor="t" anchorCtr="0">
            <a:noAutofit/>
          </a:bodyPr>
          <a:lstStyle/>
          <a:p>
            <a:pPr marL="0" indent="0" algn="l">
              <a:lnSpc>
                <a:spcPct val="100000"/>
              </a:lnSpc>
              <a:spcBef>
                <a:spcPts val="0"/>
              </a:spcBef>
              <a:spcAft>
                <a:spcPts val="0"/>
              </a:spcAft>
              <a:buNone/>
            </a:pPr>
            <a:r>
              <a:rPr lang="en-IN" sz="1600" b="1" i="0" dirty="0">
                <a:solidFill>
                  <a:srgbClr val="5A0886"/>
                </a:solidFill>
                <a:latin typeface="Calibri"/>
                <a:cs typeface="Calibri"/>
              </a:rPr>
              <a:t>Why it matters</a:t>
            </a:r>
          </a:p>
          <a:p>
            <a:pPr marL="0" indent="0" algn="l">
              <a:lnSpc>
                <a:spcPct val="100000"/>
              </a:lnSpc>
              <a:spcBef>
                <a:spcPts val="300"/>
              </a:spcBef>
              <a:spcAft>
                <a:spcPts val="0"/>
              </a:spcAft>
              <a:buNone/>
            </a:pPr>
            <a:r>
              <a:rPr lang="en-IN" sz="1300" b="0" i="0" dirty="0">
                <a:solidFill>
                  <a:srgbClr val="2B2B2B"/>
                </a:solidFill>
                <a:latin typeface="Calibri"/>
                <a:cs typeface="Calibri"/>
              </a:rPr>
              <a:t>Ethical hackers test systems with permission, so weaknesses are found and fixed before an attacker finds them.</a:t>
            </a:r>
          </a:p>
        </p:txBody>
      </p:sp>
      <p:sp>
        <p:nvSpPr>
          <p:cNvPr id="314" name="Step 2"/>
          <p:cNvSpPr/>
          <p:nvPr/>
        </p:nvSpPr>
        <p:spPr>
          <a:xfrm>
            <a:off x="6263640" y="2944368"/>
            <a:ext cx="420624" cy="420624"/>
          </a:xfrm>
          <a:prstGeom prst="ellipse">
            <a:avLst/>
          </a:prstGeom>
          <a:solidFill>
            <a:srgbClr val="5A0886"/>
          </a:solidFill>
          <a:ln>
            <a:noFill/>
          </a:ln>
        </p:spPr>
        <p:txBody>
          <a:bodyPr wrap="square" lIns="0" tIns="0" rIns="0" bIns="0" anchor="ctr" anchorCtr="0">
            <a:noAutofit/>
          </a:bodyPr>
          <a:lstStyle/>
          <a:p>
            <a:pPr marL="0" indent="0" algn="ctr">
              <a:lnSpc>
                <a:spcPct val="100000"/>
              </a:lnSpc>
              <a:spcBef>
                <a:spcPts val="0"/>
              </a:spcBef>
              <a:spcAft>
                <a:spcPts val="0"/>
              </a:spcAft>
              <a:buNone/>
            </a:pPr>
            <a:r>
              <a:rPr lang="en-IN" sz="1400" b="1" i="0" dirty="0">
                <a:solidFill>
                  <a:srgbClr val="FFFFFF"/>
                </a:solidFill>
                <a:latin typeface="Calibri"/>
                <a:cs typeface="Calibri"/>
              </a:rPr>
              <a:t>2</a:t>
            </a:r>
          </a:p>
        </p:txBody>
      </p:sp>
      <p:sp>
        <p:nvSpPr>
          <p:cNvPr id="315" name="Cisco point 2"/>
          <p:cNvSpPr/>
          <p:nvPr/>
        </p:nvSpPr>
        <p:spPr>
          <a:xfrm>
            <a:off x="6858000" y="2834640"/>
            <a:ext cx="4572000" cy="1417320"/>
          </a:xfrm>
          <a:prstGeom prst="roundRect">
            <a:avLst>
              <a:gd name="adj" fmla="val 6000"/>
            </a:avLst>
          </a:prstGeom>
          <a:solidFill>
            <a:srgbClr val="FFFFFF"/>
          </a:solidFill>
          <a:ln w="12700">
            <a:solidFill>
              <a:srgbClr val="CDB6E0"/>
            </a:solidFill>
          </a:ln>
        </p:spPr>
        <p:txBody>
          <a:bodyPr wrap="square" lIns="137160" tIns="91440" rIns="109728" bIns="73152" anchor="t" anchorCtr="0">
            <a:noAutofit/>
          </a:bodyPr>
          <a:lstStyle/>
          <a:p>
            <a:pPr marL="0" indent="0" algn="l">
              <a:lnSpc>
                <a:spcPct val="100000"/>
              </a:lnSpc>
              <a:spcBef>
                <a:spcPts val="0"/>
              </a:spcBef>
              <a:spcAft>
                <a:spcPts val="0"/>
              </a:spcAft>
              <a:buNone/>
            </a:pPr>
            <a:r>
              <a:rPr lang="en-IN" sz="1600" b="1" i="0" dirty="0">
                <a:solidFill>
                  <a:srgbClr val="5A0886"/>
                </a:solidFill>
                <a:latin typeface="Calibri"/>
                <a:cs typeface="Calibri"/>
              </a:rPr>
              <a:t>How the course is built</a:t>
            </a:r>
          </a:p>
          <a:p>
            <a:pPr marL="0" indent="0" algn="l">
              <a:lnSpc>
                <a:spcPct val="100000"/>
              </a:lnSpc>
              <a:spcBef>
                <a:spcPts val="300"/>
              </a:spcBef>
              <a:spcAft>
                <a:spcPts val="0"/>
              </a:spcAft>
              <a:buNone/>
            </a:pPr>
            <a:r>
              <a:rPr lang="en-IN" sz="1300" b="0" i="0" dirty="0">
                <a:solidFill>
                  <a:srgbClr val="2B2B2B"/>
                </a:solidFill>
                <a:latin typeface="Calibri"/>
                <a:cs typeface="Calibri"/>
              </a:rPr>
              <a:t>Ten modules, starting with ethical hacking and penetration testing basics, then planning and scoping an assessment.</a:t>
            </a:r>
          </a:p>
        </p:txBody>
      </p:sp>
      <p:sp>
        <p:nvSpPr>
          <p:cNvPr id="316" name="Step 3"/>
          <p:cNvSpPr/>
          <p:nvPr/>
        </p:nvSpPr>
        <p:spPr>
          <a:xfrm>
            <a:off x="6263640" y="4544568"/>
            <a:ext cx="420624" cy="420624"/>
          </a:xfrm>
          <a:prstGeom prst="ellipse">
            <a:avLst/>
          </a:prstGeom>
          <a:solidFill>
            <a:srgbClr val="5A0886"/>
          </a:solidFill>
          <a:ln>
            <a:noFill/>
          </a:ln>
        </p:spPr>
        <p:txBody>
          <a:bodyPr wrap="square" lIns="0" tIns="0" rIns="0" bIns="0" anchor="ctr" anchorCtr="0">
            <a:noAutofit/>
          </a:bodyPr>
          <a:lstStyle/>
          <a:p>
            <a:pPr marL="0" indent="0" algn="ctr">
              <a:lnSpc>
                <a:spcPct val="100000"/>
              </a:lnSpc>
              <a:spcBef>
                <a:spcPts val="0"/>
              </a:spcBef>
              <a:spcAft>
                <a:spcPts val="0"/>
              </a:spcAft>
              <a:buNone/>
            </a:pPr>
            <a:r>
              <a:rPr lang="en-IN" sz="1400" b="1" i="0" dirty="0">
                <a:solidFill>
                  <a:srgbClr val="FFFFFF"/>
                </a:solidFill>
                <a:latin typeface="Calibri"/>
                <a:cs typeface="Calibri"/>
              </a:rPr>
              <a:t>3</a:t>
            </a:r>
          </a:p>
        </p:txBody>
      </p:sp>
      <p:sp>
        <p:nvSpPr>
          <p:cNvPr id="317" name="Cisco point 3"/>
          <p:cNvSpPr/>
          <p:nvPr/>
        </p:nvSpPr>
        <p:spPr>
          <a:xfrm>
            <a:off x="6858000" y="4434840"/>
            <a:ext cx="4572000" cy="1417320"/>
          </a:xfrm>
          <a:prstGeom prst="roundRect">
            <a:avLst>
              <a:gd name="adj" fmla="val 6000"/>
            </a:avLst>
          </a:prstGeom>
          <a:solidFill>
            <a:srgbClr val="FFFFFF"/>
          </a:solidFill>
          <a:ln w="12700">
            <a:solidFill>
              <a:srgbClr val="CDB6E0"/>
            </a:solidFill>
          </a:ln>
        </p:spPr>
        <p:txBody>
          <a:bodyPr wrap="square" lIns="137160" tIns="91440" rIns="109728" bIns="73152" anchor="t" anchorCtr="0">
            <a:noAutofit/>
          </a:bodyPr>
          <a:lstStyle/>
          <a:p>
            <a:pPr marL="0" indent="0" algn="l">
              <a:lnSpc>
                <a:spcPct val="100000"/>
              </a:lnSpc>
              <a:spcBef>
                <a:spcPts val="0"/>
              </a:spcBef>
              <a:spcAft>
                <a:spcPts val="0"/>
              </a:spcAft>
              <a:buNone/>
            </a:pPr>
            <a:r>
              <a:rPr lang="en-IN" sz="1600" b="1" i="0" dirty="0">
                <a:solidFill>
                  <a:srgbClr val="5A0886"/>
                </a:solidFill>
                <a:latin typeface="Calibri"/>
                <a:cs typeface="Calibri"/>
              </a:rPr>
              <a:t>What I took from it</a:t>
            </a:r>
          </a:p>
          <a:p>
            <a:pPr marL="0" indent="0" algn="l">
              <a:lnSpc>
                <a:spcPct val="100000"/>
              </a:lnSpc>
              <a:spcBef>
                <a:spcPts val="300"/>
              </a:spcBef>
              <a:spcAft>
                <a:spcPts val="0"/>
              </a:spcAft>
              <a:buNone/>
            </a:pPr>
            <a:r>
              <a:rPr lang="en-IN" sz="1300" b="0" i="0" dirty="0">
                <a:solidFill>
                  <a:srgbClr val="2B2B2B"/>
                </a:solidFill>
                <a:latin typeface="Calibri"/>
                <a:cs typeface="Calibri"/>
              </a:rPr>
              <a:t>Cisco describes the course as scoping, executing and reporting. For me the useful part was seeing the whole assessment as a process, not a toolbox.</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2b4099f15_0_15"/>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IN" sz="2600" b="1" dirty="0">
                <a:latin typeface="Bodoni"/>
                <a:ea typeface="Bodoni"/>
                <a:cs typeface="Bodoni"/>
                <a:sym typeface="Bodoni"/>
              </a:rPr>
              <a:t>Activity 2: Wireless Penetration Testing</a:t>
            </a:r>
            <a:endParaRPr sz="3600" b="1">
              <a:latin typeface="Bodoni"/>
              <a:ea typeface="Bodoni"/>
              <a:cs typeface="Bodoni"/>
              <a:sym typeface="Bodoni"/>
            </a:endParaRPr>
          </a:p>
        </p:txBody>
      </p:sp>
      <p:sp>
        <p:nvSpPr>
          <p:cNvPr id="157" name="Google Shape;157;g382b4099f15_0_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58" name="Google Shape;158;g382b4099f15_0_15"/>
          <p:cNvSpPr txBox="1">
            <a:spLocks noGrp="1"/>
          </p:cNvSpPr>
          <p:nvPr>
            <p:ph type="ftr" idx="11"/>
          </p:nvPr>
        </p:nvSpPr>
        <p:spPr>
          <a:xfrm>
            <a:off x="4165600" y="6356351"/>
            <a:ext cx="4810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59" name="Google Shape;159;g382b4099f15_0_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pic>
        <p:nvPicPr>
          <p:cNvPr id="160" name="Google Shape;160;g382b4099f15_0_15" descr="A circular logo with a circle and a logo on it&#10;&#10;AI-generated content may be incorrect."/>
          <p:cNvPicPr preferRelativeResize="0"/>
          <p:nvPr/>
        </p:nvPicPr>
        <p:blipFill rotWithShape="1">
          <a:blip r:embed="rId2">
            <a:alphaModFix/>
          </a:blip>
          <a:srcRect/>
          <a:stretch/>
        </p:blipFill>
        <p:spPr>
          <a:xfrm>
            <a:off x="11136560" y="44624"/>
            <a:ext cx="980728" cy="980728"/>
          </a:xfrm>
          <a:prstGeom prst="rect">
            <a:avLst/>
          </a:prstGeom>
          <a:noFill/>
          <a:ln>
            <a:noFill/>
          </a:ln>
        </p:spPr>
      </p:pic>
      <p:grpSp>
        <p:nvGrpSpPr>
          <p:cNvPr id="161" name="Google Shape;161;g382b4099f15_0_15"/>
          <p:cNvGrpSpPr/>
          <p:nvPr/>
        </p:nvGrpSpPr>
        <p:grpSpPr>
          <a:xfrm>
            <a:off x="7300" y="2220"/>
            <a:ext cx="1443834" cy="6855900"/>
            <a:chOff x="7300" y="2220"/>
            <a:chExt cx="1443834" cy="6855900"/>
          </a:xfrm>
        </p:grpSpPr>
        <p:sp>
          <p:nvSpPr>
            <p:cNvPr id="162" name="Google Shape;162;g382b4099f15_0_15"/>
            <p:cNvSpPr/>
            <p:nvPr/>
          </p:nvSpPr>
          <p:spPr>
            <a:xfrm>
              <a:off x="7300" y="2220"/>
              <a:ext cx="425100" cy="685590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3" name="Google Shape;163;g382b4099f15_0_15" descr="A logo with a blue design&#10;&#10;AI-generated content may be incorrect."/>
            <p:cNvPicPr preferRelativeResize="0"/>
            <p:nvPr/>
          </p:nvPicPr>
          <p:blipFill rotWithShape="1">
            <a:blip r:embed="rId3">
              <a:alphaModFix/>
            </a:blip>
            <a:srcRect/>
            <a:stretch/>
          </p:blipFill>
          <p:spPr>
            <a:xfrm>
              <a:off x="524957" y="183372"/>
              <a:ext cx="926177" cy="841980"/>
            </a:xfrm>
            <a:prstGeom prst="rect">
              <a:avLst/>
            </a:prstGeom>
            <a:noFill/>
            <a:ln>
              <a:noFill/>
            </a:ln>
          </p:spPr>
        </p:pic>
      </p:grpSp>
      <p:sp>
        <p:nvSpPr>
          <p:cNvPr id="318" name="Infosys facts"/>
          <p:cNvSpPr/>
          <p:nvPr/>
        </p:nvSpPr>
        <p:spPr>
          <a:xfrm>
            <a:off x="822960" y="1234440"/>
            <a:ext cx="5394960" cy="2240280"/>
          </a:xfrm>
          <a:prstGeom prst="roundRect">
            <a:avLst>
              <a:gd name="adj" fmla="val 6000"/>
            </a:avLst>
          </a:prstGeom>
          <a:solidFill>
            <a:srgbClr val="FFFFFF"/>
          </a:solidFill>
          <a:ln w="19050">
            <a:solidFill>
              <a:srgbClr val="0E7C86"/>
            </a:solidFill>
          </a:ln>
        </p:spPr>
        <p:txBody>
          <a:bodyPr wrap="square" lIns="164592" tIns="109728" rIns="137160" bIns="91440" anchor="t" anchorCtr="0">
            <a:noAutofit/>
          </a:bodyPr>
          <a:lstStyle/>
          <a:p>
            <a:pPr marL="0" indent="0" algn="l">
              <a:lnSpc>
                <a:spcPct val="100000"/>
              </a:lnSpc>
              <a:spcBef>
                <a:spcPts val="0"/>
              </a:spcBef>
              <a:spcAft>
                <a:spcPts val="0"/>
              </a:spcAft>
              <a:buNone/>
            </a:pPr>
            <a:r>
              <a:rPr lang="en-IN" sz="1600" b="1" i="0" dirty="0">
                <a:solidFill>
                  <a:srgbClr val="0E7C86"/>
                </a:solidFill>
                <a:latin typeface="Calibri"/>
                <a:cs typeface="Calibri"/>
              </a:rPr>
              <a:t>Course snapshot</a:t>
            </a:r>
          </a:p>
          <a:p>
            <a:pPr marL="0" indent="0" algn="l">
              <a:lnSpc>
                <a:spcPct val="100000"/>
              </a:lnSpc>
              <a:spcBef>
                <a:spcPts val="400"/>
              </a:spcBef>
              <a:spcAft>
                <a:spcPts val="0"/>
              </a:spcAft>
              <a:buNone/>
            </a:pPr>
            <a:r>
              <a:rPr lang="en-IN" sz="1400" b="1" i="0" dirty="0">
                <a:solidFill>
                  <a:srgbClr val="2B2B2B"/>
                </a:solidFill>
                <a:latin typeface="Calibri"/>
                <a:cs typeface="Calibri"/>
              </a:rPr>
              <a:t>Provider: </a:t>
            </a:r>
            <a:r>
              <a:rPr lang="en-IN" sz="1400" b="0" i="0" dirty="0">
                <a:solidFill>
                  <a:srgbClr val="2B2B2B"/>
                </a:solidFill>
                <a:latin typeface="Calibri"/>
                <a:cs typeface="Calibri"/>
              </a:rPr>
              <a:t>Infosys Springboard</a:t>
            </a:r>
          </a:p>
          <a:p>
            <a:pPr marL="0" indent="0" algn="l">
              <a:lnSpc>
                <a:spcPct val="100000"/>
              </a:lnSpc>
              <a:spcBef>
                <a:spcPts val="400"/>
              </a:spcBef>
              <a:spcAft>
                <a:spcPts val="0"/>
              </a:spcAft>
              <a:buNone/>
            </a:pPr>
            <a:r>
              <a:rPr lang="en-IN" sz="1400" b="1" i="0" dirty="0">
                <a:solidFill>
                  <a:srgbClr val="2B2B2B"/>
                </a:solidFill>
                <a:latin typeface="Calibri"/>
                <a:cs typeface="Calibri"/>
              </a:rPr>
              <a:t>Course: </a:t>
            </a:r>
            <a:r>
              <a:rPr lang="en-IN" sz="1400" b="0" i="0" dirty="0">
                <a:solidFill>
                  <a:srgbClr val="2B2B2B"/>
                </a:solidFill>
                <a:latin typeface="Calibri"/>
                <a:cs typeface="Calibri"/>
              </a:rPr>
              <a:t>Kali Linux Advanced Wireless Penetration Testing</a:t>
            </a:r>
          </a:p>
          <a:p>
            <a:pPr marL="0" indent="0" algn="l">
              <a:lnSpc>
                <a:spcPct val="100000"/>
              </a:lnSpc>
              <a:spcBef>
                <a:spcPts val="400"/>
              </a:spcBef>
              <a:spcAft>
                <a:spcPts val="0"/>
              </a:spcAft>
              <a:buNone/>
            </a:pPr>
            <a:r>
              <a:rPr lang="en-IN" sz="1400" b="1" i="0" dirty="0">
                <a:solidFill>
                  <a:srgbClr val="2B2B2B"/>
                </a:solidFill>
                <a:latin typeface="Calibri"/>
                <a:cs typeface="Calibri"/>
              </a:rPr>
              <a:t>Completed: </a:t>
            </a:r>
            <a:r>
              <a:rPr lang="en-IN" sz="1400" b="0" i="0" dirty="0">
                <a:solidFill>
                  <a:srgbClr val="2B2B2B"/>
                </a:solidFill>
                <a:latin typeface="Calibri"/>
                <a:cs typeface="Calibri"/>
              </a:rPr>
              <a:t>September 2, 2026 (issued Sep 3, 2026)</a:t>
            </a:r>
          </a:p>
          <a:p>
            <a:pPr marL="0" indent="0" algn="l">
              <a:lnSpc>
                <a:spcPct val="100000"/>
              </a:lnSpc>
              <a:spcBef>
                <a:spcPts val="400"/>
              </a:spcBef>
              <a:spcAft>
                <a:spcPts val="0"/>
              </a:spcAft>
              <a:buNone/>
            </a:pPr>
            <a:r>
              <a:rPr lang="en-IN" sz="1400" b="1" i="0" dirty="0">
                <a:solidFill>
                  <a:srgbClr val="2B2B2B"/>
                </a:solidFill>
                <a:latin typeface="Calibri"/>
                <a:cs typeface="Calibri"/>
              </a:rPr>
              <a:t>Verification: </a:t>
            </a:r>
            <a:r>
              <a:rPr lang="en-IN" sz="1400" b="0" i="0" dirty="0">
                <a:solidFill>
                  <a:srgbClr val="2B2B2B"/>
                </a:solidFill>
                <a:latin typeface="Calibri"/>
                <a:cs typeface="Calibri"/>
              </a:rPr>
              <a:t>QR code on the certificate</a:t>
            </a:r>
          </a:p>
        </p:txBody>
      </p:sp>
      <p:pic>
        <p:nvPicPr>
          <p:cNvPr id="319" name="Certificate thumbnail" descr="Infosys Springboard certificate for Priya Gaglani"/>
          <p:cNvPicPr>
            <a:picLocks noChangeAspect="1"/>
          </p:cNvPicPr>
          <p:nvPr/>
        </p:nvPicPr>
        <p:blipFill>
          <a:blip r:embed="rId4"/>
          <a:stretch>
            <a:fillRect/>
          </a:stretch>
        </p:blipFill>
        <p:spPr>
          <a:xfrm>
            <a:off x="822960" y="3679998"/>
            <a:ext cx="5394960" cy="2616621"/>
          </a:xfrm>
          <a:prstGeom prst="rect">
            <a:avLst/>
          </a:prstGeom>
          <a:ln w="12700">
            <a:solidFill>
              <a:srgbClr val="0E7C86"/>
            </a:solidFill>
          </a:ln>
        </p:spPr>
      </p:pic>
      <p:sp>
        <p:nvSpPr>
          <p:cNvPr id="321" name="Outer: ethical hacking"/>
          <p:cNvSpPr/>
          <p:nvPr/>
        </p:nvSpPr>
        <p:spPr>
          <a:xfrm>
            <a:off x="6583680" y="1234440"/>
            <a:ext cx="4846320" cy="2743200"/>
          </a:xfrm>
          <a:prstGeom prst="roundRect">
            <a:avLst>
              <a:gd name="adj" fmla="val 6000"/>
            </a:avLst>
          </a:prstGeom>
          <a:solidFill>
            <a:srgbClr val="EFE6F7"/>
          </a:solidFill>
          <a:ln w="19050">
            <a:solidFill>
              <a:srgbClr val="5A0886"/>
            </a:solidFill>
          </a:ln>
        </p:spPr>
        <p:txBody>
          <a:bodyPr wrap="square" lIns="182880" tIns="109728" rIns="137160" bIns="91440" anchor="t" anchorCtr="0">
            <a:noAutofit/>
          </a:bodyPr>
          <a:lstStyle/>
          <a:p>
            <a:pPr marL="0" indent="0" algn="l">
              <a:lnSpc>
                <a:spcPct val="100000"/>
              </a:lnSpc>
              <a:spcBef>
                <a:spcPts val="0"/>
              </a:spcBef>
              <a:spcAft>
                <a:spcPts val="0"/>
              </a:spcAft>
              <a:buNone/>
            </a:pPr>
            <a:r>
              <a:rPr lang="en-IN" sz="1600" b="1" i="0" dirty="0">
                <a:solidFill>
                  <a:srgbClr val="5A0886"/>
                </a:solidFill>
                <a:latin typeface="Calibri"/>
                <a:cs typeface="Calibri"/>
              </a:rPr>
              <a:t>Ethical hacking (Cisco)</a:t>
            </a:r>
          </a:p>
          <a:p>
            <a:pPr marL="0" indent="0" algn="l">
              <a:lnSpc>
                <a:spcPct val="100000"/>
              </a:lnSpc>
              <a:spcBef>
                <a:spcPts val="200"/>
              </a:spcBef>
              <a:spcAft>
                <a:spcPts val="0"/>
              </a:spcAft>
              <a:buNone/>
            </a:pPr>
            <a:r>
              <a:rPr lang="en-IN" sz="1300" b="0" i="0" dirty="0">
                <a:solidFill>
                  <a:srgbClr val="2B2B2B"/>
                </a:solidFill>
                <a:latin typeface="Calibri"/>
                <a:cs typeface="Calibri"/>
              </a:rPr>
              <a:t>the whole assessment process: scope, assess, report</a:t>
            </a:r>
          </a:p>
        </p:txBody>
      </p:sp>
      <p:sp>
        <p:nvSpPr>
          <p:cNvPr id="322" name="Inner: wireless"/>
          <p:cNvSpPr/>
          <p:nvPr/>
        </p:nvSpPr>
        <p:spPr>
          <a:xfrm>
            <a:off x="6903720" y="2331720"/>
            <a:ext cx="4206240" cy="1371600"/>
          </a:xfrm>
          <a:prstGeom prst="roundRect">
            <a:avLst>
              <a:gd name="adj" fmla="val 6000"/>
            </a:avLst>
          </a:prstGeom>
          <a:solidFill>
            <a:srgbClr val="DDF0F1"/>
          </a:solidFill>
          <a:ln w="19050">
            <a:solidFill>
              <a:srgbClr val="0E7C86"/>
            </a:solidFill>
          </a:ln>
        </p:spPr>
        <p:txBody>
          <a:bodyPr wrap="square" lIns="164592" tIns="73152" rIns="137160" bIns="73152" anchor="ctr" anchorCtr="0">
            <a:noAutofit/>
          </a:bodyPr>
          <a:lstStyle/>
          <a:p>
            <a:pPr marL="0" indent="0" algn="l">
              <a:lnSpc>
                <a:spcPct val="100000"/>
              </a:lnSpc>
              <a:spcBef>
                <a:spcPts val="0"/>
              </a:spcBef>
              <a:spcAft>
                <a:spcPts val="0"/>
              </a:spcAft>
              <a:buNone/>
            </a:pPr>
            <a:r>
              <a:rPr lang="en-IN" sz="1600" b="1" i="0" dirty="0">
                <a:solidFill>
                  <a:srgbClr val="0E7C86"/>
                </a:solidFill>
                <a:latin typeface="Calibri"/>
                <a:cs typeface="Calibri"/>
              </a:rPr>
              <a:t>Wireless security (Infosys)</a:t>
            </a:r>
          </a:p>
          <a:p>
            <a:pPr marL="0" indent="0" algn="l">
              <a:lnSpc>
                <a:spcPct val="100000"/>
              </a:lnSpc>
              <a:spcBef>
                <a:spcPts val="200"/>
              </a:spcBef>
              <a:spcAft>
                <a:spcPts val="0"/>
              </a:spcAft>
              <a:buNone/>
            </a:pPr>
            <a:r>
              <a:rPr lang="en-IN" sz="1300" b="0" i="0" dirty="0">
                <a:solidFill>
                  <a:srgbClr val="2B2B2B"/>
                </a:solidFill>
                <a:latin typeface="Calibri"/>
                <a:cs typeface="Calibri"/>
              </a:rPr>
              <a:t>one area looked at in depth: Wi-Fi networks and how they are protected</a:t>
            </a:r>
          </a:p>
        </p:txBody>
      </p:sp>
      <p:sp>
        <p:nvSpPr>
          <p:cNvPr id="323" name="Link notes"/>
          <p:cNvSpPr/>
          <p:nvPr/>
        </p:nvSpPr>
        <p:spPr>
          <a:xfrm>
            <a:off x="6583680" y="4114800"/>
            <a:ext cx="4846320" cy="1920240"/>
          </a:xfrm>
          <a:prstGeom prst="roundRect">
            <a:avLst>
              <a:gd name="adj" fmla="val 6000"/>
            </a:avLst>
          </a:prstGeom>
          <a:solidFill>
            <a:srgbClr val="FFFFFF"/>
          </a:solidFill>
          <a:ln w="12700">
            <a:solidFill>
              <a:srgbClr val="CDB6E0"/>
            </a:solidFill>
          </a:ln>
        </p:spPr>
        <p:txBody>
          <a:bodyPr wrap="square" lIns="164592" tIns="91440" rIns="137160" bIns="73152" anchor="t" anchorCtr="0">
            <a:noAutofit/>
          </a:bodyPr>
          <a:lstStyle/>
          <a:p>
            <a:pPr marL="0" indent="0" algn="l">
              <a:lnSpc>
                <a:spcPct val="100000"/>
              </a:lnSpc>
              <a:spcBef>
                <a:spcPts val="0"/>
              </a:spcBef>
              <a:spcAft>
                <a:spcPts val="0"/>
              </a:spcAft>
              <a:buNone/>
            </a:pPr>
            <a:r>
              <a:rPr lang="en-IN" sz="1500" b="1" i="0" dirty="0">
                <a:solidFill>
                  <a:srgbClr val="5A0886"/>
                </a:solidFill>
                <a:latin typeface="Calibri"/>
                <a:cs typeface="Calibri"/>
              </a:rPr>
              <a:t>How I see the link</a:t>
            </a:r>
          </a:p>
          <a:p>
            <a:pPr marL="228600" indent="-228600" algn="l">
              <a:lnSpc>
                <a:spcPct val="100000"/>
              </a:lnSpc>
              <a:spcBef>
                <a:spcPts val="300"/>
              </a:spcBef>
              <a:spcAft>
                <a:spcPts val="0"/>
              </a:spcAft>
              <a:buFont typeface="Arial"/>
              <a:buChar char="•"/>
            </a:pPr>
            <a:r>
              <a:rPr lang="en-IN" sz="1300" b="0" i="0" dirty="0">
                <a:solidFill>
                  <a:srgbClr val="2B2B2B"/>
                </a:solidFill>
                <a:latin typeface="Calibri"/>
                <a:cs typeface="Calibri"/>
              </a:rPr>
              <a:t>Wireless networks are how most devices connect, so they are a natural area to assess.</a:t>
            </a:r>
          </a:p>
          <a:p>
            <a:pPr marL="228600" indent="-228600" algn="l">
              <a:lnSpc>
                <a:spcPct val="100000"/>
              </a:lnSpc>
              <a:spcBef>
                <a:spcPts val="300"/>
              </a:spcBef>
              <a:spcAft>
                <a:spcPts val="0"/>
              </a:spcAft>
              <a:buFont typeface="Arial"/>
              <a:buChar char="•"/>
            </a:pPr>
            <a:r>
              <a:rPr lang="en-IN" sz="1300" b="0" i="0" dirty="0">
                <a:solidFill>
                  <a:srgbClr val="2B2B2B"/>
                </a:solidFill>
                <a:latin typeface="Calibri"/>
                <a:cs typeface="Calibri"/>
              </a:rPr>
              <a:t>Kali Linux is a Linux distribution that bundles security tools; the course uses it as its setting.</a:t>
            </a:r>
          </a:p>
          <a:p>
            <a:pPr marL="228600" indent="-228600" algn="l">
              <a:lnSpc>
                <a:spcPct val="100000"/>
              </a:lnSpc>
              <a:spcBef>
                <a:spcPts val="300"/>
              </a:spcBef>
              <a:spcAft>
                <a:spcPts val="0"/>
              </a:spcAft>
              <a:buFont typeface="Arial"/>
              <a:buChar char="•"/>
            </a:pPr>
            <a:r>
              <a:rPr lang="en-IN" sz="1300" b="0" i="0" dirty="0">
                <a:solidFill>
                  <a:srgbClr val="2B2B2B"/>
                </a:solidFill>
                <a:latin typeface="Calibri"/>
                <a:cs typeface="Calibri"/>
              </a:rPr>
              <a:t>I claim the course and the concepts, not lab experience. Hands-on practice is a next step.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2b4099f15_0_15"/>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IN" sz="2600" b="1" dirty="0">
                <a:latin typeface="Bodoni"/>
                <a:ea typeface="Bodoni"/>
                <a:cs typeface="Bodoni"/>
                <a:sym typeface="Bodoni"/>
              </a:rPr>
              <a:t>Learning Process and Evidence</a:t>
            </a:r>
            <a:endParaRPr sz="3600" b="1">
              <a:latin typeface="Bodoni"/>
              <a:ea typeface="Bodoni"/>
              <a:cs typeface="Bodoni"/>
              <a:sym typeface="Bodoni"/>
            </a:endParaRPr>
          </a:p>
        </p:txBody>
      </p:sp>
      <p:sp>
        <p:nvSpPr>
          <p:cNvPr id="157" name="Google Shape;157;g382b4099f15_0_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58" name="Google Shape;158;g382b4099f15_0_15"/>
          <p:cNvSpPr txBox="1">
            <a:spLocks noGrp="1"/>
          </p:cNvSpPr>
          <p:nvPr>
            <p:ph type="ftr" idx="11"/>
          </p:nvPr>
        </p:nvSpPr>
        <p:spPr>
          <a:xfrm>
            <a:off x="4165600" y="6356351"/>
            <a:ext cx="4810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59" name="Google Shape;159;g382b4099f15_0_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pic>
        <p:nvPicPr>
          <p:cNvPr id="160" name="Google Shape;160;g382b4099f15_0_15" descr="A circular logo with a circle and a logo on it&#10;&#10;AI-generated content may be incorrect."/>
          <p:cNvPicPr preferRelativeResize="0"/>
          <p:nvPr/>
        </p:nvPicPr>
        <p:blipFill rotWithShape="1">
          <a:blip r:embed="rId2">
            <a:alphaModFix/>
          </a:blip>
          <a:srcRect/>
          <a:stretch/>
        </p:blipFill>
        <p:spPr>
          <a:xfrm>
            <a:off x="11136560" y="44624"/>
            <a:ext cx="980728" cy="980728"/>
          </a:xfrm>
          <a:prstGeom prst="rect">
            <a:avLst/>
          </a:prstGeom>
          <a:noFill/>
          <a:ln>
            <a:noFill/>
          </a:ln>
        </p:spPr>
      </p:pic>
      <p:grpSp>
        <p:nvGrpSpPr>
          <p:cNvPr id="161" name="Google Shape;161;g382b4099f15_0_15"/>
          <p:cNvGrpSpPr/>
          <p:nvPr/>
        </p:nvGrpSpPr>
        <p:grpSpPr>
          <a:xfrm>
            <a:off x="7300" y="2220"/>
            <a:ext cx="1443834" cy="6855900"/>
            <a:chOff x="7300" y="2220"/>
            <a:chExt cx="1443834" cy="6855900"/>
          </a:xfrm>
        </p:grpSpPr>
        <p:sp>
          <p:nvSpPr>
            <p:cNvPr id="162" name="Google Shape;162;g382b4099f15_0_15"/>
            <p:cNvSpPr/>
            <p:nvPr/>
          </p:nvSpPr>
          <p:spPr>
            <a:xfrm>
              <a:off x="7300" y="2220"/>
              <a:ext cx="425100" cy="685590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3" name="Google Shape;163;g382b4099f15_0_15" descr="A logo with a blue design&#10;&#10;AI-generated content may be incorrect."/>
            <p:cNvPicPr preferRelativeResize="0"/>
            <p:nvPr/>
          </p:nvPicPr>
          <p:blipFill rotWithShape="1">
            <a:blip r:embed="rId3">
              <a:alphaModFix/>
            </a:blip>
            <a:srcRect/>
            <a:stretch/>
          </p:blipFill>
          <p:spPr>
            <a:xfrm>
              <a:off x="524957" y="183372"/>
              <a:ext cx="926177" cy="841980"/>
            </a:xfrm>
            <a:prstGeom prst="rect">
              <a:avLst/>
            </a:prstGeom>
            <a:noFill/>
            <a:ln>
              <a:noFill/>
            </a:ln>
          </p:spPr>
        </p:pic>
      </p:grpSp>
      <p:sp>
        <p:nvSpPr>
          <p:cNvPr id="324" name="Process Study"/>
          <p:cNvSpPr/>
          <p:nvPr/>
        </p:nvSpPr>
        <p:spPr>
          <a:xfrm>
            <a:off x="822960" y="1234440"/>
            <a:ext cx="2606040" cy="640080"/>
          </a:xfrm>
          <a:prstGeom prst="homePlate">
            <a:avLst/>
          </a:prstGeom>
          <a:solidFill>
            <a:srgbClr val="5A0886"/>
          </a:solidFill>
          <a:ln>
            <a:noFill/>
          </a:ln>
        </p:spPr>
        <p:txBody>
          <a:bodyPr wrap="square" lIns="91440" tIns="36576" rIns="228600" bIns="36576" anchor="ctr" anchorCtr="0">
            <a:noAutofit/>
          </a:bodyPr>
          <a:lstStyle/>
          <a:p>
            <a:pPr marL="0" indent="0" algn="ctr">
              <a:lnSpc>
                <a:spcPct val="100000"/>
              </a:lnSpc>
              <a:spcBef>
                <a:spcPts val="0"/>
              </a:spcBef>
              <a:spcAft>
                <a:spcPts val="0"/>
              </a:spcAft>
              <a:buNone/>
            </a:pPr>
            <a:r>
              <a:rPr lang="en-IN" sz="1600" b="1" i="0" dirty="0">
                <a:solidFill>
                  <a:srgbClr val="FFFFFF"/>
                </a:solidFill>
                <a:latin typeface="Calibri"/>
                <a:cs typeface="Calibri"/>
              </a:rPr>
              <a:t>1  Study</a:t>
            </a:r>
          </a:p>
        </p:txBody>
      </p:sp>
      <p:sp>
        <p:nvSpPr>
          <p:cNvPr id="325" name="Process note Study"/>
          <p:cNvSpPr/>
          <p:nvPr/>
        </p:nvSpPr>
        <p:spPr>
          <a:xfrm>
            <a:off x="868680" y="1938528"/>
            <a:ext cx="2377440" cy="82296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IN" sz="1300" b="0" i="0" dirty="0">
                <a:solidFill>
                  <a:srgbClr val="2B2B2B"/>
                </a:solidFill>
                <a:latin typeface="Calibri"/>
                <a:cs typeface="Calibri"/>
              </a:rPr>
              <a:t>Work through the course material module by module</a:t>
            </a:r>
          </a:p>
        </p:txBody>
      </p:sp>
      <p:sp>
        <p:nvSpPr>
          <p:cNvPr id="326" name="Process Flag"/>
          <p:cNvSpPr/>
          <p:nvPr/>
        </p:nvSpPr>
        <p:spPr>
          <a:xfrm>
            <a:off x="3493008" y="1234440"/>
            <a:ext cx="2606040" cy="640080"/>
          </a:xfrm>
          <a:prstGeom prst="homePlate">
            <a:avLst/>
          </a:prstGeom>
          <a:solidFill>
            <a:srgbClr val="5A0886"/>
          </a:solidFill>
          <a:ln>
            <a:noFill/>
          </a:ln>
        </p:spPr>
        <p:txBody>
          <a:bodyPr wrap="square" lIns="91440" tIns="36576" rIns="228600" bIns="36576" anchor="ctr" anchorCtr="0">
            <a:noAutofit/>
          </a:bodyPr>
          <a:lstStyle/>
          <a:p>
            <a:pPr marL="0" indent="0" algn="ctr">
              <a:lnSpc>
                <a:spcPct val="100000"/>
              </a:lnSpc>
              <a:spcBef>
                <a:spcPts val="0"/>
              </a:spcBef>
              <a:spcAft>
                <a:spcPts val="0"/>
              </a:spcAft>
              <a:buNone/>
            </a:pPr>
            <a:r>
              <a:rPr lang="en-IN" sz="1600" b="1" i="0" dirty="0">
                <a:solidFill>
                  <a:srgbClr val="FFFFFF"/>
                </a:solidFill>
                <a:latin typeface="Calibri"/>
                <a:cs typeface="Calibri"/>
              </a:rPr>
              <a:t>2  Flag</a:t>
            </a:r>
          </a:p>
        </p:txBody>
      </p:sp>
      <p:sp>
        <p:nvSpPr>
          <p:cNvPr id="327" name="Process note Flag"/>
          <p:cNvSpPr/>
          <p:nvPr/>
        </p:nvSpPr>
        <p:spPr>
          <a:xfrm>
            <a:off x="3538728" y="1938528"/>
            <a:ext cx="2377440" cy="82296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IN" sz="1300" b="0" i="0" dirty="0">
                <a:solidFill>
                  <a:srgbClr val="2B2B2B"/>
                </a:solidFill>
                <a:latin typeface="Calibri"/>
                <a:cs typeface="Calibri"/>
              </a:rPr>
              <a:t>Mark terms and ideas I do not recognise</a:t>
            </a:r>
          </a:p>
        </p:txBody>
      </p:sp>
      <p:sp>
        <p:nvSpPr>
          <p:cNvPr id="328" name="Process Revisit"/>
          <p:cNvSpPr/>
          <p:nvPr/>
        </p:nvSpPr>
        <p:spPr>
          <a:xfrm>
            <a:off x="6163056" y="1234440"/>
            <a:ext cx="2606040" cy="640080"/>
          </a:xfrm>
          <a:prstGeom prst="homePlate">
            <a:avLst/>
          </a:prstGeom>
          <a:solidFill>
            <a:srgbClr val="5A0886"/>
          </a:solidFill>
          <a:ln>
            <a:noFill/>
          </a:ln>
        </p:spPr>
        <p:txBody>
          <a:bodyPr wrap="square" lIns="91440" tIns="36576" rIns="228600" bIns="36576" anchor="ctr" anchorCtr="0">
            <a:noAutofit/>
          </a:bodyPr>
          <a:lstStyle/>
          <a:p>
            <a:pPr marL="0" indent="0" algn="ctr">
              <a:lnSpc>
                <a:spcPct val="100000"/>
              </a:lnSpc>
              <a:spcBef>
                <a:spcPts val="0"/>
              </a:spcBef>
              <a:spcAft>
                <a:spcPts val="0"/>
              </a:spcAft>
              <a:buNone/>
            </a:pPr>
            <a:r>
              <a:rPr lang="en-IN" sz="1600" b="1" i="0" dirty="0">
                <a:solidFill>
                  <a:srgbClr val="FFFFFF"/>
                </a:solidFill>
                <a:latin typeface="Calibri"/>
                <a:cs typeface="Calibri"/>
              </a:rPr>
              <a:t>3  Revisit</a:t>
            </a:r>
          </a:p>
        </p:txBody>
      </p:sp>
      <p:sp>
        <p:nvSpPr>
          <p:cNvPr id="329" name="Process note Revisit"/>
          <p:cNvSpPr/>
          <p:nvPr/>
        </p:nvSpPr>
        <p:spPr>
          <a:xfrm>
            <a:off x="6208776" y="1938528"/>
            <a:ext cx="2377440" cy="82296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IN" sz="1300" b="0" i="0" dirty="0">
                <a:solidFill>
                  <a:srgbClr val="2B2B2B"/>
                </a:solidFill>
                <a:latin typeface="Calibri"/>
                <a:cs typeface="Calibri"/>
              </a:rPr>
              <a:t>Return to harder topics and re-explain them simply</a:t>
            </a:r>
          </a:p>
        </p:txBody>
      </p:sp>
      <p:sp>
        <p:nvSpPr>
          <p:cNvPr id="330" name="Process Check"/>
          <p:cNvSpPr/>
          <p:nvPr/>
        </p:nvSpPr>
        <p:spPr>
          <a:xfrm>
            <a:off x="8833104" y="1234440"/>
            <a:ext cx="2606040" cy="640080"/>
          </a:xfrm>
          <a:prstGeom prst="homePlate">
            <a:avLst/>
          </a:prstGeom>
          <a:solidFill>
            <a:srgbClr val="5A0886"/>
          </a:solidFill>
          <a:ln>
            <a:noFill/>
          </a:ln>
        </p:spPr>
        <p:txBody>
          <a:bodyPr wrap="square" lIns="91440" tIns="36576" rIns="228600" bIns="36576" anchor="ctr" anchorCtr="0">
            <a:noAutofit/>
          </a:bodyPr>
          <a:lstStyle/>
          <a:p>
            <a:pPr marL="0" indent="0" algn="ctr">
              <a:lnSpc>
                <a:spcPct val="100000"/>
              </a:lnSpc>
              <a:spcBef>
                <a:spcPts val="0"/>
              </a:spcBef>
              <a:spcAft>
                <a:spcPts val="0"/>
              </a:spcAft>
              <a:buNone/>
            </a:pPr>
            <a:r>
              <a:rPr lang="en-IN" sz="1600" b="1" i="0" dirty="0">
                <a:solidFill>
                  <a:srgbClr val="FFFFFF"/>
                </a:solidFill>
                <a:latin typeface="Calibri"/>
                <a:cs typeface="Calibri"/>
              </a:rPr>
              <a:t>4  Check</a:t>
            </a:r>
          </a:p>
        </p:txBody>
      </p:sp>
      <p:sp>
        <p:nvSpPr>
          <p:cNvPr id="331" name="Process note Check"/>
          <p:cNvSpPr/>
          <p:nvPr/>
        </p:nvSpPr>
        <p:spPr>
          <a:xfrm>
            <a:off x="8878824" y="1938528"/>
            <a:ext cx="2377440" cy="82296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IN" sz="1300" b="0" i="0" dirty="0">
                <a:solidFill>
                  <a:srgbClr val="2B2B2B"/>
                </a:solidFill>
                <a:latin typeface="Calibri"/>
                <a:cs typeface="Calibri"/>
              </a:rPr>
              <a:t>Use the assessments to test what I actually understood</a:t>
            </a:r>
          </a:p>
        </p:txBody>
      </p:sp>
      <p:sp>
        <p:nvSpPr>
          <p:cNvPr id="332" name="Process remark"/>
          <p:cNvSpPr/>
          <p:nvPr/>
        </p:nvSpPr>
        <p:spPr>
          <a:xfrm>
            <a:off x="822960" y="2743200"/>
            <a:ext cx="10607040" cy="36576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IN" sz="1300" b="1" i="0" dirty="0">
                <a:solidFill>
                  <a:srgbClr val="5A0886"/>
                </a:solidFill>
                <a:latin typeface="Calibri"/>
                <a:cs typeface="Calibri"/>
              </a:rPr>
              <a:t>Resources: </a:t>
            </a:r>
            <a:r>
              <a:rPr lang="en-IN" sz="1300" b="0" i="0" dirty="0">
                <a:solidFill>
                  <a:srgbClr val="2B2B2B"/>
                </a:solidFill>
                <a:latin typeface="Calibri"/>
                <a:cs typeface="Calibri"/>
              </a:rPr>
              <a:t>the Cisco Networking Academy and Infosys Springboard course content. The Cisco final assessment was part of the completion process.</a:t>
            </a:r>
          </a:p>
        </p:txBody>
      </p:sp>
      <p:pic>
        <p:nvPicPr>
          <p:cNvPr id="335" name="Infosys certificate" descr="Infosys Springboard Kali Linux Advanced Wireless Penetration Testing certificate"/>
          <p:cNvPicPr>
            <a:picLocks noChangeAspect="1"/>
          </p:cNvPicPr>
          <p:nvPr/>
        </p:nvPicPr>
        <p:blipFill>
          <a:blip r:embed="rId4"/>
          <a:stretch>
            <a:fillRect/>
          </a:stretch>
        </p:blipFill>
        <p:spPr>
          <a:xfrm>
            <a:off x="8151494" y="3444395"/>
            <a:ext cx="3278505" cy="2323395"/>
          </a:xfrm>
          <a:prstGeom prst="rect">
            <a:avLst/>
          </a:prstGeom>
          <a:ln w="12700">
            <a:solidFill>
              <a:srgbClr val="0E7C86"/>
            </a:solidFill>
          </a:ln>
        </p:spPr>
      </p:pic>
      <p:sp>
        <p:nvSpPr>
          <p:cNvPr id="336" name="Evidence caption 1"/>
          <p:cNvSpPr/>
          <p:nvPr/>
        </p:nvSpPr>
        <p:spPr>
          <a:xfrm>
            <a:off x="1554480" y="5801375"/>
            <a:ext cx="3383280" cy="27432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IN" sz="1100" b="0" i="1" dirty="0">
                <a:solidFill>
                  <a:srgbClr val="555555"/>
                </a:solidFill>
                <a:latin typeface="Calibri"/>
                <a:cs typeface="Calibri"/>
              </a:rPr>
              <a:t>Evidence 1: Cisco final assessment score</a:t>
            </a:r>
          </a:p>
        </p:txBody>
      </p:sp>
      <p:sp>
        <p:nvSpPr>
          <p:cNvPr id="337" name="Evidence caption 2"/>
          <p:cNvSpPr/>
          <p:nvPr/>
        </p:nvSpPr>
        <p:spPr>
          <a:xfrm>
            <a:off x="5495544" y="5924911"/>
            <a:ext cx="3383280" cy="27432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IN" sz="1100" b="0" i="1" dirty="0">
                <a:solidFill>
                  <a:srgbClr val="555555"/>
                </a:solidFill>
                <a:latin typeface="Calibri"/>
                <a:cs typeface="Calibri"/>
              </a:rPr>
              <a:t>Evidence 2: Cisco course badge</a:t>
            </a:r>
          </a:p>
        </p:txBody>
      </p:sp>
      <p:sp>
        <p:nvSpPr>
          <p:cNvPr id="338" name="Evidence caption 3"/>
          <p:cNvSpPr/>
          <p:nvPr/>
        </p:nvSpPr>
        <p:spPr>
          <a:xfrm>
            <a:off x="8586216" y="5869359"/>
            <a:ext cx="3383280" cy="27432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IN" sz="1100" b="0" i="1" dirty="0">
                <a:solidFill>
                  <a:srgbClr val="555555"/>
                </a:solidFill>
                <a:latin typeface="Calibri"/>
                <a:cs typeface="Calibri"/>
              </a:rPr>
              <a:t>Evidence 3: Infosys Springboard certificate</a:t>
            </a:r>
          </a:p>
        </p:txBody>
      </p:sp>
      <p:pic>
        <p:nvPicPr>
          <p:cNvPr id="5" name="Picture 4">
            <a:extLst>
              <a:ext uri="{FF2B5EF4-FFF2-40B4-BE49-F238E27FC236}">
                <a16:creationId xmlns:a16="http://schemas.microsoft.com/office/drawing/2014/main" id="{391C590D-AD63-4EA1-90D4-34B31AEAB77E}"/>
              </a:ext>
            </a:extLst>
          </p:cNvPr>
          <p:cNvPicPr>
            <a:picLocks noChangeAspect="1"/>
          </p:cNvPicPr>
          <p:nvPr/>
        </p:nvPicPr>
        <p:blipFill>
          <a:blip r:embed="rId5"/>
          <a:stretch>
            <a:fillRect/>
          </a:stretch>
        </p:blipFill>
        <p:spPr>
          <a:xfrm>
            <a:off x="5049702" y="3429000"/>
            <a:ext cx="2743344" cy="2443538"/>
          </a:xfrm>
          <a:prstGeom prst="rect">
            <a:avLst/>
          </a:prstGeom>
        </p:spPr>
      </p:pic>
      <p:pic>
        <p:nvPicPr>
          <p:cNvPr id="7" name="Picture 6">
            <a:extLst>
              <a:ext uri="{FF2B5EF4-FFF2-40B4-BE49-F238E27FC236}">
                <a16:creationId xmlns:a16="http://schemas.microsoft.com/office/drawing/2014/main" id="{C8AF327F-ACC7-4814-B1BE-8612FFC56D19}"/>
              </a:ext>
            </a:extLst>
          </p:cNvPr>
          <p:cNvPicPr>
            <a:picLocks noChangeAspect="1"/>
          </p:cNvPicPr>
          <p:nvPr/>
        </p:nvPicPr>
        <p:blipFill>
          <a:blip r:embed="rId6"/>
          <a:stretch>
            <a:fillRect/>
          </a:stretch>
        </p:blipFill>
        <p:spPr>
          <a:xfrm>
            <a:off x="671703" y="3337877"/>
            <a:ext cx="4124325" cy="244353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2b4099f15_0_15"/>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IN" sz="2600" b="1" dirty="0">
                <a:latin typeface="Bodoni"/>
                <a:ea typeface="Bodoni"/>
                <a:cs typeface="Bodoni"/>
                <a:sym typeface="Bodoni"/>
              </a:rPr>
              <a:t>Key Technical Concepts</a:t>
            </a:r>
            <a:endParaRPr sz="3600" b="1">
              <a:latin typeface="Bodoni"/>
              <a:ea typeface="Bodoni"/>
              <a:cs typeface="Bodoni"/>
              <a:sym typeface="Bodoni"/>
            </a:endParaRPr>
          </a:p>
        </p:txBody>
      </p:sp>
      <p:sp>
        <p:nvSpPr>
          <p:cNvPr id="157" name="Google Shape;157;g382b4099f15_0_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58" name="Google Shape;158;g382b4099f15_0_15"/>
          <p:cNvSpPr txBox="1">
            <a:spLocks noGrp="1"/>
          </p:cNvSpPr>
          <p:nvPr>
            <p:ph type="ftr" idx="11"/>
          </p:nvPr>
        </p:nvSpPr>
        <p:spPr>
          <a:xfrm>
            <a:off x="4165600" y="6356351"/>
            <a:ext cx="4810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59" name="Google Shape;159;g382b4099f15_0_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pic>
        <p:nvPicPr>
          <p:cNvPr id="160" name="Google Shape;160;g382b4099f15_0_15" descr="A circular logo with a circle and a logo on it&#10;&#10;AI-generated content may be incorrect."/>
          <p:cNvPicPr preferRelativeResize="0"/>
          <p:nvPr/>
        </p:nvPicPr>
        <p:blipFill rotWithShape="1">
          <a:blip r:embed="rId2">
            <a:alphaModFix/>
          </a:blip>
          <a:srcRect/>
          <a:stretch/>
        </p:blipFill>
        <p:spPr>
          <a:xfrm>
            <a:off x="11136560" y="44624"/>
            <a:ext cx="980728" cy="980728"/>
          </a:xfrm>
          <a:prstGeom prst="rect">
            <a:avLst/>
          </a:prstGeom>
          <a:noFill/>
          <a:ln>
            <a:noFill/>
          </a:ln>
        </p:spPr>
      </p:pic>
      <p:grpSp>
        <p:nvGrpSpPr>
          <p:cNvPr id="161" name="Google Shape;161;g382b4099f15_0_15"/>
          <p:cNvGrpSpPr/>
          <p:nvPr/>
        </p:nvGrpSpPr>
        <p:grpSpPr>
          <a:xfrm>
            <a:off x="7300" y="2220"/>
            <a:ext cx="1443834" cy="6855900"/>
            <a:chOff x="7300" y="2220"/>
            <a:chExt cx="1443834" cy="6855900"/>
          </a:xfrm>
        </p:grpSpPr>
        <p:sp>
          <p:nvSpPr>
            <p:cNvPr id="162" name="Google Shape;162;g382b4099f15_0_15"/>
            <p:cNvSpPr/>
            <p:nvPr/>
          </p:nvSpPr>
          <p:spPr>
            <a:xfrm>
              <a:off x="7300" y="2220"/>
              <a:ext cx="425100" cy="685590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3" name="Google Shape;163;g382b4099f15_0_15" descr="A logo with a blue design&#10;&#10;AI-generated content may be incorrect."/>
            <p:cNvPicPr preferRelativeResize="0"/>
            <p:nvPr/>
          </p:nvPicPr>
          <p:blipFill rotWithShape="1">
            <a:blip r:embed="rId3">
              <a:alphaModFix/>
            </a:blip>
            <a:srcRect/>
            <a:stretch/>
          </p:blipFill>
          <p:spPr>
            <a:xfrm>
              <a:off x="524957" y="183372"/>
              <a:ext cx="926177" cy="841980"/>
            </a:xfrm>
            <a:prstGeom prst="rect">
              <a:avLst/>
            </a:prstGeom>
            <a:noFill/>
            <a:ln>
              <a:noFill/>
            </a:ln>
          </p:spPr>
        </p:pic>
      </p:grpSp>
      <p:sp>
        <p:nvSpPr>
          <p:cNvPr id="339" name="Stage 1"/>
          <p:cNvSpPr/>
          <p:nvPr/>
        </p:nvSpPr>
        <p:spPr>
          <a:xfrm>
            <a:off x="822960" y="1234440"/>
            <a:ext cx="2606040" cy="685800"/>
          </a:xfrm>
          <a:prstGeom prst="homePlate">
            <a:avLst/>
          </a:prstGeom>
          <a:solidFill>
            <a:srgbClr val="5A0886"/>
          </a:solidFill>
          <a:ln>
            <a:noFill/>
          </a:ln>
        </p:spPr>
        <p:txBody>
          <a:bodyPr wrap="square" lIns="91440" tIns="36576" rIns="228600" bIns="36576" anchor="ctr" anchorCtr="0">
            <a:noAutofit/>
          </a:bodyPr>
          <a:lstStyle/>
          <a:p>
            <a:pPr marL="0" indent="0" algn="ctr">
              <a:lnSpc>
                <a:spcPct val="100000"/>
              </a:lnSpc>
              <a:spcBef>
                <a:spcPts val="0"/>
              </a:spcBef>
              <a:spcAft>
                <a:spcPts val="0"/>
              </a:spcAft>
              <a:buNone/>
            </a:pPr>
            <a:r>
              <a:rPr lang="en-IN" sz="1500" b="1" i="0" dirty="0">
                <a:solidFill>
                  <a:srgbClr val="FFFFFF"/>
                </a:solidFill>
                <a:latin typeface="Calibri"/>
                <a:cs typeface="Calibri"/>
              </a:rPr>
              <a:t>1  Scope and permission</a:t>
            </a:r>
          </a:p>
        </p:txBody>
      </p:sp>
      <p:sp>
        <p:nvSpPr>
          <p:cNvPr id="340" name="Stage 2"/>
          <p:cNvSpPr/>
          <p:nvPr/>
        </p:nvSpPr>
        <p:spPr>
          <a:xfrm>
            <a:off x="3493008" y="1234440"/>
            <a:ext cx="2606040" cy="685800"/>
          </a:xfrm>
          <a:prstGeom prst="homePlate">
            <a:avLst/>
          </a:prstGeom>
          <a:solidFill>
            <a:srgbClr val="5A0886"/>
          </a:solidFill>
          <a:ln>
            <a:noFill/>
          </a:ln>
        </p:spPr>
        <p:txBody>
          <a:bodyPr wrap="square" lIns="91440" tIns="36576" rIns="228600" bIns="36576" anchor="ctr" anchorCtr="0">
            <a:noAutofit/>
          </a:bodyPr>
          <a:lstStyle/>
          <a:p>
            <a:pPr marL="0" indent="0" algn="ctr">
              <a:lnSpc>
                <a:spcPct val="100000"/>
              </a:lnSpc>
              <a:spcBef>
                <a:spcPts val="0"/>
              </a:spcBef>
              <a:spcAft>
                <a:spcPts val="0"/>
              </a:spcAft>
              <a:buNone/>
            </a:pPr>
            <a:r>
              <a:rPr lang="en-IN" sz="1500" b="1" i="0" dirty="0">
                <a:solidFill>
                  <a:srgbClr val="FFFFFF"/>
                </a:solidFill>
                <a:latin typeface="Calibri"/>
                <a:cs typeface="Calibri"/>
              </a:rPr>
              <a:t>2  Reconnaissance</a:t>
            </a:r>
          </a:p>
        </p:txBody>
      </p:sp>
      <p:sp>
        <p:nvSpPr>
          <p:cNvPr id="341" name="Stage 3"/>
          <p:cNvSpPr/>
          <p:nvPr/>
        </p:nvSpPr>
        <p:spPr>
          <a:xfrm>
            <a:off x="6163056" y="1234440"/>
            <a:ext cx="2606040" cy="685800"/>
          </a:xfrm>
          <a:prstGeom prst="homePlate">
            <a:avLst/>
          </a:prstGeom>
          <a:solidFill>
            <a:srgbClr val="5A0886"/>
          </a:solidFill>
          <a:ln>
            <a:noFill/>
          </a:ln>
        </p:spPr>
        <p:txBody>
          <a:bodyPr wrap="square" lIns="91440" tIns="36576" rIns="228600" bIns="36576" anchor="ctr" anchorCtr="0">
            <a:noAutofit/>
          </a:bodyPr>
          <a:lstStyle/>
          <a:p>
            <a:pPr marL="0" indent="0" algn="ctr">
              <a:lnSpc>
                <a:spcPct val="100000"/>
              </a:lnSpc>
              <a:spcBef>
                <a:spcPts val="0"/>
              </a:spcBef>
              <a:spcAft>
                <a:spcPts val="0"/>
              </a:spcAft>
              <a:buNone/>
            </a:pPr>
            <a:r>
              <a:rPr lang="en-IN" sz="1500" b="1" i="0" dirty="0">
                <a:solidFill>
                  <a:srgbClr val="FFFFFF"/>
                </a:solidFill>
                <a:latin typeface="Calibri"/>
                <a:cs typeface="Calibri"/>
              </a:rPr>
              <a:t>3  Assessment</a:t>
            </a:r>
          </a:p>
        </p:txBody>
      </p:sp>
      <p:sp>
        <p:nvSpPr>
          <p:cNvPr id="342" name="Stage 4"/>
          <p:cNvSpPr/>
          <p:nvPr/>
        </p:nvSpPr>
        <p:spPr>
          <a:xfrm>
            <a:off x="8833104" y="1234440"/>
            <a:ext cx="2606040" cy="685800"/>
          </a:xfrm>
          <a:prstGeom prst="homePlate">
            <a:avLst/>
          </a:prstGeom>
          <a:solidFill>
            <a:srgbClr val="5A0886"/>
          </a:solidFill>
          <a:ln>
            <a:noFill/>
          </a:ln>
        </p:spPr>
        <p:txBody>
          <a:bodyPr wrap="square" lIns="91440" tIns="36576" rIns="228600" bIns="36576" anchor="ctr" anchorCtr="0">
            <a:noAutofit/>
          </a:bodyPr>
          <a:lstStyle/>
          <a:p>
            <a:pPr marL="0" indent="0" algn="ctr">
              <a:lnSpc>
                <a:spcPct val="100000"/>
              </a:lnSpc>
              <a:spcBef>
                <a:spcPts val="0"/>
              </a:spcBef>
              <a:spcAft>
                <a:spcPts val="0"/>
              </a:spcAft>
              <a:buNone/>
            </a:pPr>
            <a:r>
              <a:rPr lang="en-IN" sz="1500" b="1" i="0" dirty="0">
                <a:solidFill>
                  <a:srgbClr val="FFFFFF"/>
                </a:solidFill>
                <a:latin typeface="Calibri"/>
                <a:cs typeface="Calibri"/>
              </a:rPr>
              <a:t>4  Document and fix</a:t>
            </a:r>
          </a:p>
        </p:txBody>
      </p:sp>
      <p:sp>
        <p:nvSpPr>
          <p:cNvPr id="343" name="Diagram note"/>
          <p:cNvSpPr/>
          <p:nvPr/>
        </p:nvSpPr>
        <p:spPr>
          <a:xfrm>
            <a:off x="822960" y="1984248"/>
            <a:ext cx="10607040" cy="32004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IN" sz="1200" b="0" i="1" dirty="0">
                <a:solidFill>
                  <a:srgbClr val="555555"/>
                </a:solidFill>
                <a:latin typeface="Calibri"/>
                <a:cs typeface="Calibri"/>
              </a:rPr>
              <a:t>Conceptual illustration of an authorised assessment. It is not a record of tests I carried out myself.</a:t>
            </a:r>
          </a:p>
        </p:txBody>
      </p:sp>
      <p:graphicFrame>
        <p:nvGraphicFramePr>
          <p:cNvPr id="344" name="Comparison table"/>
          <p:cNvGraphicFramePr>
            <a:graphicFrameLocks noGrp="1"/>
          </p:cNvGraphicFramePr>
          <p:nvPr/>
        </p:nvGraphicFramePr>
        <p:xfrm>
          <a:off x="822960" y="2423160"/>
          <a:ext cx="10607040" cy="1783080"/>
        </p:xfrm>
        <a:graphic>
          <a:graphicData uri="http://schemas.openxmlformats.org/drawingml/2006/table">
            <a:tbl>
              <a:tblPr firstRow="1"/>
              <a:tblGrid>
                <a:gridCol w="201168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411480">
                <a:tc>
                  <a:txBody>
                    <a:bodyPr/>
                    <a:lstStyle/>
                    <a:p>
                      <a:pPr marL="0" indent="0" algn="l">
                        <a:lnSpc>
                          <a:spcPct val="100000"/>
                        </a:lnSpc>
                        <a:spcBef>
                          <a:spcPts val="0"/>
                        </a:spcBef>
                        <a:spcAft>
                          <a:spcPts val="0"/>
                        </a:spcAft>
                        <a:buNone/>
                      </a:pPr>
                      <a:endParaRPr/>
                    </a:p>
                  </a:txBody>
                  <a:tcPr anchor="ctr">
                    <a:lnL w="12700">
                      <a:solidFill>
                        <a:srgbClr val="CDB6E0"/>
                      </a:solidFill>
                    </a:lnL>
                    <a:lnR w="12700">
                      <a:solidFill>
                        <a:srgbClr val="CDB6E0"/>
                      </a:solidFill>
                    </a:lnR>
                    <a:lnT w="12700">
                      <a:solidFill>
                        <a:srgbClr val="CDB6E0"/>
                      </a:solidFill>
                    </a:lnT>
                    <a:lnB w="12700">
                      <a:solidFill>
                        <a:srgbClr val="CDB6E0"/>
                      </a:solidFill>
                    </a:lnB>
                    <a:solidFill>
                      <a:srgbClr val="5A0886"/>
                    </a:solidFill>
                  </a:tcPr>
                </a:tc>
                <a:tc>
                  <a:txBody>
                    <a:bodyPr/>
                    <a:lstStyle/>
                    <a:p>
                      <a:pPr marL="0" indent="0" algn="l">
                        <a:lnSpc>
                          <a:spcPct val="100000"/>
                        </a:lnSpc>
                        <a:spcBef>
                          <a:spcPts val="0"/>
                        </a:spcBef>
                        <a:spcAft>
                          <a:spcPts val="0"/>
                        </a:spcAft>
                        <a:buNone/>
                      </a:pPr>
                      <a:r>
                        <a:rPr lang="en-IN" sz="1400" b="1" i="0" dirty="0">
                          <a:solidFill>
                            <a:srgbClr val="FFFFFF"/>
                          </a:solidFill>
                          <a:latin typeface="Calibri"/>
                          <a:cs typeface="Calibri"/>
                        </a:rPr>
                        <a:t>Ethical hacking (Cisco)</a:t>
                      </a:r>
                    </a:p>
                  </a:txBody>
                  <a:tcPr anchor="ctr">
                    <a:lnL w="12700">
                      <a:solidFill>
                        <a:srgbClr val="CDB6E0"/>
                      </a:solidFill>
                    </a:lnL>
                    <a:lnR w="12700">
                      <a:solidFill>
                        <a:srgbClr val="CDB6E0"/>
                      </a:solidFill>
                    </a:lnR>
                    <a:lnT w="12700">
                      <a:solidFill>
                        <a:srgbClr val="CDB6E0"/>
                      </a:solidFill>
                    </a:lnT>
                    <a:lnB w="12700">
                      <a:solidFill>
                        <a:srgbClr val="CDB6E0"/>
                      </a:solidFill>
                    </a:lnB>
                    <a:solidFill>
                      <a:srgbClr val="5A0886"/>
                    </a:solidFill>
                  </a:tcPr>
                </a:tc>
                <a:tc>
                  <a:txBody>
                    <a:bodyPr/>
                    <a:lstStyle/>
                    <a:p>
                      <a:pPr marL="0" indent="0" algn="l">
                        <a:lnSpc>
                          <a:spcPct val="100000"/>
                        </a:lnSpc>
                        <a:spcBef>
                          <a:spcPts val="0"/>
                        </a:spcBef>
                        <a:spcAft>
                          <a:spcPts val="0"/>
                        </a:spcAft>
                        <a:buNone/>
                      </a:pPr>
                      <a:r>
                        <a:rPr lang="en-IN" sz="1400" b="1" i="0" dirty="0">
                          <a:solidFill>
                            <a:srgbClr val="FFFFFF"/>
                          </a:solidFill>
                          <a:latin typeface="Calibri"/>
                          <a:cs typeface="Calibri"/>
                        </a:rPr>
                        <a:t>Wireless testing (Infosys)</a:t>
                      </a:r>
                    </a:p>
                  </a:txBody>
                  <a:tcPr anchor="ctr">
                    <a:lnL w="12700">
                      <a:solidFill>
                        <a:srgbClr val="CDB6E0"/>
                      </a:solidFill>
                    </a:lnL>
                    <a:lnR w="12700">
                      <a:solidFill>
                        <a:srgbClr val="CDB6E0"/>
                      </a:solidFill>
                    </a:lnR>
                    <a:lnT w="12700">
                      <a:solidFill>
                        <a:srgbClr val="CDB6E0"/>
                      </a:solidFill>
                    </a:lnT>
                    <a:lnB w="12700">
                      <a:solidFill>
                        <a:srgbClr val="CDB6E0"/>
                      </a:solidFill>
                    </a:lnB>
                    <a:solidFill>
                      <a:srgbClr val="0E7C86"/>
                    </a:solidFill>
                  </a:tcPr>
                </a:tc>
                <a:extLst>
                  <a:ext uri="{0D108BD9-81ED-4DB2-BD59-A6C34878D82A}">
                    <a16:rowId xmlns:a16="http://schemas.microsoft.com/office/drawing/2014/main" val="10000"/>
                  </a:ext>
                </a:extLst>
              </a:tr>
              <a:tr h="457200">
                <a:tc>
                  <a:txBody>
                    <a:bodyPr/>
                    <a:lstStyle/>
                    <a:p>
                      <a:pPr marL="0" indent="0" algn="l">
                        <a:lnSpc>
                          <a:spcPct val="100000"/>
                        </a:lnSpc>
                        <a:spcBef>
                          <a:spcPts val="0"/>
                        </a:spcBef>
                        <a:spcAft>
                          <a:spcPts val="0"/>
                        </a:spcAft>
                        <a:buNone/>
                      </a:pPr>
                      <a:r>
                        <a:rPr lang="en-IN" sz="1300" b="1" i="0" dirty="0">
                          <a:solidFill>
                            <a:srgbClr val="5A0886"/>
                          </a:solidFill>
                          <a:latin typeface="Calibri"/>
                          <a:cs typeface="Calibri"/>
                        </a:rPr>
                        <a:t>Scope</a:t>
                      </a:r>
                    </a:p>
                  </a:txBody>
                  <a:tcPr anchor="ctr">
                    <a:lnL w="12700">
                      <a:solidFill>
                        <a:srgbClr val="CDB6E0"/>
                      </a:solidFill>
                    </a:lnL>
                    <a:lnR w="12700">
                      <a:solidFill>
                        <a:srgbClr val="CDB6E0"/>
                      </a:solidFill>
                    </a:lnR>
                    <a:lnT w="12700">
                      <a:solidFill>
                        <a:srgbClr val="CDB6E0"/>
                      </a:solidFill>
                    </a:lnT>
                    <a:lnB w="12700">
                      <a:solidFill>
                        <a:srgbClr val="CDB6E0"/>
                      </a:solidFill>
                    </a:lnB>
                    <a:solidFill>
                      <a:srgbClr val="EFE6F7"/>
                    </a:solidFill>
                  </a:tcPr>
                </a:tc>
                <a:tc>
                  <a:txBody>
                    <a:bodyPr/>
                    <a:lstStyle/>
                    <a:p>
                      <a:pPr marL="0" indent="0" algn="l">
                        <a:lnSpc>
                          <a:spcPct val="100000"/>
                        </a:lnSpc>
                        <a:spcBef>
                          <a:spcPts val="0"/>
                        </a:spcBef>
                        <a:spcAft>
                          <a:spcPts val="0"/>
                        </a:spcAft>
                        <a:buNone/>
                      </a:pPr>
                      <a:r>
                        <a:rPr lang="en-IN" sz="1300" b="0" i="0" dirty="0">
                          <a:solidFill>
                            <a:srgbClr val="2B2B2B"/>
                          </a:solidFill>
                          <a:latin typeface="Calibri"/>
                          <a:cs typeface="Calibri"/>
                        </a:rPr>
                        <a:t>Whole systems and networks</a:t>
                      </a:r>
                    </a:p>
                  </a:txBody>
                  <a:tcPr anchor="ctr">
                    <a:lnL w="12700">
                      <a:solidFill>
                        <a:srgbClr val="CDB6E0"/>
                      </a:solidFill>
                    </a:lnL>
                    <a:lnR w="12700">
                      <a:solidFill>
                        <a:srgbClr val="CDB6E0"/>
                      </a:solidFill>
                    </a:lnR>
                    <a:lnT w="12700">
                      <a:solidFill>
                        <a:srgbClr val="CDB6E0"/>
                      </a:solidFill>
                    </a:lnT>
                    <a:lnB w="12700">
                      <a:solidFill>
                        <a:srgbClr val="CDB6E0"/>
                      </a:solidFill>
                    </a:lnB>
                    <a:solidFill>
                      <a:srgbClr val="FFFFFF"/>
                    </a:solidFill>
                  </a:tcPr>
                </a:tc>
                <a:tc>
                  <a:txBody>
                    <a:bodyPr/>
                    <a:lstStyle/>
                    <a:p>
                      <a:pPr marL="0" indent="0" algn="l">
                        <a:lnSpc>
                          <a:spcPct val="100000"/>
                        </a:lnSpc>
                        <a:spcBef>
                          <a:spcPts val="0"/>
                        </a:spcBef>
                        <a:spcAft>
                          <a:spcPts val="0"/>
                        </a:spcAft>
                        <a:buNone/>
                      </a:pPr>
                      <a:r>
                        <a:rPr lang="en-IN" sz="1300" b="0" i="0" dirty="0">
                          <a:solidFill>
                            <a:srgbClr val="2B2B2B"/>
                          </a:solidFill>
                          <a:latin typeface="Calibri"/>
                          <a:cs typeface="Calibri"/>
                        </a:rPr>
                        <a:t>Wi-Fi networks and access points</a:t>
                      </a:r>
                    </a:p>
                  </a:txBody>
                  <a:tcPr anchor="ctr">
                    <a:lnL w="12700">
                      <a:solidFill>
                        <a:srgbClr val="CDB6E0"/>
                      </a:solidFill>
                    </a:lnL>
                    <a:lnR w="12700">
                      <a:solidFill>
                        <a:srgbClr val="CDB6E0"/>
                      </a:solidFill>
                    </a:lnR>
                    <a:lnT w="12700">
                      <a:solidFill>
                        <a:srgbClr val="CDB6E0"/>
                      </a:solidFill>
                    </a:lnT>
                    <a:lnB w="12700">
                      <a:solidFill>
                        <a:srgbClr val="CDB6E0"/>
                      </a:solidFill>
                    </a:lnB>
                    <a:solidFill>
                      <a:srgbClr val="FFFFFF"/>
                    </a:solidFill>
                  </a:tcPr>
                </a:tc>
                <a:extLst>
                  <a:ext uri="{0D108BD9-81ED-4DB2-BD59-A6C34878D82A}">
                    <a16:rowId xmlns:a16="http://schemas.microsoft.com/office/drawing/2014/main" val="10001"/>
                  </a:ext>
                </a:extLst>
              </a:tr>
              <a:tr h="457200">
                <a:tc>
                  <a:txBody>
                    <a:bodyPr/>
                    <a:lstStyle/>
                    <a:p>
                      <a:pPr marL="0" indent="0" algn="l">
                        <a:lnSpc>
                          <a:spcPct val="100000"/>
                        </a:lnSpc>
                        <a:spcBef>
                          <a:spcPts val="0"/>
                        </a:spcBef>
                        <a:spcAft>
                          <a:spcPts val="0"/>
                        </a:spcAft>
                        <a:buNone/>
                      </a:pPr>
                      <a:r>
                        <a:rPr lang="en-IN" sz="1300" b="1" i="0" dirty="0">
                          <a:solidFill>
                            <a:srgbClr val="5A0886"/>
                          </a:solidFill>
                          <a:latin typeface="Calibri"/>
                          <a:cs typeface="Calibri"/>
                        </a:rPr>
                        <a:t>Core question</a:t>
                      </a:r>
                    </a:p>
                  </a:txBody>
                  <a:tcPr anchor="ctr">
                    <a:lnL w="12700">
                      <a:solidFill>
                        <a:srgbClr val="CDB6E0"/>
                      </a:solidFill>
                    </a:lnL>
                    <a:lnR w="12700">
                      <a:solidFill>
                        <a:srgbClr val="CDB6E0"/>
                      </a:solidFill>
                    </a:lnR>
                    <a:lnT w="12700">
                      <a:solidFill>
                        <a:srgbClr val="CDB6E0"/>
                      </a:solidFill>
                    </a:lnT>
                    <a:lnB w="12700">
                      <a:solidFill>
                        <a:srgbClr val="CDB6E0"/>
                      </a:solidFill>
                    </a:lnB>
                    <a:solidFill>
                      <a:srgbClr val="EFE6F7"/>
                    </a:solidFill>
                  </a:tcPr>
                </a:tc>
                <a:tc>
                  <a:txBody>
                    <a:bodyPr/>
                    <a:lstStyle/>
                    <a:p>
                      <a:pPr marL="0" indent="0" algn="l">
                        <a:lnSpc>
                          <a:spcPct val="100000"/>
                        </a:lnSpc>
                        <a:spcBef>
                          <a:spcPts val="0"/>
                        </a:spcBef>
                        <a:spcAft>
                          <a:spcPts val="0"/>
                        </a:spcAft>
                        <a:buNone/>
                      </a:pPr>
                      <a:r>
                        <a:rPr lang="en-IN" sz="1300" b="0" i="0" dirty="0">
                          <a:solidFill>
                            <a:srgbClr val="2B2B2B"/>
                          </a:solidFill>
                          <a:latin typeface="Calibri"/>
                          <a:cs typeface="Calibri"/>
                        </a:rPr>
                        <a:t>Where could an attacker get in?</a:t>
                      </a:r>
                    </a:p>
                  </a:txBody>
                  <a:tcPr anchor="ctr">
                    <a:lnL w="12700">
                      <a:solidFill>
                        <a:srgbClr val="CDB6E0"/>
                      </a:solidFill>
                    </a:lnL>
                    <a:lnR w="12700">
                      <a:solidFill>
                        <a:srgbClr val="CDB6E0"/>
                      </a:solidFill>
                    </a:lnR>
                    <a:lnT w="12700">
                      <a:solidFill>
                        <a:srgbClr val="CDB6E0"/>
                      </a:solidFill>
                    </a:lnT>
                    <a:lnB w="12700">
                      <a:solidFill>
                        <a:srgbClr val="CDB6E0"/>
                      </a:solidFill>
                    </a:lnB>
                    <a:solidFill>
                      <a:srgbClr val="FFFFFF"/>
                    </a:solidFill>
                  </a:tcPr>
                </a:tc>
                <a:tc>
                  <a:txBody>
                    <a:bodyPr/>
                    <a:lstStyle/>
                    <a:p>
                      <a:pPr marL="0" indent="0" algn="l">
                        <a:lnSpc>
                          <a:spcPct val="100000"/>
                        </a:lnSpc>
                        <a:spcBef>
                          <a:spcPts val="0"/>
                        </a:spcBef>
                        <a:spcAft>
                          <a:spcPts val="0"/>
                        </a:spcAft>
                        <a:buNone/>
                      </a:pPr>
                      <a:r>
                        <a:rPr lang="en-IN" sz="1300" b="0" i="0" dirty="0">
                          <a:solidFill>
                            <a:srgbClr val="2B2B2B"/>
                          </a:solidFill>
                          <a:latin typeface="Calibri"/>
                          <a:cs typeface="Calibri"/>
                        </a:rPr>
                        <a:t>How well is the wireless link protected?</a:t>
                      </a:r>
                    </a:p>
                  </a:txBody>
                  <a:tcPr anchor="ctr">
                    <a:lnL w="12700">
                      <a:solidFill>
                        <a:srgbClr val="CDB6E0"/>
                      </a:solidFill>
                    </a:lnL>
                    <a:lnR w="12700">
                      <a:solidFill>
                        <a:srgbClr val="CDB6E0"/>
                      </a:solidFill>
                    </a:lnR>
                    <a:lnT w="12700">
                      <a:solidFill>
                        <a:srgbClr val="CDB6E0"/>
                      </a:solidFill>
                    </a:lnT>
                    <a:lnB w="12700">
                      <a:solidFill>
                        <a:srgbClr val="CDB6E0"/>
                      </a:solidFill>
                    </a:lnB>
                    <a:solidFill>
                      <a:srgbClr val="FFFFFF"/>
                    </a:solidFill>
                  </a:tcPr>
                </a:tc>
                <a:extLst>
                  <a:ext uri="{0D108BD9-81ED-4DB2-BD59-A6C34878D82A}">
                    <a16:rowId xmlns:a16="http://schemas.microsoft.com/office/drawing/2014/main" val="10002"/>
                  </a:ext>
                </a:extLst>
              </a:tr>
              <a:tr h="457200">
                <a:tc>
                  <a:txBody>
                    <a:bodyPr/>
                    <a:lstStyle/>
                    <a:p>
                      <a:pPr marL="0" indent="0" algn="l">
                        <a:lnSpc>
                          <a:spcPct val="100000"/>
                        </a:lnSpc>
                        <a:spcBef>
                          <a:spcPts val="0"/>
                        </a:spcBef>
                        <a:spcAft>
                          <a:spcPts val="0"/>
                        </a:spcAft>
                        <a:buNone/>
                      </a:pPr>
                      <a:r>
                        <a:rPr lang="en-IN" sz="1300" b="1" i="0" dirty="0">
                          <a:solidFill>
                            <a:srgbClr val="5A0886"/>
                          </a:solidFill>
                          <a:latin typeface="Calibri"/>
                          <a:cs typeface="Calibri"/>
                        </a:rPr>
                        <a:t>Typical output</a:t>
                      </a:r>
                    </a:p>
                  </a:txBody>
                  <a:tcPr anchor="ctr">
                    <a:lnL w="12700">
                      <a:solidFill>
                        <a:srgbClr val="CDB6E0"/>
                      </a:solidFill>
                    </a:lnL>
                    <a:lnR w="12700">
                      <a:solidFill>
                        <a:srgbClr val="CDB6E0"/>
                      </a:solidFill>
                    </a:lnR>
                    <a:lnT w="12700">
                      <a:solidFill>
                        <a:srgbClr val="CDB6E0"/>
                      </a:solidFill>
                    </a:lnT>
                    <a:lnB w="12700">
                      <a:solidFill>
                        <a:srgbClr val="CDB6E0"/>
                      </a:solidFill>
                    </a:lnB>
                    <a:solidFill>
                      <a:srgbClr val="EFE6F7"/>
                    </a:solidFill>
                  </a:tcPr>
                </a:tc>
                <a:tc>
                  <a:txBody>
                    <a:bodyPr/>
                    <a:lstStyle/>
                    <a:p>
                      <a:pPr marL="0" indent="0" algn="l">
                        <a:lnSpc>
                          <a:spcPct val="100000"/>
                        </a:lnSpc>
                        <a:spcBef>
                          <a:spcPts val="0"/>
                        </a:spcBef>
                        <a:spcAft>
                          <a:spcPts val="0"/>
                        </a:spcAft>
                        <a:buNone/>
                      </a:pPr>
                      <a:r>
                        <a:rPr lang="en-IN" sz="1300" b="0" i="0" dirty="0">
                          <a:solidFill>
                            <a:srgbClr val="2B2B2B"/>
                          </a:solidFill>
                          <a:latin typeface="Calibri"/>
                          <a:cs typeface="Calibri"/>
                        </a:rPr>
                        <a:t>Scoped assessment and a report</a:t>
                      </a:r>
                    </a:p>
                  </a:txBody>
                  <a:tcPr anchor="ctr">
                    <a:lnL w="12700">
                      <a:solidFill>
                        <a:srgbClr val="CDB6E0"/>
                      </a:solidFill>
                    </a:lnL>
                    <a:lnR w="12700">
                      <a:solidFill>
                        <a:srgbClr val="CDB6E0"/>
                      </a:solidFill>
                    </a:lnR>
                    <a:lnT w="12700">
                      <a:solidFill>
                        <a:srgbClr val="CDB6E0"/>
                      </a:solidFill>
                    </a:lnT>
                    <a:lnB w="12700">
                      <a:solidFill>
                        <a:srgbClr val="CDB6E0"/>
                      </a:solidFill>
                    </a:lnB>
                    <a:solidFill>
                      <a:srgbClr val="FFFFFF"/>
                    </a:solidFill>
                  </a:tcPr>
                </a:tc>
                <a:tc>
                  <a:txBody>
                    <a:bodyPr/>
                    <a:lstStyle/>
                    <a:p>
                      <a:pPr marL="0" indent="0" algn="l">
                        <a:lnSpc>
                          <a:spcPct val="100000"/>
                        </a:lnSpc>
                        <a:spcBef>
                          <a:spcPts val="0"/>
                        </a:spcBef>
                        <a:spcAft>
                          <a:spcPts val="0"/>
                        </a:spcAft>
                        <a:buNone/>
                      </a:pPr>
                      <a:r>
                        <a:rPr lang="en-IN" sz="1300" b="0" i="0" dirty="0">
                          <a:solidFill>
                            <a:srgbClr val="2B2B2B"/>
                          </a:solidFill>
                          <a:latin typeface="Calibri"/>
                          <a:cs typeface="Calibri"/>
                        </a:rPr>
                        <a:t>Wireless-specific findings and fixes</a:t>
                      </a:r>
                    </a:p>
                  </a:txBody>
                  <a:tcPr anchor="ctr">
                    <a:lnL w="12700">
                      <a:solidFill>
                        <a:srgbClr val="CDB6E0"/>
                      </a:solidFill>
                    </a:lnL>
                    <a:lnR w="12700">
                      <a:solidFill>
                        <a:srgbClr val="CDB6E0"/>
                      </a:solidFill>
                    </a:lnR>
                    <a:lnT w="12700">
                      <a:solidFill>
                        <a:srgbClr val="CDB6E0"/>
                      </a:solidFill>
                    </a:lnT>
                    <a:lnB w="12700">
                      <a:solidFill>
                        <a:srgbClr val="CDB6E0"/>
                      </a:solidFill>
                    </a:lnB>
                    <a:solidFill>
                      <a:srgbClr val="FFFFFF"/>
                    </a:solidFill>
                  </a:tcPr>
                </a:tc>
                <a:extLst>
                  <a:ext uri="{0D108BD9-81ED-4DB2-BD59-A6C34878D82A}">
                    <a16:rowId xmlns:a16="http://schemas.microsoft.com/office/drawing/2014/main" val="10003"/>
                  </a:ext>
                </a:extLst>
              </a:tr>
            </a:tbl>
          </a:graphicData>
        </a:graphic>
      </p:graphicFrame>
      <p:sp>
        <p:nvSpPr>
          <p:cNvPr id="345" name="Kali note"/>
          <p:cNvSpPr/>
          <p:nvPr/>
        </p:nvSpPr>
        <p:spPr>
          <a:xfrm>
            <a:off x="822960" y="4572000"/>
            <a:ext cx="10607040" cy="1325880"/>
          </a:xfrm>
          <a:prstGeom prst="roundRect">
            <a:avLst>
              <a:gd name="adj" fmla="val 6000"/>
            </a:avLst>
          </a:prstGeom>
          <a:solidFill>
            <a:srgbClr val="DDF0F1"/>
          </a:solidFill>
          <a:ln w="12700">
            <a:solidFill>
              <a:srgbClr val="0E7C86"/>
            </a:solidFill>
          </a:ln>
        </p:spPr>
        <p:txBody>
          <a:bodyPr wrap="square" lIns="182880" tIns="73152" rIns="182880" bIns="73152" anchor="ctr" anchorCtr="0">
            <a:noAutofit/>
          </a:bodyPr>
          <a:lstStyle/>
          <a:p>
            <a:pPr marL="0" indent="0" algn="l">
              <a:lnSpc>
                <a:spcPct val="100000"/>
              </a:lnSpc>
              <a:spcBef>
                <a:spcPts val="0"/>
              </a:spcBef>
              <a:spcAft>
                <a:spcPts val="0"/>
              </a:spcAft>
              <a:buNone/>
            </a:pPr>
            <a:r>
              <a:rPr lang="en-IN" sz="1600" b="1" i="0" dirty="0">
                <a:solidFill>
                  <a:srgbClr val="0E7C86"/>
                </a:solidFill>
                <a:latin typeface="Calibri"/>
                <a:cs typeface="Calibri"/>
              </a:rPr>
              <a:t>Role of Kali Linux</a:t>
            </a:r>
          </a:p>
          <a:p>
            <a:pPr marL="0" indent="0" algn="l">
              <a:lnSpc>
                <a:spcPct val="100000"/>
              </a:lnSpc>
              <a:spcBef>
                <a:spcPts val="300"/>
              </a:spcBef>
              <a:spcAft>
                <a:spcPts val="0"/>
              </a:spcAft>
              <a:buNone/>
            </a:pPr>
            <a:r>
              <a:rPr lang="en-IN" sz="1400" b="0" i="0" dirty="0">
                <a:solidFill>
                  <a:srgbClr val="2B2B2B"/>
                </a:solidFill>
                <a:latin typeface="Calibri"/>
                <a:cs typeface="Calibri"/>
              </a:rPr>
              <a:t>A Linux distribution that comes with many security-testing tools, so a tester has a ready environment. It is only used on systems the tester owns or has written permission to test.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2b4099f15_0_15"/>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IN" sz="2600" b="1" dirty="0">
                <a:latin typeface="Bodoni"/>
                <a:ea typeface="Bodoni"/>
                <a:cs typeface="Bodoni"/>
                <a:sym typeface="Bodoni"/>
              </a:rPr>
              <a:t>Practical Example (Hypothetical)</a:t>
            </a:r>
            <a:endParaRPr sz="3600" b="1">
              <a:latin typeface="Bodoni"/>
              <a:ea typeface="Bodoni"/>
              <a:cs typeface="Bodoni"/>
              <a:sym typeface="Bodoni"/>
            </a:endParaRPr>
          </a:p>
        </p:txBody>
      </p:sp>
      <p:sp>
        <p:nvSpPr>
          <p:cNvPr id="157" name="Google Shape;157;g382b4099f15_0_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58" name="Google Shape;158;g382b4099f15_0_15"/>
          <p:cNvSpPr txBox="1">
            <a:spLocks noGrp="1"/>
          </p:cNvSpPr>
          <p:nvPr>
            <p:ph type="ftr" idx="11"/>
          </p:nvPr>
        </p:nvSpPr>
        <p:spPr>
          <a:xfrm>
            <a:off x="4165600" y="6356351"/>
            <a:ext cx="4810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59" name="Google Shape;159;g382b4099f15_0_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pic>
        <p:nvPicPr>
          <p:cNvPr id="160" name="Google Shape;160;g382b4099f15_0_15" descr="A circular logo with a circle and a logo on it&#10;&#10;AI-generated content may be incorrect."/>
          <p:cNvPicPr preferRelativeResize="0"/>
          <p:nvPr/>
        </p:nvPicPr>
        <p:blipFill rotWithShape="1">
          <a:blip r:embed="rId2">
            <a:alphaModFix/>
          </a:blip>
          <a:srcRect/>
          <a:stretch/>
        </p:blipFill>
        <p:spPr>
          <a:xfrm>
            <a:off x="11136560" y="44624"/>
            <a:ext cx="980728" cy="980728"/>
          </a:xfrm>
          <a:prstGeom prst="rect">
            <a:avLst/>
          </a:prstGeom>
          <a:noFill/>
          <a:ln>
            <a:noFill/>
          </a:ln>
        </p:spPr>
      </p:pic>
      <p:grpSp>
        <p:nvGrpSpPr>
          <p:cNvPr id="161" name="Google Shape;161;g382b4099f15_0_15"/>
          <p:cNvGrpSpPr/>
          <p:nvPr/>
        </p:nvGrpSpPr>
        <p:grpSpPr>
          <a:xfrm>
            <a:off x="7300" y="2220"/>
            <a:ext cx="1443834" cy="6855900"/>
            <a:chOff x="7300" y="2220"/>
            <a:chExt cx="1443834" cy="6855900"/>
          </a:xfrm>
        </p:grpSpPr>
        <p:sp>
          <p:nvSpPr>
            <p:cNvPr id="162" name="Google Shape;162;g382b4099f15_0_15"/>
            <p:cNvSpPr/>
            <p:nvPr/>
          </p:nvSpPr>
          <p:spPr>
            <a:xfrm>
              <a:off x="7300" y="2220"/>
              <a:ext cx="425100" cy="685590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3" name="Google Shape;163;g382b4099f15_0_15" descr="A logo with a blue design&#10;&#10;AI-generated content may be incorrect."/>
            <p:cNvPicPr preferRelativeResize="0"/>
            <p:nvPr/>
          </p:nvPicPr>
          <p:blipFill rotWithShape="1">
            <a:blip r:embed="rId3">
              <a:alphaModFix/>
            </a:blip>
            <a:srcRect/>
            <a:stretch/>
          </p:blipFill>
          <p:spPr>
            <a:xfrm>
              <a:off x="524957" y="183372"/>
              <a:ext cx="926177" cy="841980"/>
            </a:xfrm>
            <a:prstGeom prst="rect">
              <a:avLst/>
            </a:prstGeom>
            <a:noFill/>
            <a:ln>
              <a:noFill/>
            </a:ln>
          </p:spPr>
        </p:pic>
      </p:grpSp>
      <p:sp>
        <p:nvSpPr>
          <p:cNvPr id="346" name="Hypothetical tag"/>
          <p:cNvSpPr/>
          <p:nvPr/>
        </p:nvSpPr>
        <p:spPr>
          <a:xfrm>
            <a:off x="822960" y="1188720"/>
            <a:ext cx="10607040" cy="457200"/>
          </a:xfrm>
          <a:prstGeom prst="roundRect">
            <a:avLst>
              <a:gd name="adj" fmla="val 6000"/>
            </a:avLst>
          </a:prstGeom>
          <a:solidFill>
            <a:srgbClr val="FFF3D1"/>
          </a:solidFill>
          <a:ln w="12700">
            <a:solidFill>
              <a:srgbClr val="B7791F"/>
            </a:solidFill>
            <a:prstDash val="dash"/>
          </a:ln>
        </p:spPr>
        <p:txBody>
          <a:bodyPr wrap="square" lIns="109728" tIns="54864" rIns="109728" bIns="54864" anchor="ctr" anchorCtr="0">
            <a:noAutofit/>
          </a:bodyPr>
          <a:lstStyle/>
          <a:p>
            <a:pPr marL="0" indent="0" algn="ctr">
              <a:lnSpc>
                <a:spcPct val="100000"/>
              </a:lnSpc>
              <a:spcBef>
                <a:spcPts val="0"/>
              </a:spcBef>
              <a:spcAft>
                <a:spcPts val="0"/>
              </a:spcAft>
              <a:buNone/>
            </a:pPr>
            <a:r>
              <a:rPr lang="en-IN" sz="1300" b="1" i="0" dirty="0">
                <a:solidFill>
                  <a:srgbClr val="5A3E00"/>
                </a:solidFill>
                <a:latin typeface="Calibri"/>
                <a:cs typeface="Calibri"/>
              </a:rPr>
              <a:t>HYPOTHETICAL EXAMPLE  </a:t>
            </a:r>
            <a:r>
              <a:rPr lang="en-IN" sz="1300" b="0" i="0" dirty="0">
                <a:solidFill>
                  <a:srgbClr val="5A3E00"/>
                </a:solidFill>
                <a:latin typeface="Calibri"/>
                <a:cs typeface="Calibri"/>
              </a:rPr>
              <a:t>illustrative only, not an exercise I performed</a:t>
            </a:r>
          </a:p>
        </p:txBody>
      </p:sp>
      <p:sp>
        <p:nvSpPr>
          <p:cNvPr id="347" name="Scenario"/>
          <p:cNvSpPr/>
          <p:nvPr/>
        </p:nvSpPr>
        <p:spPr>
          <a:xfrm>
            <a:off x="822960" y="1755648"/>
            <a:ext cx="10607040" cy="6400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IN" sz="1500" b="1" i="0" dirty="0">
                <a:solidFill>
                  <a:srgbClr val="5A0886"/>
                </a:solidFill>
                <a:latin typeface="Calibri"/>
                <a:cs typeface="Calibri"/>
              </a:rPr>
              <a:t>Scenario: </a:t>
            </a:r>
            <a:r>
              <a:rPr lang="en-IN" sz="1500" b="0" i="0" dirty="0">
                <a:solidFill>
                  <a:srgbClr val="2B2B2B"/>
                </a:solidFill>
                <a:latin typeface="Calibri"/>
                <a:cs typeface="Calibri"/>
              </a:rPr>
              <a:t>a small cafe asks a tester for a written review of its own Wi-Fi setup.</a:t>
            </a:r>
          </a:p>
        </p:txBody>
      </p:sp>
      <p:sp>
        <p:nvSpPr>
          <p:cNvPr id="348" name="Example step 1"/>
          <p:cNvSpPr/>
          <p:nvPr/>
        </p:nvSpPr>
        <p:spPr>
          <a:xfrm>
            <a:off x="822960" y="2468880"/>
            <a:ext cx="2468880" cy="2880360"/>
          </a:xfrm>
          <a:prstGeom prst="roundRect">
            <a:avLst>
              <a:gd name="adj" fmla="val 6000"/>
            </a:avLst>
          </a:prstGeom>
          <a:solidFill>
            <a:srgbClr val="FFFFFF"/>
          </a:solidFill>
          <a:ln w="15875">
            <a:solidFill>
              <a:srgbClr val="5A0886"/>
            </a:solidFill>
          </a:ln>
        </p:spPr>
        <p:txBody>
          <a:bodyPr wrap="square" lIns="137160" tIns="109728" rIns="109728" bIns="73152" anchor="t" anchorCtr="0">
            <a:noAutofit/>
          </a:bodyPr>
          <a:lstStyle/>
          <a:p>
            <a:pPr marL="0" indent="0" algn="l">
              <a:lnSpc>
                <a:spcPct val="100000"/>
              </a:lnSpc>
              <a:spcBef>
                <a:spcPts val="0"/>
              </a:spcBef>
              <a:spcAft>
                <a:spcPts val="0"/>
              </a:spcAft>
              <a:buNone/>
            </a:pPr>
            <a:r>
              <a:rPr lang="en-IN" sz="1500" b="1" i="0" dirty="0">
                <a:solidFill>
                  <a:srgbClr val="5A0886"/>
                </a:solidFill>
                <a:latin typeface="Calibri"/>
                <a:cs typeface="Calibri"/>
              </a:rPr>
              <a:t>1  Permission and scope</a:t>
            </a:r>
          </a:p>
          <a:p>
            <a:pPr marL="0" indent="0" algn="l">
              <a:lnSpc>
                <a:spcPct val="100000"/>
              </a:lnSpc>
              <a:spcBef>
                <a:spcPts val="600"/>
              </a:spcBef>
              <a:spcAft>
                <a:spcPts val="0"/>
              </a:spcAft>
              <a:buNone/>
            </a:pPr>
            <a:r>
              <a:rPr lang="en-IN" sz="1300" b="0" i="0" dirty="0">
                <a:solidFill>
                  <a:srgbClr val="2B2B2B"/>
                </a:solidFill>
                <a:latin typeface="Calibri"/>
                <a:cs typeface="Calibri"/>
              </a:rPr>
              <a:t>Signed approval from the owner. Only the cafe’s router and its guest network are in scope.</a:t>
            </a:r>
          </a:p>
        </p:txBody>
      </p:sp>
      <p:sp>
        <p:nvSpPr>
          <p:cNvPr id="349" name="Arrow 1"/>
          <p:cNvSpPr/>
          <p:nvPr/>
        </p:nvSpPr>
        <p:spPr>
          <a:xfrm>
            <a:off x="3310128" y="3657600"/>
            <a:ext cx="192024" cy="365760"/>
          </a:xfrm>
          <a:prstGeom prst="rightArrow">
            <a:avLst/>
          </a:prstGeom>
          <a:solidFill>
            <a:srgbClr val="5A0886"/>
          </a:solidFill>
          <a:ln>
            <a:noFill/>
          </a:ln>
        </p:spPr>
        <p:txBody>
          <a:bodyPr wrap="square" lIns="109728" tIns="54864" rIns="109728" bIns="54864" anchor="ctr" anchorCtr="0">
            <a:noAutofit/>
          </a:bodyPr>
          <a:lstStyle/>
          <a:p>
            <a:endParaRPr lang="en-IN"/>
          </a:p>
        </p:txBody>
      </p:sp>
      <p:sp>
        <p:nvSpPr>
          <p:cNvPr id="350" name="Example step 2"/>
          <p:cNvSpPr/>
          <p:nvPr/>
        </p:nvSpPr>
        <p:spPr>
          <a:xfrm>
            <a:off x="3520440" y="2468880"/>
            <a:ext cx="2468880" cy="2880360"/>
          </a:xfrm>
          <a:prstGeom prst="roundRect">
            <a:avLst>
              <a:gd name="adj" fmla="val 6000"/>
            </a:avLst>
          </a:prstGeom>
          <a:solidFill>
            <a:srgbClr val="FFFFFF"/>
          </a:solidFill>
          <a:ln w="15875">
            <a:solidFill>
              <a:srgbClr val="5A0886"/>
            </a:solidFill>
          </a:ln>
        </p:spPr>
        <p:txBody>
          <a:bodyPr wrap="square" lIns="137160" tIns="109728" rIns="109728" bIns="73152" anchor="t" anchorCtr="0">
            <a:noAutofit/>
          </a:bodyPr>
          <a:lstStyle/>
          <a:p>
            <a:pPr marL="0" indent="0" algn="l">
              <a:lnSpc>
                <a:spcPct val="100000"/>
              </a:lnSpc>
              <a:spcBef>
                <a:spcPts val="0"/>
              </a:spcBef>
              <a:spcAft>
                <a:spcPts val="0"/>
              </a:spcAft>
              <a:buNone/>
            </a:pPr>
            <a:r>
              <a:rPr lang="en-IN" sz="1500" b="1" i="0" dirty="0">
                <a:solidFill>
                  <a:srgbClr val="5A0886"/>
                </a:solidFill>
                <a:latin typeface="Calibri"/>
                <a:cs typeface="Calibri"/>
              </a:rPr>
              <a:t>2  Identify a concern</a:t>
            </a:r>
          </a:p>
          <a:p>
            <a:pPr marL="0" indent="0" algn="l">
              <a:lnSpc>
                <a:spcPct val="100000"/>
              </a:lnSpc>
              <a:spcBef>
                <a:spcPts val="600"/>
              </a:spcBef>
              <a:spcAft>
                <a:spcPts val="0"/>
              </a:spcAft>
              <a:buNone/>
            </a:pPr>
            <a:r>
              <a:rPr lang="en-IN" sz="1300" b="0" i="0" dirty="0">
                <a:solidFill>
                  <a:srgbClr val="2B2B2B"/>
                </a:solidFill>
                <a:latin typeface="Calibri"/>
                <a:cs typeface="Calibri"/>
              </a:rPr>
              <a:t>Staff and guest devices share one network, secured by a short passphrase that has never been changed.</a:t>
            </a:r>
          </a:p>
        </p:txBody>
      </p:sp>
      <p:sp>
        <p:nvSpPr>
          <p:cNvPr id="351" name="Arrow 2"/>
          <p:cNvSpPr/>
          <p:nvPr/>
        </p:nvSpPr>
        <p:spPr>
          <a:xfrm>
            <a:off x="6007608" y="3657600"/>
            <a:ext cx="192024" cy="365760"/>
          </a:xfrm>
          <a:prstGeom prst="rightArrow">
            <a:avLst/>
          </a:prstGeom>
          <a:solidFill>
            <a:srgbClr val="5A0886"/>
          </a:solidFill>
          <a:ln>
            <a:noFill/>
          </a:ln>
        </p:spPr>
        <p:txBody>
          <a:bodyPr wrap="square" lIns="109728" tIns="54864" rIns="109728" bIns="54864" anchor="ctr" anchorCtr="0">
            <a:noAutofit/>
          </a:bodyPr>
          <a:lstStyle/>
          <a:p>
            <a:endParaRPr lang="en-IN"/>
          </a:p>
        </p:txBody>
      </p:sp>
      <p:sp>
        <p:nvSpPr>
          <p:cNvPr id="352" name="Example step 3"/>
          <p:cNvSpPr/>
          <p:nvPr/>
        </p:nvSpPr>
        <p:spPr>
          <a:xfrm>
            <a:off x="6217920" y="2468880"/>
            <a:ext cx="2468880" cy="2880360"/>
          </a:xfrm>
          <a:prstGeom prst="roundRect">
            <a:avLst>
              <a:gd name="adj" fmla="val 6000"/>
            </a:avLst>
          </a:prstGeom>
          <a:solidFill>
            <a:srgbClr val="FFFFFF"/>
          </a:solidFill>
          <a:ln w="15875">
            <a:solidFill>
              <a:srgbClr val="5A0886"/>
            </a:solidFill>
          </a:ln>
        </p:spPr>
        <p:txBody>
          <a:bodyPr wrap="square" lIns="137160" tIns="109728" rIns="109728" bIns="73152" anchor="t" anchorCtr="0">
            <a:noAutofit/>
          </a:bodyPr>
          <a:lstStyle/>
          <a:p>
            <a:pPr marL="0" indent="0" algn="l">
              <a:lnSpc>
                <a:spcPct val="100000"/>
              </a:lnSpc>
              <a:spcBef>
                <a:spcPts val="0"/>
              </a:spcBef>
              <a:spcAft>
                <a:spcPts val="0"/>
              </a:spcAft>
              <a:buNone/>
            </a:pPr>
            <a:r>
              <a:rPr lang="en-IN" sz="1500" b="1" i="0" dirty="0">
                <a:solidFill>
                  <a:srgbClr val="5A0886"/>
                </a:solidFill>
                <a:latin typeface="Calibri"/>
                <a:cs typeface="Calibri"/>
              </a:rPr>
              <a:t>3  Examine evidence</a:t>
            </a:r>
          </a:p>
          <a:p>
            <a:pPr marL="0" indent="0" algn="l">
              <a:lnSpc>
                <a:spcPct val="100000"/>
              </a:lnSpc>
              <a:spcBef>
                <a:spcPts val="600"/>
              </a:spcBef>
              <a:spcAft>
                <a:spcPts val="0"/>
              </a:spcAft>
              <a:buNone/>
            </a:pPr>
            <a:r>
              <a:rPr lang="en-IN" sz="1300" b="0" i="0" dirty="0">
                <a:solidFill>
                  <a:srgbClr val="2B2B2B"/>
                </a:solidFill>
                <a:latin typeface="Calibri"/>
                <a:cs typeface="Calibri"/>
              </a:rPr>
              <a:t>Review the router settings with the owner: encryption mode, firmware version, network separation.</a:t>
            </a:r>
          </a:p>
        </p:txBody>
      </p:sp>
      <p:sp>
        <p:nvSpPr>
          <p:cNvPr id="353" name="Arrow 3"/>
          <p:cNvSpPr/>
          <p:nvPr/>
        </p:nvSpPr>
        <p:spPr>
          <a:xfrm>
            <a:off x="8705088" y="3657600"/>
            <a:ext cx="192024" cy="365760"/>
          </a:xfrm>
          <a:prstGeom prst="rightArrow">
            <a:avLst/>
          </a:prstGeom>
          <a:solidFill>
            <a:srgbClr val="5A0886"/>
          </a:solidFill>
          <a:ln>
            <a:noFill/>
          </a:ln>
        </p:spPr>
        <p:txBody>
          <a:bodyPr wrap="square" lIns="109728" tIns="54864" rIns="109728" bIns="54864" anchor="ctr" anchorCtr="0">
            <a:noAutofit/>
          </a:bodyPr>
          <a:lstStyle/>
          <a:p>
            <a:endParaRPr lang="en-IN"/>
          </a:p>
        </p:txBody>
      </p:sp>
      <p:sp>
        <p:nvSpPr>
          <p:cNvPr id="354" name="Example step 4"/>
          <p:cNvSpPr/>
          <p:nvPr/>
        </p:nvSpPr>
        <p:spPr>
          <a:xfrm>
            <a:off x="8915400" y="2468880"/>
            <a:ext cx="2468880" cy="2880360"/>
          </a:xfrm>
          <a:prstGeom prst="roundRect">
            <a:avLst>
              <a:gd name="adj" fmla="val 6000"/>
            </a:avLst>
          </a:prstGeom>
          <a:solidFill>
            <a:srgbClr val="FFFFFF"/>
          </a:solidFill>
          <a:ln w="15875">
            <a:solidFill>
              <a:srgbClr val="5A0886"/>
            </a:solidFill>
          </a:ln>
        </p:spPr>
        <p:txBody>
          <a:bodyPr wrap="square" lIns="137160" tIns="109728" rIns="109728" bIns="73152" anchor="t" anchorCtr="0">
            <a:noAutofit/>
          </a:bodyPr>
          <a:lstStyle/>
          <a:p>
            <a:pPr marL="0" indent="0" algn="l">
              <a:lnSpc>
                <a:spcPct val="100000"/>
              </a:lnSpc>
              <a:spcBef>
                <a:spcPts val="0"/>
              </a:spcBef>
              <a:spcAft>
                <a:spcPts val="0"/>
              </a:spcAft>
              <a:buNone/>
            </a:pPr>
            <a:r>
              <a:rPr lang="en-IN" sz="1500" b="1" i="0" dirty="0">
                <a:solidFill>
                  <a:srgbClr val="5A0886"/>
                </a:solidFill>
                <a:latin typeface="Calibri"/>
                <a:cs typeface="Calibri"/>
              </a:rPr>
              <a:t>4  Recommend a fix</a:t>
            </a:r>
          </a:p>
          <a:p>
            <a:pPr marL="0" indent="0" algn="l">
              <a:lnSpc>
                <a:spcPct val="100000"/>
              </a:lnSpc>
              <a:spcBef>
                <a:spcPts val="600"/>
              </a:spcBef>
              <a:spcAft>
                <a:spcPts val="0"/>
              </a:spcAft>
              <a:buNone/>
            </a:pPr>
            <a:r>
              <a:rPr lang="en-IN" sz="1300" b="0" i="0" dirty="0">
                <a:solidFill>
                  <a:srgbClr val="2B2B2B"/>
                </a:solidFill>
                <a:latin typeface="Calibri"/>
                <a:cs typeface="Calibri"/>
              </a:rPr>
              <a:t>Separate guest network, strong unique passphrase, firmware update, WPS off, then re-check and document.</a:t>
            </a:r>
          </a:p>
        </p:txBody>
      </p:sp>
      <p:sp>
        <p:nvSpPr>
          <p:cNvPr id="355" name="Safety note"/>
          <p:cNvSpPr/>
          <p:nvPr/>
        </p:nvSpPr>
        <p:spPr>
          <a:xfrm>
            <a:off x="822960" y="5486400"/>
            <a:ext cx="10607040" cy="566928"/>
          </a:xfrm>
          <a:prstGeom prst="roundRect">
            <a:avLst>
              <a:gd name="adj" fmla="val 6000"/>
            </a:avLst>
          </a:prstGeom>
          <a:solidFill>
            <a:srgbClr val="EFE6F7"/>
          </a:solidFill>
          <a:ln>
            <a:noFill/>
          </a:ln>
        </p:spPr>
        <p:txBody>
          <a:bodyPr wrap="square" lIns="182880" tIns="36576" rIns="182880" bIns="36576" anchor="ctr" anchorCtr="0">
            <a:noAutofit/>
          </a:bodyPr>
          <a:lstStyle/>
          <a:p>
            <a:pPr marL="0" indent="0" algn="l">
              <a:lnSpc>
                <a:spcPct val="100000"/>
              </a:lnSpc>
              <a:spcBef>
                <a:spcPts val="0"/>
              </a:spcBef>
              <a:spcAft>
                <a:spcPts val="0"/>
              </a:spcAft>
              <a:buNone/>
            </a:pPr>
            <a:r>
              <a:rPr lang="en-IN" sz="1300" b="0" i="0" dirty="0">
                <a:solidFill>
                  <a:srgbClr val="2B2B2B"/>
                </a:solidFill>
                <a:latin typeface="Calibri"/>
                <a:cs typeface="Calibri"/>
              </a:rPr>
              <a:t>Safe by design: the example stops at configuration review and recommendations. No attack steps, no capturing of anyone’s credentials.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2b4099f15_0_15"/>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IN" sz="2600" b="1" dirty="0">
                <a:latin typeface="Bodoni"/>
                <a:ea typeface="Bodoni"/>
                <a:cs typeface="Bodoni"/>
                <a:sym typeface="Bodoni"/>
              </a:rPr>
              <a:t>Skills Gained</a:t>
            </a:r>
            <a:endParaRPr sz="3600" b="1">
              <a:latin typeface="Bodoni"/>
              <a:ea typeface="Bodoni"/>
              <a:cs typeface="Bodoni"/>
              <a:sym typeface="Bodoni"/>
            </a:endParaRPr>
          </a:p>
        </p:txBody>
      </p:sp>
      <p:sp>
        <p:nvSpPr>
          <p:cNvPr id="157" name="Google Shape;157;g382b4099f15_0_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58" name="Google Shape;158;g382b4099f15_0_15"/>
          <p:cNvSpPr txBox="1">
            <a:spLocks noGrp="1"/>
          </p:cNvSpPr>
          <p:nvPr>
            <p:ph type="ftr" idx="11"/>
          </p:nvPr>
        </p:nvSpPr>
        <p:spPr>
          <a:xfrm>
            <a:off x="4165600" y="6356351"/>
            <a:ext cx="4810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59" name="Google Shape;159;g382b4099f15_0_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pic>
        <p:nvPicPr>
          <p:cNvPr id="160" name="Google Shape;160;g382b4099f15_0_15" descr="A circular logo with a circle and a logo on it&#10;&#10;AI-generated content may be incorrect."/>
          <p:cNvPicPr preferRelativeResize="0"/>
          <p:nvPr/>
        </p:nvPicPr>
        <p:blipFill rotWithShape="1">
          <a:blip r:embed="rId2">
            <a:alphaModFix/>
          </a:blip>
          <a:srcRect/>
          <a:stretch/>
        </p:blipFill>
        <p:spPr>
          <a:xfrm>
            <a:off x="11136560" y="44624"/>
            <a:ext cx="980728" cy="980728"/>
          </a:xfrm>
          <a:prstGeom prst="rect">
            <a:avLst/>
          </a:prstGeom>
          <a:noFill/>
          <a:ln>
            <a:noFill/>
          </a:ln>
        </p:spPr>
      </p:pic>
      <p:grpSp>
        <p:nvGrpSpPr>
          <p:cNvPr id="161" name="Google Shape;161;g382b4099f15_0_15"/>
          <p:cNvGrpSpPr/>
          <p:nvPr/>
        </p:nvGrpSpPr>
        <p:grpSpPr>
          <a:xfrm>
            <a:off x="7300" y="2220"/>
            <a:ext cx="1443834" cy="6855900"/>
            <a:chOff x="7300" y="2220"/>
            <a:chExt cx="1443834" cy="6855900"/>
          </a:xfrm>
        </p:grpSpPr>
        <p:sp>
          <p:nvSpPr>
            <p:cNvPr id="162" name="Google Shape;162;g382b4099f15_0_15"/>
            <p:cNvSpPr/>
            <p:nvPr/>
          </p:nvSpPr>
          <p:spPr>
            <a:xfrm>
              <a:off x="7300" y="2220"/>
              <a:ext cx="425100" cy="685590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3" name="Google Shape;163;g382b4099f15_0_15" descr="A logo with a blue design&#10;&#10;AI-generated content may be incorrect."/>
            <p:cNvPicPr preferRelativeResize="0"/>
            <p:nvPr/>
          </p:nvPicPr>
          <p:blipFill rotWithShape="1">
            <a:blip r:embed="rId3">
              <a:alphaModFix/>
            </a:blip>
            <a:srcRect/>
            <a:stretch/>
          </p:blipFill>
          <p:spPr>
            <a:xfrm>
              <a:off x="524957" y="183372"/>
              <a:ext cx="926177" cy="841980"/>
            </a:xfrm>
            <a:prstGeom prst="rect">
              <a:avLst/>
            </a:prstGeom>
            <a:noFill/>
            <a:ln>
              <a:noFill/>
            </a:ln>
          </p:spPr>
        </p:pic>
      </p:grpSp>
      <p:sp>
        <p:nvSpPr>
          <p:cNvPr id="356" name="Technical knowledge"/>
          <p:cNvSpPr/>
          <p:nvPr/>
        </p:nvSpPr>
        <p:spPr>
          <a:xfrm>
            <a:off x="822960" y="1234440"/>
            <a:ext cx="3931920" cy="4206240"/>
          </a:xfrm>
          <a:prstGeom prst="roundRect">
            <a:avLst>
              <a:gd name="adj" fmla="val 6000"/>
            </a:avLst>
          </a:prstGeom>
          <a:solidFill>
            <a:srgbClr val="5A0886"/>
          </a:solidFill>
          <a:ln>
            <a:noFill/>
          </a:ln>
        </p:spPr>
        <p:txBody>
          <a:bodyPr wrap="square" lIns="201168" tIns="164592" rIns="182880" bIns="91440" anchor="t" anchorCtr="0">
            <a:noAutofit/>
          </a:bodyPr>
          <a:lstStyle/>
          <a:p>
            <a:pPr marL="0" indent="0" algn="l">
              <a:lnSpc>
                <a:spcPct val="100000"/>
              </a:lnSpc>
              <a:spcBef>
                <a:spcPts val="0"/>
              </a:spcBef>
              <a:spcAft>
                <a:spcPts val="0"/>
              </a:spcAft>
              <a:buNone/>
            </a:pPr>
            <a:r>
              <a:rPr lang="en-IN" sz="1800" b="1" i="0" dirty="0">
                <a:solidFill>
                  <a:srgbClr val="FFFFFF"/>
                </a:solidFill>
                <a:latin typeface="Calibri"/>
                <a:cs typeface="Calibri"/>
              </a:rPr>
              <a:t>Technical knowledge</a:t>
            </a:r>
          </a:p>
          <a:p>
            <a:pPr marL="228600" indent="-228600" algn="l">
              <a:lnSpc>
                <a:spcPct val="100000"/>
              </a:lnSpc>
              <a:spcBef>
                <a:spcPts val="700"/>
              </a:spcBef>
              <a:spcAft>
                <a:spcPts val="0"/>
              </a:spcAft>
              <a:buFont typeface="Arial"/>
              <a:buChar char="•"/>
            </a:pPr>
            <a:r>
              <a:rPr lang="en-IN" sz="1400" b="0" i="0" dirty="0">
                <a:solidFill>
                  <a:srgbClr val="FFFFFF"/>
                </a:solidFill>
                <a:latin typeface="Calibri"/>
                <a:cs typeface="Calibri"/>
              </a:rPr>
              <a:t>The scope, assess and report flow of an ethical hacking engagement</a:t>
            </a:r>
          </a:p>
          <a:p>
            <a:pPr marL="228600" indent="-228600" algn="l">
              <a:lnSpc>
                <a:spcPct val="100000"/>
              </a:lnSpc>
              <a:spcBef>
                <a:spcPts val="700"/>
              </a:spcBef>
              <a:spcAft>
                <a:spcPts val="0"/>
              </a:spcAft>
              <a:buFont typeface="Arial"/>
              <a:buChar char="•"/>
            </a:pPr>
            <a:r>
              <a:rPr lang="en-IN" sz="1400" b="0" i="0" dirty="0">
                <a:solidFill>
                  <a:srgbClr val="FFFFFF"/>
                </a:solidFill>
                <a:latin typeface="Calibri"/>
                <a:cs typeface="Calibri"/>
              </a:rPr>
              <a:t>Why wireless networks need their own testing attention</a:t>
            </a:r>
          </a:p>
          <a:p>
            <a:pPr marL="228600" indent="-228600" algn="l">
              <a:lnSpc>
                <a:spcPct val="100000"/>
              </a:lnSpc>
              <a:spcBef>
                <a:spcPts val="700"/>
              </a:spcBef>
              <a:spcAft>
                <a:spcPts val="0"/>
              </a:spcAft>
              <a:buFont typeface="Arial"/>
              <a:buChar char="•"/>
            </a:pPr>
            <a:r>
              <a:rPr lang="en-IN" sz="1400" b="0" i="0" dirty="0">
                <a:solidFill>
                  <a:srgbClr val="FFFFFF"/>
                </a:solidFill>
                <a:latin typeface="Calibri"/>
                <a:cs typeface="Calibri"/>
              </a:rPr>
              <a:t>What Kali Linux is and why testers use it</a:t>
            </a:r>
          </a:p>
          <a:p>
            <a:pPr marL="228600" indent="-228600" algn="l">
              <a:lnSpc>
                <a:spcPct val="100000"/>
              </a:lnSpc>
              <a:spcBef>
                <a:spcPts val="700"/>
              </a:spcBef>
              <a:spcAft>
                <a:spcPts val="0"/>
              </a:spcAft>
              <a:buFont typeface="Arial"/>
              <a:buChar char="•"/>
            </a:pPr>
            <a:r>
              <a:rPr lang="en-IN" sz="1400" b="0" i="0" dirty="0">
                <a:solidFill>
                  <a:srgbClr val="FFFFFF"/>
                </a:solidFill>
                <a:latin typeface="Calibri"/>
                <a:cs typeface="Calibri"/>
              </a:rPr>
              <a:t>Security vocabulary I can now follow without constant look-ups</a:t>
            </a:r>
          </a:p>
        </p:txBody>
      </p:sp>
      <p:sp>
        <p:nvSpPr>
          <p:cNvPr id="357" name="Skill: Analytical thinking"/>
          <p:cNvSpPr/>
          <p:nvPr/>
        </p:nvSpPr>
        <p:spPr>
          <a:xfrm>
            <a:off x="4983480" y="1234440"/>
            <a:ext cx="3154680" cy="1325880"/>
          </a:xfrm>
          <a:prstGeom prst="roundRect">
            <a:avLst>
              <a:gd name="adj" fmla="val 6000"/>
            </a:avLst>
          </a:prstGeom>
          <a:solidFill>
            <a:srgbClr val="FFFFFF"/>
          </a:solidFill>
          <a:ln w="12700">
            <a:solidFill>
              <a:srgbClr val="CDB6E0"/>
            </a:solidFill>
          </a:ln>
        </p:spPr>
        <p:txBody>
          <a:bodyPr wrap="square" lIns="137160" tIns="91440" rIns="109728" bIns="54864" anchor="t" anchorCtr="0">
            <a:noAutofit/>
          </a:bodyPr>
          <a:lstStyle/>
          <a:p>
            <a:pPr marL="0" indent="0" algn="l">
              <a:lnSpc>
                <a:spcPct val="100000"/>
              </a:lnSpc>
              <a:spcBef>
                <a:spcPts val="0"/>
              </a:spcBef>
              <a:spcAft>
                <a:spcPts val="0"/>
              </a:spcAft>
              <a:buNone/>
            </a:pPr>
            <a:r>
              <a:rPr lang="en-IN" sz="1500" b="1" i="0" dirty="0">
                <a:solidFill>
                  <a:srgbClr val="5A0886"/>
                </a:solidFill>
                <a:latin typeface="Calibri"/>
                <a:cs typeface="Calibri"/>
              </a:rPr>
              <a:t>Analytical thinking</a:t>
            </a:r>
          </a:p>
          <a:p>
            <a:pPr marL="0" indent="0" algn="l">
              <a:lnSpc>
                <a:spcPct val="100000"/>
              </a:lnSpc>
              <a:spcBef>
                <a:spcPts val="300"/>
              </a:spcBef>
              <a:spcAft>
                <a:spcPts val="0"/>
              </a:spcAft>
              <a:buNone/>
            </a:pPr>
            <a:r>
              <a:rPr lang="en-IN" sz="1300" b="0" i="0" dirty="0">
                <a:solidFill>
                  <a:srgbClr val="2B2B2B"/>
                </a:solidFill>
                <a:latin typeface="Calibri"/>
                <a:cs typeface="Calibri"/>
              </a:rPr>
              <a:t>Asking what could go wrong, then checking the evidence</a:t>
            </a:r>
          </a:p>
        </p:txBody>
      </p:sp>
      <p:sp>
        <p:nvSpPr>
          <p:cNvPr id="358" name="Skill: Self-learning"/>
          <p:cNvSpPr/>
          <p:nvPr/>
        </p:nvSpPr>
        <p:spPr>
          <a:xfrm>
            <a:off x="8275320" y="1234440"/>
            <a:ext cx="3154680" cy="1325880"/>
          </a:xfrm>
          <a:prstGeom prst="roundRect">
            <a:avLst>
              <a:gd name="adj" fmla="val 6000"/>
            </a:avLst>
          </a:prstGeom>
          <a:solidFill>
            <a:srgbClr val="FFFFFF"/>
          </a:solidFill>
          <a:ln w="12700">
            <a:solidFill>
              <a:srgbClr val="CDB6E0"/>
            </a:solidFill>
          </a:ln>
        </p:spPr>
        <p:txBody>
          <a:bodyPr wrap="square" lIns="137160" tIns="91440" rIns="109728" bIns="54864" anchor="t" anchorCtr="0">
            <a:noAutofit/>
          </a:bodyPr>
          <a:lstStyle/>
          <a:p>
            <a:pPr marL="0" indent="0" algn="l">
              <a:lnSpc>
                <a:spcPct val="100000"/>
              </a:lnSpc>
              <a:spcBef>
                <a:spcPts val="0"/>
              </a:spcBef>
              <a:spcAft>
                <a:spcPts val="0"/>
              </a:spcAft>
              <a:buNone/>
            </a:pPr>
            <a:r>
              <a:rPr lang="en-IN" sz="1500" b="1" i="0" dirty="0">
                <a:solidFill>
                  <a:srgbClr val="5A0886"/>
                </a:solidFill>
                <a:latin typeface="Calibri"/>
                <a:cs typeface="Calibri"/>
              </a:rPr>
              <a:t>Self-learning</a:t>
            </a:r>
          </a:p>
          <a:p>
            <a:pPr marL="0" indent="0" algn="l">
              <a:lnSpc>
                <a:spcPct val="100000"/>
              </a:lnSpc>
              <a:spcBef>
                <a:spcPts val="300"/>
              </a:spcBef>
              <a:spcAft>
                <a:spcPts val="0"/>
              </a:spcAft>
              <a:buNone/>
            </a:pPr>
            <a:r>
              <a:rPr lang="en-IN" sz="1300" b="0" i="0" dirty="0">
                <a:solidFill>
                  <a:srgbClr val="2B2B2B"/>
                </a:solidFill>
                <a:latin typeface="Calibri"/>
                <a:cs typeface="Calibri"/>
              </a:rPr>
              <a:t>Planning my own study and finishing two courses</a:t>
            </a:r>
          </a:p>
        </p:txBody>
      </p:sp>
      <p:sp>
        <p:nvSpPr>
          <p:cNvPr id="359" name="Skill: Communication"/>
          <p:cNvSpPr/>
          <p:nvPr/>
        </p:nvSpPr>
        <p:spPr>
          <a:xfrm>
            <a:off x="4983480" y="2670048"/>
            <a:ext cx="3154680" cy="1325880"/>
          </a:xfrm>
          <a:prstGeom prst="roundRect">
            <a:avLst>
              <a:gd name="adj" fmla="val 6000"/>
            </a:avLst>
          </a:prstGeom>
          <a:solidFill>
            <a:srgbClr val="FFFFFF"/>
          </a:solidFill>
          <a:ln w="12700">
            <a:solidFill>
              <a:srgbClr val="CDB6E0"/>
            </a:solidFill>
          </a:ln>
        </p:spPr>
        <p:txBody>
          <a:bodyPr wrap="square" lIns="137160" tIns="91440" rIns="109728" bIns="54864" anchor="t" anchorCtr="0">
            <a:noAutofit/>
          </a:bodyPr>
          <a:lstStyle/>
          <a:p>
            <a:pPr marL="0" indent="0" algn="l">
              <a:lnSpc>
                <a:spcPct val="100000"/>
              </a:lnSpc>
              <a:spcBef>
                <a:spcPts val="0"/>
              </a:spcBef>
              <a:spcAft>
                <a:spcPts val="0"/>
              </a:spcAft>
              <a:buNone/>
            </a:pPr>
            <a:r>
              <a:rPr lang="en-IN" sz="1500" b="1" i="0" dirty="0">
                <a:solidFill>
                  <a:srgbClr val="5A0886"/>
                </a:solidFill>
                <a:latin typeface="Calibri"/>
                <a:cs typeface="Calibri"/>
              </a:rPr>
              <a:t>Communication</a:t>
            </a:r>
          </a:p>
          <a:p>
            <a:pPr marL="0" indent="0" algn="l">
              <a:lnSpc>
                <a:spcPct val="100000"/>
              </a:lnSpc>
              <a:spcBef>
                <a:spcPts val="300"/>
              </a:spcBef>
              <a:spcAft>
                <a:spcPts val="0"/>
              </a:spcAft>
              <a:buNone/>
            </a:pPr>
            <a:r>
              <a:rPr lang="en-IN" sz="1300" b="0" i="0" dirty="0">
                <a:solidFill>
                  <a:srgbClr val="2B2B2B"/>
                </a:solidFill>
                <a:latin typeface="Calibri"/>
                <a:cs typeface="Calibri"/>
              </a:rPr>
              <a:t>Explaining technical ideas plainly in this reflection and video</a:t>
            </a:r>
          </a:p>
        </p:txBody>
      </p:sp>
      <p:sp>
        <p:nvSpPr>
          <p:cNvPr id="360" name="Skill: Documentation"/>
          <p:cNvSpPr/>
          <p:nvPr/>
        </p:nvSpPr>
        <p:spPr>
          <a:xfrm>
            <a:off x="8275320" y="2670048"/>
            <a:ext cx="3154680" cy="1325880"/>
          </a:xfrm>
          <a:prstGeom prst="roundRect">
            <a:avLst>
              <a:gd name="adj" fmla="val 6000"/>
            </a:avLst>
          </a:prstGeom>
          <a:solidFill>
            <a:srgbClr val="FFFFFF"/>
          </a:solidFill>
          <a:ln w="12700">
            <a:solidFill>
              <a:srgbClr val="CDB6E0"/>
            </a:solidFill>
          </a:ln>
        </p:spPr>
        <p:txBody>
          <a:bodyPr wrap="square" lIns="137160" tIns="91440" rIns="109728" bIns="54864" anchor="t" anchorCtr="0">
            <a:noAutofit/>
          </a:bodyPr>
          <a:lstStyle/>
          <a:p>
            <a:pPr marL="0" indent="0" algn="l">
              <a:lnSpc>
                <a:spcPct val="100000"/>
              </a:lnSpc>
              <a:spcBef>
                <a:spcPts val="0"/>
              </a:spcBef>
              <a:spcAft>
                <a:spcPts val="0"/>
              </a:spcAft>
              <a:buNone/>
            </a:pPr>
            <a:r>
              <a:rPr lang="en-IN" sz="1500" b="1" i="0" dirty="0">
                <a:solidFill>
                  <a:srgbClr val="5A0886"/>
                </a:solidFill>
                <a:latin typeface="Calibri"/>
                <a:cs typeface="Calibri"/>
              </a:rPr>
              <a:t>Documentation</a:t>
            </a:r>
          </a:p>
          <a:p>
            <a:pPr marL="0" indent="0" algn="l">
              <a:lnSpc>
                <a:spcPct val="100000"/>
              </a:lnSpc>
              <a:spcBef>
                <a:spcPts val="300"/>
              </a:spcBef>
              <a:spcAft>
                <a:spcPts val="0"/>
              </a:spcAft>
              <a:buNone/>
            </a:pPr>
            <a:r>
              <a:rPr lang="en-IN" sz="1300" b="0" i="0" dirty="0">
                <a:solidFill>
                  <a:srgbClr val="2B2B2B"/>
                </a:solidFill>
                <a:latin typeface="Calibri"/>
                <a:cs typeface="Calibri"/>
              </a:rPr>
              <a:t>Stating a finding, its risk and the fix clearly</a:t>
            </a:r>
          </a:p>
        </p:txBody>
      </p:sp>
      <p:sp>
        <p:nvSpPr>
          <p:cNvPr id="361" name="Skill: Ethical responsibility"/>
          <p:cNvSpPr/>
          <p:nvPr/>
        </p:nvSpPr>
        <p:spPr>
          <a:xfrm>
            <a:off x="4983480" y="4105656"/>
            <a:ext cx="3154680" cy="1325880"/>
          </a:xfrm>
          <a:prstGeom prst="roundRect">
            <a:avLst>
              <a:gd name="adj" fmla="val 6000"/>
            </a:avLst>
          </a:prstGeom>
          <a:solidFill>
            <a:srgbClr val="FFFFFF"/>
          </a:solidFill>
          <a:ln w="12700">
            <a:solidFill>
              <a:srgbClr val="CDB6E0"/>
            </a:solidFill>
          </a:ln>
        </p:spPr>
        <p:txBody>
          <a:bodyPr wrap="square" lIns="137160" tIns="91440" rIns="109728" bIns="54864" anchor="t" anchorCtr="0">
            <a:noAutofit/>
          </a:bodyPr>
          <a:lstStyle/>
          <a:p>
            <a:pPr marL="0" indent="0" algn="l">
              <a:lnSpc>
                <a:spcPct val="100000"/>
              </a:lnSpc>
              <a:spcBef>
                <a:spcPts val="0"/>
              </a:spcBef>
              <a:spcAft>
                <a:spcPts val="0"/>
              </a:spcAft>
              <a:buNone/>
            </a:pPr>
            <a:r>
              <a:rPr lang="en-IN" sz="1500" b="1" i="0" dirty="0">
                <a:solidFill>
                  <a:srgbClr val="5A0886"/>
                </a:solidFill>
                <a:latin typeface="Calibri"/>
                <a:cs typeface="Calibri"/>
              </a:rPr>
              <a:t>Ethical responsibility</a:t>
            </a:r>
          </a:p>
          <a:p>
            <a:pPr marL="0" indent="0" algn="l">
              <a:lnSpc>
                <a:spcPct val="100000"/>
              </a:lnSpc>
              <a:spcBef>
                <a:spcPts val="300"/>
              </a:spcBef>
              <a:spcAft>
                <a:spcPts val="0"/>
              </a:spcAft>
              <a:buNone/>
            </a:pPr>
            <a:r>
              <a:rPr lang="en-IN" sz="1300" b="0" i="0" dirty="0">
                <a:solidFill>
                  <a:srgbClr val="2B2B2B"/>
                </a:solidFill>
                <a:latin typeface="Calibri"/>
                <a:cs typeface="Calibri"/>
              </a:rPr>
              <a:t>Permission and scope come before any testing</a:t>
            </a:r>
          </a:p>
        </p:txBody>
      </p:sp>
      <p:sp>
        <p:nvSpPr>
          <p:cNvPr id="362" name="Skill: Professional growth"/>
          <p:cNvSpPr/>
          <p:nvPr/>
        </p:nvSpPr>
        <p:spPr>
          <a:xfrm>
            <a:off x="8275320" y="4105656"/>
            <a:ext cx="3154680" cy="1325880"/>
          </a:xfrm>
          <a:prstGeom prst="roundRect">
            <a:avLst>
              <a:gd name="adj" fmla="val 6000"/>
            </a:avLst>
          </a:prstGeom>
          <a:solidFill>
            <a:srgbClr val="FFFFFF"/>
          </a:solidFill>
          <a:ln w="12700">
            <a:solidFill>
              <a:srgbClr val="CDB6E0"/>
            </a:solidFill>
          </a:ln>
        </p:spPr>
        <p:txBody>
          <a:bodyPr wrap="square" lIns="137160" tIns="91440" rIns="109728" bIns="54864" anchor="t" anchorCtr="0">
            <a:noAutofit/>
          </a:bodyPr>
          <a:lstStyle/>
          <a:p>
            <a:pPr marL="0" indent="0" algn="l">
              <a:lnSpc>
                <a:spcPct val="100000"/>
              </a:lnSpc>
              <a:spcBef>
                <a:spcPts val="0"/>
              </a:spcBef>
              <a:spcAft>
                <a:spcPts val="0"/>
              </a:spcAft>
              <a:buNone/>
            </a:pPr>
            <a:r>
              <a:rPr lang="en-IN" sz="1500" b="1" i="0" dirty="0">
                <a:solidFill>
                  <a:srgbClr val="5A0886"/>
                </a:solidFill>
                <a:latin typeface="Calibri"/>
                <a:cs typeface="Calibri"/>
              </a:rPr>
              <a:t>Professional growth</a:t>
            </a:r>
          </a:p>
          <a:p>
            <a:pPr marL="0" indent="0" algn="l">
              <a:lnSpc>
                <a:spcPct val="100000"/>
              </a:lnSpc>
              <a:spcBef>
                <a:spcPts val="300"/>
              </a:spcBef>
              <a:spcAft>
                <a:spcPts val="0"/>
              </a:spcAft>
              <a:buNone/>
            </a:pPr>
            <a:r>
              <a:rPr lang="en-IN" sz="1300" b="0" i="0" dirty="0">
                <a:solidFill>
                  <a:srgbClr val="2B2B2B"/>
                </a:solidFill>
                <a:latin typeface="Calibri"/>
                <a:cs typeface="Calibri"/>
              </a:rPr>
              <a:t>Verified certificates and concrete points to discuss</a:t>
            </a:r>
          </a:p>
        </p:txBody>
      </p:sp>
      <p:sp>
        <p:nvSpPr>
          <p:cNvPr id="363" name="Skills caveat"/>
          <p:cNvSpPr/>
          <p:nvPr/>
        </p:nvSpPr>
        <p:spPr>
          <a:xfrm>
            <a:off x="822960" y="5577840"/>
            <a:ext cx="10607040" cy="502920"/>
          </a:xfrm>
          <a:prstGeom prst="roundRect">
            <a:avLst>
              <a:gd name="adj" fmla="val 6000"/>
            </a:avLst>
          </a:prstGeom>
          <a:solidFill>
            <a:srgbClr val="FFF3D1"/>
          </a:solidFill>
          <a:ln>
            <a:noFill/>
          </a:ln>
        </p:spPr>
        <p:txBody>
          <a:bodyPr wrap="square" lIns="182880" tIns="36576" rIns="182880" bIns="36576" anchor="ctr" anchorCtr="0">
            <a:noAutofit/>
          </a:bodyPr>
          <a:lstStyle/>
          <a:p>
            <a:pPr marL="0" indent="0" algn="l">
              <a:lnSpc>
                <a:spcPct val="100000"/>
              </a:lnSpc>
              <a:spcBef>
                <a:spcPts val="0"/>
              </a:spcBef>
              <a:spcAft>
                <a:spcPts val="0"/>
              </a:spcAft>
              <a:buNone/>
            </a:pPr>
            <a:r>
              <a:rPr lang="en-IN" sz="1300" b="1" i="0" dirty="0">
                <a:solidFill>
                  <a:srgbClr val="5A3E00"/>
                </a:solidFill>
                <a:latin typeface="Calibri"/>
                <a:cs typeface="Calibri"/>
              </a:rPr>
              <a:t>Course completion shows foundation-level understanding. It is not professional expertise, and I treat it that way.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2b4099f15_0_15"/>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IN" sz="2600" b="1" dirty="0">
                <a:latin typeface="Bodoni"/>
                <a:ea typeface="Bodoni"/>
                <a:cs typeface="Bodoni"/>
                <a:sym typeface="Bodoni"/>
              </a:rPr>
              <a:t>Challenges and How I Addressed Them</a:t>
            </a:r>
            <a:endParaRPr sz="3600" b="1">
              <a:latin typeface="Bodoni"/>
              <a:ea typeface="Bodoni"/>
              <a:cs typeface="Bodoni"/>
              <a:sym typeface="Bodoni"/>
            </a:endParaRPr>
          </a:p>
        </p:txBody>
      </p:sp>
      <p:sp>
        <p:nvSpPr>
          <p:cNvPr id="157" name="Google Shape;157;g382b4099f15_0_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58" name="Google Shape;158;g382b4099f15_0_15"/>
          <p:cNvSpPr txBox="1">
            <a:spLocks noGrp="1"/>
          </p:cNvSpPr>
          <p:nvPr>
            <p:ph type="ftr" idx="11"/>
          </p:nvPr>
        </p:nvSpPr>
        <p:spPr>
          <a:xfrm>
            <a:off x="4165600" y="6356351"/>
            <a:ext cx="4810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59" name="Google Shape;159;g382b4099f15_0_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pic>
        <p:nvPicPr>
          <p:cNvPr id="160" name="Google Shape;160;g382b4099f15_0_15" descr="A circular logo with a circle and a logo on it&#10;&#10;AI-generated content may be incorrect."/>
          <p:cNvPicPr preferRelativeResize="0"/>
          <p:nvPr/>
        </p:nvPicPr>
        <p:blipFill rotWithShape="1">
          <a:blip r:embed="rId2">
            <a:alphaModFix/>
          </a:blip>
          <a:srcRect/>
          <a:stretch/>
        </p:blipFill>
        <p:spPr>
          <a:xfrm>
            <a:off x="11136560" y="44624"/>
            <a:ext cx="980728" cy="980728"/>
          </a:xfrm>
          <a:prstGeom prst="rect">
            <a:avLst/>
          </a:prstGeom>
          <a:noFill/>
          <a:ln>
            <a:noFill/>
          </a:ln>
        </p:spPr>
      </p:pic>
      <p:grpSp>
        <p:nvGrpSpPr>
          <p:cNvPr id="161" name="Google Shape;161;g382b4099f15_0_15"/>
          <p:cNvGrpSpPr/>
          <p:nvPr/>
        </p:nvGrpSpPr>
        <p:grpSpPr>
          <a:xfrm>
            <a:off x="7300" y="2220"/>
            <a:ext cx="1443834" cy="6855900"/>
            <a:chOff x="7300" y="2220"/>
            <a:chExt cx="1443834" cy="6855900"/>
          </a:xfrm>
        </p:grpSpPr>
        <p:sp>
          <p:nvSpPr>
            <p:cNvPr id="162" name="Google Shape;162;g382b4099f15_0_15"/>
            <p:cNvSpPr/>
            <p:nvPr/>
          </p:nvSpPr>
          <p:spPr>
            <a:xfrm>
              <a:off x="7300" y="2220"/>
              <a:ext cx="425100" cy="685590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3" name="Google Shape;163;g382b4099f15_0_15" descr="A logo with a blue design&#10;&#10;AI-generated content may be incorrect."/>
            <p:cNvPicPr preferRelativeResize="0"/>
            <p:nvPr/>
          </p:nvPicPr>
          <p:blipFill rotWithShape="1">
            <a:blip r:embed="rId3">
              <a:alphaModFix/>
            </a:blip>
            <a:srcRect/>
            <a:stretch/>
          </p:blipFill>
          <p:spPr>
            <a:xfrm>
              <a:off x="524957" y="183372"/>
              <a:ext cx="926177" cy="841980"/>
            </a:xfrm>
            <a:prstGeom prst="rect">
              <a:avLst/>
            </a:prstGeom>
            <a:noFill/>
            <a:ln>
              <a:noFill/>
            </a:ln>
          </p:spPr>
        </p:pic>
      </p:grpSp>
      <p:sp>
        <p:nvSpPr>
          <p:cNvPr id="364" name="Header challenge"/>
          <p:cNvSpPr/>
          <p:nvPr/>
        </p:nvSpPr>
        <p:spPr>
          <a:xfrm>
            <a:off x="822960" y="1188720"/>
            <a:ext cx="4206240" cy="32004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IN" sz="1400" b="1" i="0" dirty="0">
                <a:solidFill>
                  <a:srgbClr val="555555"/>
                </a:solidFill>
                <a:latin typeface="Calibri"/>
                <a:cs typeface="Calibri"/>
              </a:rPr>
              <a:t>Learning challenge</a:t>
            </a:r>
          </a:p>
        </p:txBody>
      </p:sp>
      <p:sp>
        <p:nvSpPr>
          <p:cNvPr id="365" name="Header approach"/>
          <p:cNvSpPr/>
          <p:nvPr/>
        </p:nvSpPr>
        <p:spPr>
          <a:xfrm>
            <a:off x="5806440" y="1188720"/>
            <a:ext cx="5577840" cy="32004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IN" sz="1400" b="1" i="0" dirty="0">
                <a:solidFill>
                  <a:srgbClr val="555555"/>
                </a:solidFill>
                <a:latin typeface="Calibri"/>
                <a:cs typeface="Calibri"/>
              </a:rPr>
              <a:t>Learning approach</a:t>
            </a:r>
          </a:p>
        </p:txBody>
      </p:sp>
      <p:sp>
        <p:nvSpPr>
          <p:cNvPr id="366" name="Challenge 1"/>
          <p:cNvSpPr/>
          <p:nvPr/>
        </p:nvSpPr>
        <p:spPr>
          <a:xfrm>
            <a:off x="822960" y="1554480"/>
            <a:ext cx="4206240" cy="841248"/>
          </a:xfrm>
          <a:prstGeom prst="roundRect">
            <a:avLst>
              <a:gd name="adj" fmla="val 6000"/>
            </a:avLst>
          </a:prstGeom>
          <a:solidFill>
            <a:srgbClr val="EFE6F7"/>
          </a:solidFill>
          <a:ln>
            <a:noFill/>
          </a:ln>
        </p:spPr>
        <p:txBody>
          <a:bodyPr wrap="square" lIns="182880" tIns="45720" rIns="137160" bIns="45720" anchor="ctr" anchorCtr="0">
            <a:noAutofit/>
          </a:bodyPr>
          <a:lstStyle/>
          <a:p>
            <a:pPr marL="0" indent="0" algn="l">
              <a:lnSpc>
                <a:spcPct val="100000"/>
              </a:lnSpc>
              <a:spcBef>
                <a:spcPts val="0"/>
              </a:spcBef>
              <a:spcAft>
                <a:spcPts val="0"/>
              </a:spcAft>
              <a:buNone/>
            </a:pPr>
            <a:r>
              <a:rPr lang="en-IN" sz="1500" b="1" i="0" dirty="0">
                <a:solidFill>
                  <a:srgbClr val="5A0886"/>
                </a:solidFill>
                <a:latin typeface="Calibri"/>
                <a:cs typeface="Calibri"/>
              </a:rPr>
              <a:t>Unfamiliar terminology</a:t>
            </a:r>
          </a:p>
        </p:txBody>
      </p:sp>
      <p:sp>
        <p:nvSpPr>
          <p:cNvPr id="367" name="Arrow 1"/>
          <p:cNvSpPr/>
          <p:nvPr/>
        </p:nvSpPr>
        <p:spPr>
          <a:xfrm>
            <a:off x="5138928" y="1801368"/>
            <a:ext cx="502920" cy="347472"/>
          </a:xfrm>
          <a:prstGeom prst="rightArrow">
            <a:avLst/>
          </a:prstGeom>
          <a:solidFill>
            <a:srgbClr val="5A0886"/>
          </a:solidFill>
          <a:ln>
            <a:noFill/>
          </a:ln>
        </p:spPr>
        <p:txBody>
          <a:bodyPr wrap="square" lIns="109728" tIns="54864" rIns="109728" bIns="54864" anchor="ctr" anchorCtr="0">
            <a:noAutofit/>
          </a:bodyPr>
          <a:lstStyle/>
          <a:p>
            <a:endParaRPr lang="en-IN"/>
          </a:p>
        </p:txBody>
      </p:sp>
      <p:sp>
        <p:nvSpPr>
          <p:cNvPr id="368" name="Approach 1"/>
          <p:cNvSpPr/>
          <p:nvPr/>
        </p:nvSpPr>
        <p:spPr>
          <a:xfrm>
            <a:off x="5806440" y="1554480"/>
            <a:ext cx="5623560" cy="841248"/>
          </a:xfrm>
          <a:prstGeom prst="roundRect">
            <a:avLst>
              <a:gd name="adj" fmla="val 6000"/>
            </a:avLst>
          </a:prstGeom>
          <a:solidFill>
            <a:srgbClr val="FFFFFF"/>
          </a:solidFill>
          <a:ln w="12700">
            <a:solidFill>
              <a:srgbClr val="CDB6E0"/>
            </a:solidFill>
          </a:ln>
        </p:spPr>
        <p:txBody>
          <a:bodyPr wrap="square" lIns="182880" tIns="45720" rIns="137160" bIns="45720" anchor="ctr" anchorCtr="0">
            <a:noAutofit/>
          </a:bodyPr>
          <a:lstStyle/>
          <a:p>
            <a:pPr marL="0" indent="0" algn="l">
              <a:lnSpc>
                <a:spcPct val="100000"/>
              </a:lnSpc>
              <a:spcBef>
                <a:spcPts val="0"/>
              </a:spcBef>
              <a:spcAft>
                <a:spcPts val="0"/>
              </a:spcAft>
              <a:buNone/>
            </a:pPr>
            <a:r>
              <a:rPr lang="en-IN" sz="1400" b="0" i="0" dirty="0">
                <a:solidFill>
                  <a:srgbClr val="2B2B2B"/>
                </a:solidFill>
                <a:latin typeface="Calibri"/>
                <a:cs typeface="Calibri"/>
              </a:rPr>
              <a:t>Look each term up, then explain it back in my own words</a:t>
            </a:r>
          </a:p>
        </p:txBody>
      </p:sp>
      <p:sp>
        <p:nvSpPr>
          <p:cNvPr id="369" name="Challenge 2"/>
          <p:cNvSpPr/>
          <p:nvPr/>
        </p:nvSpPr>
        <p:spPr>
          <a:xfrm>
            <a:off x="822960" y="2532888"/>
            <a:ext cx="4206240" cy="841248"/>
          </a:xfrm>
          <a:prstGeom prst="roundRect">
            <a:avLst>
              <a:gd name="adj" fmla="val 6000"/>
            </a:avLst>
          </a:prstGeom>
          <a:solidFill>
            <a:srgbClr val="EFE6F7"/>
          </a:solidFill>
          <a:ln>
            <a:noFill/>
          </a:ln>
        </p:spPr>
        <p:txBody>
          <a:bodyPr wrap="square" lIns="182880" tIns="45720" rIns="137160" bIns="45720" anchor="ctr" anchorCtr="0">
            <a:noAutofit/>
          </a:bodyPr>
          <a:lstStyle/>
          <a:p>
            <a:pPr marL="0" indent="0" algn="l">
              <a:lnSpc>
                <a:spcPct val="100000"/>
              </a:lnSpc>
              <a:spcBef>
                <a:spcPts val="0"/>
              </a:spcBef>
              <a:spcAft>
                <a:spcPts val="0"/>
              </a:spcAft>
              <a:buNone/>
            </a:pPr>
            <a:r>
              <a:rPr lang="en-IN" sz="1500" b="1" i="0" dirty="0">
                <a:solidFill>
                  <a:srgbClr val="5A0886"/>
                </a:solidFill>
                <a:latin typeface="Calibri"/>
                <a:cs typeface="Calibri"/>
              </a:rPr>
              <a:t>Linking two courses</a:t>
            </a:r>
          </a:p>
        </p:txBody>
      </p:sp>
      <p:sp>
        <p:nvSpPr>
          <p:cNvPr id="370" name="Arrow 2"/>
          <p:cNvSpPr/>
          <p:nvPr/>
        </p:nvSpPr>
        <p:spPr>
          <a:xfrm>
            <a:off x="5138928" y="2779776"/>
            <a:ext cx="502920" cy="347472"/>
          </a:xfrm>
          <a:prstGeom prst="rightArrow">
            <a:avLst/>
          </a:prstGeom>
          <a:solidFill>
            <a:srgbClr val="5A0886"/>
          </a:solidFill>
          <a:ln>
            <a:noFill/>
          </a:ln>
        </p:spPr>
        <p:txBody>
          <a:bodyPr wrap="square" lIns="109728" tIns="54864" rIns="109728" bIns="54864" anchor="ctr" anchorCtr="0">
            <a:noAutofit/>
          </a:bodyPr>
          <a:lstStyle/>
          <a:p>
            <a:endParaRPr lang="en-IN"/>
          </a:p>
        </p:txBody>
      </p:sp>
      <p:sp>
        <p:nvSpPr>
          <p:cNvPr id="371" name="Approach 2"/>
          <p:cNvSpPr/>
          <p:nvPr/>
        </p:nvSpPr>
        <p:spPr>
          <a:xfrm>
            <a:off x="5806440" y="2532888"/>
            <a:ext cx="5623560" cy="841248"/>
          </a:xfrm>
          <a:prstGeom prst="roundRect">
            <a:avLst>
              <a:gd name="adj" fmla="val 6000"/>
            </a:avLst>
          </a:prstGeom>
          <a:solidFill>
            <a:srgbClr val="FFFFFF"/>
          </a:solidFill>
          <a:ln w="12700">
            <a:solidFill>
              <a:srgbClr val="CDB6E0"/>
            </a:solidFill>
          </a:ln>
        </p:spPr>
        <p:txBody>
          <a:bodyPr wrap="square" lIns="182880" tIns="45720" rIns="137160" bIns="45720" anchor="ctr" anchorCtr="0">
            <a:noAutofit/>
          </a:bodyPr>
          <a:lstStyle/>
          <a:p>
            <a:pPr marL="0" indent="0" algn="l">
              <a:lnSpc>
                <a:spcPct val="100000"/>
              </a:lnSpc>
              <a:spcBef>
                <a:spcPts val="0"/>
              </a:spcBef>
              <a:spcAft>
                <a:spcPts val="0"/>
              </a:spcAft>
              <a:buNone/>
            </a:pPr>
            <a:r>
              <a:rPr lang="en-IN" sz="1400" b="0" i="0" dirty="0">
                <a:solidFill>
                  <a:srgbClr val="2B2B2B"/>
                </a:solidFill>
                <a:latin typeface="Calibri"/>
                <a:cs typeface="Calibri"/>
              </a:rPr>
              <a:t>Map the shared stages (scope, assess, report) onto the wireless topics</a:t>
            </a:r>
          </a:p>
        </p:txBody>
      </p:sp>
      <p:sp>
        <p:nvSpPr>
          <p:cNvPr id="372" name="Challenge 3"/>
          <p:cNvSpPr/>
          <p:nvPr/>
        </p:nvSpPr>
        <p:spPr>
          <a:xfrm>
            <a:off x="822960" y="3511296"/>
            <a:ext cx="4206240" cy="841248"/>
          </a:xfrm>
          <a:prstGeom prst="roundRect">
            <a:avLst>
              <a:gd name="adj" fmla="val 6000"/>
            </a:avLst>
          </a:prstGeom>
          <a:solidFill>
            <a:srgbClr val="EFE6F7"/>
          </a:solidFill>
          <a:ln>
            <a:noFill/>
          </a:ln>
        </p:spPr>
        <p:txBody>
          <a:bodyPr wrap="square" lIns="182880" tIns="45720" rIns="137160" bIns="45720" anchor="ctr" anchorCtr="0">
            <a:noAutofit/>
          </a:bodyPr>
          <a:lstStyle/>
          <a:p>
            <a:pPr marL="0" indent="0" algn="l">
              <a:lnSpc>
                <a:spcPct val="100000"/>
              </a:lnSpc>
              <a:spcBef>
                <a:spcPts val="0"/>
              </a:spcBef>
              <a:spcAft>
                <a:spcPts val="0"/>
              </a:spcAft>
              <a:buNone/>
            </a:pPr>
            <a:r>
              <a:rPr lang="en-IN" sz="1500" b="1" i="0" dirty="0">
                <a:solidFill>
                  <a:srgbClr val="5A0886"/>
                </a:solidFill>
                <a:latin typeface="Calibri"/>
                <a:cs typeface="Calibri"/>
              </a:rPr>
              <a:t>Knowing if I really understood</a:t>
            </a:r>
          </a:p>
        </p:txBody>
      </p:sp>
      <p:sp>
        <p:nvSpPr>
          <p:cNvPr id="373" name="Arrow 3"/>
          <p:cNvSpPr/>
          <p:nvPr/>
        </p:nvSpPr>
        <p:spPr>
          <a:xfrm>
            <a:off x="5138928" y="3758184"/>
            <a:ext cx="502920" cy="347472"/>
          </a:xfrm>
          <a:prstGeom prst="rightArrow">
            <a:avLst/>
          </a:prstGeom>
          <a:solidFill>
            <a:srgbClr val="5A0886"/>
          </a:solidFill>
          <a:ln>
            <a:noFill/>
          </a:ln>
        </p:spPr>
        <p:txBody>
          <a:bodyPr wrap="square" lIns="109728" tIns="54864" rIns="109728" bIns="54864" anchor="ctr" anchorCtr="0">
            <a:noAutofit/>
          </a:bodyPr>
          <a:lstStyle/>
          <a:p>
            <a:endParaRPr lang="en-IN"/>
          </a:p>
        </p:txBody>
      </p:sp>
      <p:sp>
        <p:nvSpPr>
          <p:cNvPr id="374" name="Approach 3"/>
          <p:cNvSpPr/>
          <p:nvPr/>
        </p:nvSpPr>
        <p:spPr>
          <a:xfrm>
            <a:off x="5806440" y="3511296"/>
            <a:ext cx="5623560" cy="841248"/>
          </a:xfrm>
          <a:prstGeom prst="roundRect">
            <a:avLst>
              <a:gd name="adj" fmla="val 6000"/>
            </a:avLst>
          </a:prstGeom>
          <a:solidFill>
            <a:srgbClr val="FFFFFF"/>
          </a:solidFill>
          <a:ln w="12700">
            <a:solidFill>
              <a:srgbClr val="CDB6E0"/>
            </a:solidFill>
          </a:ln>
        </p:spPr>
        <p:txBody>
          <a:bodyPr wrap="square" lIns="182880" tIns="45720" rIns="137160" bIns="45720" anchor="ctr" anchorCtr="0">
            <a:noAutofit/>
          </a:bodyPr>
          <a:lstStyle/>
          <a:p>
            <a:pPr marL="0" indent="0" algn="l">
              <a:lnSpc>
                <a:spcPct val="100000"/>
              </a:lnSpc>
              <a:spcBef>
                <a:spcPts val="0"/>
              </a:spcBef>
              <a:spcAft>
                <a:spcPts val="0"/>
              </a:spcAft>
              <a:buNone/>
            </a:pPr>
            <a:r>
              <a:rPr lang="en-IN" sz="1400" b="0" i="0" dirty="0">
                <a:solidFill>
                  <a:srgbClr val="2B2B2B"/>
                </a:solidFill>
                <a:latin typeface="Calibri"/>
                <a:cs typeface="Calibri"/>
              </a:rPr>
              <a:t>Use assessments, including the Cisco final assessment, to spot gaps and revisit them</a:t>
            </a:r>
          </a:p>
        </p:txBody>
      </p:sp>
      <p:sp>
        <p:nvSpPr>
          <p:cNvPr id="375" name="Challenge 4"/>
          <p:cNvSpPr/>
          <p:nvPr/>
        </p:nvSpPr>
        <p:spPr>
          <a:xfrm>
            <a:off x="822960" y="4489704"/>
            <a:ext cx="4206240" cy="841248"/>
          </a:xfrm>
          <a:prstGeom prst="roundRect">
            <a:avLst>
              <a:gd name="adj" fmla="val 6000"/>
            </a:avLst>
          </a:prstGeom>
          <a:solidFill>
            <a:srgbClr val="EFE6F7"/>
          </a:solidFill>
          <a:ln>
            <a:noFill/>
          </a:ln>
        </p:spPr>
        <p:txBody>
          <a:bodyPr wrap="square" lIns="182880" tIns="45720" rIns="137160" bIns="45720" anchor="ctr" anchorCtr="0">
            <a:noAutofit/>
          </a:bodyPr>
          <a:lstStyle/>
          <a:p>
            <a:pPr marL="0" indent="0" algn="l">
              <a:lnSpc>
                <a:spcPct val="100000"/>
              </a:lnSpc>
              <a:spcBef>
                <a:spcPts val="0"/>
              </a:spcBef>
              <a:spcAft>
                <a:spcPts val="0"/>
              </a:spcAft>
              <a:buNone/>
            </a:pPr>
            <a:r>
              <a:rPr lang="en-IN" sz="1500" b="1" i="0" dirty="0">
                <a:solidFill>
                  <a:srgbClr val="5A0886"/>
                </a:solidFill>
                <a:latin typeface="Calibri"/>
                <a:cs typeface="Calibri"/>
              </a:rPr>
              <a:t>Learning offensive ideas responsibly</a:t>
            </a:r>
          </a:p>
        </p:txBody>
      </p:sp>
      <p:sp>
        <p:nvSpPr>
          <p:cNvPr id="376" name="Arrow 4"/>
          <p:cNvSpPr/>
          <p:nvPr/>
        </p:nvSpPr>
        <p:spPr>
          <a:xfrm>
            <a:off x="5138928" y="4736592"/>
            <a:ext cx="502920" cy="347472"/>
          </a:xfrm>
          <a:prstGeom prst="rightArrow">
            <a:avLst/>
          </a:prstGeom>
          <a:solidFill>
            <a:srgbClr val="5A0886"/>
          </a:solidFill>
          <a:ln>
            <a:noFill/>
          </a:ln>
        </p:spPr>
        <p:txBody>
          <a:bodyPr wrap="square" lIns="109728" tIns="54864" rIns="109728" bIns="54864" anchor="ctr" anchorCtr="0">
            <a:noAutofit/>
          </a:bodyPr>
          <a:lstStyle/>
          <a:p>
            <a:endParaRPr lang="en-IN"/>
          </a:p>
        </p:txBody>
      </p:sp>
      <p:sp>
        <p:nvSpPr>
          <p:cNvPr id="377" name="Approach 4"/>
          <p:cNvSpPr/>
          <p:nvPr/>
        </p:nvSpPr>
        <p:spPr>
          <a:xfrm>
            <a:off x="5806440" y="4489704"/>
            <a:ext cx="5623560" cy="841248"/>
          </a:xfrm>
          <a:prstGeom prst="roundRect">
            <a:avLst>
              <a:gd name="adj" fmla="val 6000"/>
            </a:avLst>
          </a:prstGeom>
          <a:solidFill>
            <a:srgbClr val="FFFFFF"/>
          </a:solidFill>
          <a:ln w="12700">
            <a:solidFill>
              <a:srgbClr val="CDB6E0"/>
            </a:solidFill>
          </a:ln>
        </p:spPr>
        <p:txBody>
          <a:bodyPr wrap="square" lIns="182880" tIns="45720" rIns="137160" bIns="45720" anchor="ctr" anchorCtr="0">
            <a:noAutofit/>
          </a:bodyPr>
          <a:lstStyle/>
          <a:p>
            <a:pPr marL="0" indent="0" algn="l">
              <a:lnSpc>
                <a:spcPct val="100000"/>
              </a:lnSpc>
              <a:spcBef>
                <a:spcPts val="0"/>
              </a:spcBef>
              <a:spcAft>
                <a:spcPts val="0"/>
              </a:spcAft>
              <a:buNone/>
            </a:pPr>
            <a:r>
              <a:rPr lang="en-IN" sz="1400" b="0" i="0" dirty="0">
                <a:solidFill>
                  <a:srgbClr val="2B2B2B"/>
                </a:solidFill>
                <a:latin typeface="Calibri"/>
                <a:cs typeface="Calibri"/>
              </a:rPr>
              <a:t>Keep authorisation in view; practise only in authorised labs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2b4099f15_0_15"/>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IN" sz="2600" b="1" dirty="0">
                <a:latin typeface="Bodoni"/>
                <a:ea typeface="Bodoni"/>
                <a:cs typeface="Bodoni"/>
                <a:sym typeface="Bodoni"/>
              </a:rPr>
              <a:t>Career Relevance</a:t>
            </a:r>
            <a:endParaRPr sz="3600" b="1">
              <a:latin typeface="Bodoni"/>
              <a:ea typeface="Bodoni"/>
              <a:cs typeface="Bodoni"/>
              <a:sym typeface="Bodoni"/>
            </a:endParaRPr>
          </a:p>
        </p:txBody>
      </p:sp>
      <p:sp>
        <p:nvSpPr>
          <p:cNvPr id="157" name="Google Shape;157;g382b4099f15_0_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58" name="Google Shape;158;g382b4099f15_0_15"/>
          <p:cNvSpPr txBox="1">
            <a:spLocks noGrp="1"/>
          </p:cNvSpPr>
          <p:nvPr>
            <p:ph type="ftr" idx="11"/>
          </p:nvPr>
        </p:nvSpPr>
        <p:spPr>
          <a:xfrm>
            <a:off x="4165600" y="6356351"/>
            <a:ext cx="4810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59" name="Google Shape;159;g382b4099f15_0_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pic>
        <p:nvPicPr>
          <p:cNvPr id="160" name="Google Shape;160;g382b4099f15_0_15" descr="A circular logo with a circle and a logo on it&#10;&#10;AI-generated content may be incorrect."/>
          <p:cNvPicPr preferRelativeResize="0"/>
          <p:nvPr/>
        </p:nvPicPr>
        <p:blipFill rotWithShape="1">
          <a:blip r:embed="rId2">
            <a:alphaModFix/>
          </a:blip>
          <a:srcRect/>
          <a:stretch/>
        </p:blipFill>
        <p:spPr>
          <a:xfrm>
            <a:off x="11136560" y="44624"/>
            <a:ext cx="980728" cy="980728"/>
          </a:xfrm>
          <a:prstGeom prst="rect">
            <a:avLst/>
          </a:prstGeom>
          <a:noFill/>
          <a:ln>
            <a:noFill/>
          </a:ln>
        </p:spPr>
      </p:pic>
      <p:grpSp>
        <p:nvGrpSpPr>
          <p:cNvPr id="161" name="Google Shape;161;g382b4099f15_0_15"/>
          <p:cNvGrpSpPr/>
          <p:nvPr/>
        </p:nvGrpSpPr>
        <p:grpSpPr>
          <a:xfrm>
            <a:off x="7300" y="2220"/>
            <a:ext cx="1443834" cy="6855900"/>
            <a:chOff x="7300" y="2220"/>
            <a:chExt cx="1443834" cy="6855900"/>
          </a:xfrm>
        </p:grpSpPr>
        <p:sp>
          <p:nvSpPr>
            <p:cNvPr id="162" name="Google Shape;162;g382b4099f15_0_15"/>
            <p:cNvSpPr/>
            <p:nvPr/>
          </p:nvSpPr>
          <p:spPr>
            <a:xfrm>
              <a:off x="7300" y="2220"/>
              <a:ext cx="425100" cy="685590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3" name="Google Shape;163;g382b4099f15_0_15" descr="A logo with a blue design&#10;&#10;AI-generated content may be incorrect."/>
            <p:cNvPicPr preferRelativeResize="0"/>
            <p:nvPr/>
          </p:nvPicPr>
          <p:blipFill rotWithShape="1">
            <a:blip r:embed="rId3">
              <a:alphaModFix/>
            </a:blip>
            <a:srcRect/>
            <a:stretch/>
          </p:blipFill>
          <p:spPr>
            <a:xfrm>
              <a:off x="524957" y="183372"/>
              <a:ext cx="926177" cy="841980"/>
            </a:xfrm>
            <a:prstGeom prst="rect">
              <a:avLst/>
            </a:prstGeom>
            <a:noFill/>
            <a:ln>
              <a:noFill/>
            </a:ln>
          </p:spPr>
        </p:pic>
      </p:grpSp>
      <p:sp>
        <p:nvSpPr>
          <p:cNvPr id="379" name="Path 1"/>
          <p:cNvSpPr/>
          <p:nvPr/>
        </p:nvSpPr>
        <p:spPr>
          <a:xfrm>
            <a:off x="822960" y="1234440"/>
            <a:ext cx="3200400" cy="1508760"/>
          </a:xfrm>
          <a:prstGeom prst="roundRect">
            <a:avLst>
              <a:gd name="adj" fmla="val 6000"/>
            </a:avLst>
          </a:prstGeom>
          <a:solidFill>
            <a:srgbClr val="5A0886"/>
          </a:solidFill>
          <a:ln>
            <a:noFill/>
          </a:ln>
        </p:spPr>
        <p:txBody>
          <a:bodyPr wrap="square" lIns="182880" tIns="73152" rIns="137160" bIns="73152" anchor="ctr" anchorCtr="0">
            <a:noAutofit/>
          </a:bodyPr>
          <a:lstStyle/>
          <a:p>
            <a:pPr marL="0" indent="0" algn="l">
              <a:lnSpc>
                <a:spcPct val="100000"/>
              </a:lnSpc>
              <a:spcBef>
                <a:spcPts val="0"/>
              </a:spcBef>
              <a:spcAft>
                <a:spcPts val="0"/>
              </a:spcAft>
              <a:buNone/>
            </a:pPr>
            <a:r>
              <a:rPr lang="en-IN" sz="1600" b="1" i="0" dirty="0">
                <a:solidFill>
                  <a:srgbClr val="FFFFFF"/>
                </a:solidFill>
                <a:latin typeface="Calibri"/>
                <a:cs typeface="Calibri"/>
              </a:rPr>
              <a:t>Computer Engineering base</a:t>
            </a:r>
          </a:p>
          <a:p>
            <a:pPr marL="0" indent="0" algn="l">
              <a:lnSpc>
                <a:spcPct val="100000"/>
              </a:lnSpc>
              <a:spcBef>
                <a:spcPts val="300"/>
              </a:spcBef>
              <a:spcAft>
                <a:spcPts val="0"/>
              </a:spcAft>
              <a:buNone/>
            </a:pPr>
            <a:r>
              <a:rPr lang="en-IN" sz="1300" b="0" i="0" dirty="0">
                <a:solidFill>
                  <a:srgbClr val="FFFFFF"/>
                </a:solidFill>
                <a:latin typeface="Calibri"/>
                <a:cs typeface="Calibri"/>
              </a:rPr>
              <a:t>Programming, networks, systems</a:t>
            </a:r>
          </a:p>
        </p:txBody>
      </p:sp>
      <p:sp>
        <p:nvSpPr>
          <p:cNvPr id="380" name="Path arrow 1"/>
          <p:cNvSpPr/>
          <p:nvPr/>
        </p:nvSpPr>
        <p:spPr>
          <a:xfrm>
            <a:off x="4069080" y="1828800"/>
            <a:ext cx="320040" cy="329184"/>
          </a:xfrm>
          <a:prstGeom prst="rightArrow">
            <a:avLst/>
          </a:prstGeom>
          <a:solidFill>
            <a:srgbClr val="B7791F"/>
          </a:solidFill>
          <a:ln>
            <a:noFill/>
          </a:ln>
        </p:spPr>
        <p:txBody>
          <a:bodyPr wrap="square" lIns="109728" tIns="54864" rIns="109728" bIns="54864" anchor="ctr" anchorCtr="0">
            <a:noAutofit/>
          </a:bodyPr>
          <a:lstStyle/>
          <a:p>
            <a:endParaRPr lang="en-IN"/>
          </a:p>
        </p:txBody>
      </p:sp>
      <p:sp>
        <p:nvSpPr>
          <p:cNvPr id="381" name="Path 2"/>
          <p:cNvSpPr/>
          <p:nvPr/>
        </p:nvSpPr>
        <p:spPr>
          <a:xfrm>
            <a:off x="4434840" y="1234440"/>
            <a:ext cx="3200400" cy="1508760"/>
          </a:xfrm>
          <a:prstGeom prst="roundRect">
            <a:avLst>
              <a:gd name="adj" fmla="val 6000"/>
            </a:avLst>
          </a:prstGeom>
          <a:solidFill>
            <a:srgbClr val="0E7C86"/>
          </a:solidFill>
          <a:ln>
            <a:noFill/>
          </a:ln>
        </p:spPr>
        <p:txBody>
          <a:bodyPr wrap="square" lIns="182880" tIns="73152" rIns="137160" bIns="73152" anchor="ctr" anchorCtr="0">
            <a:noAutofit/>
          </a:bodyPr>
          <a:lstStyle/>
          <a:p>
            <a:pPr marL="0" indent="0" algn="l">
              <a:lnSpc>
                <a:spcPct val="100000"/>
              </a:lnSpc>
              <a:spcBef>
                <a:spcPts val="0"/>
              </a:spcBef>
              <a:spcAft>
                <a:spcPts val="0"/>
              </a:spcAft>
              <a:buNone/>
            </a:pPr>
            <a:r>
              <a:rPr lang="en-IN" sz="1600" b="1" i="0" dirty="0">
                <a:solidFill>
                  <a:srgbClr val="FFFFFF"/>
                </a:solidFill>
                <a:latin typeface="Calibri"/>
                <a:cs typeface="Calibri"/>
              </a:rPr>
              <a:t>Two security courses</a:t>
            </a:r>
          </a:p>
          <a:p>
            <a:pPr marL="0" indent="0" algn="l">
              <a:lnSpc>
                <a:spcPct val="100000"/>
              </a:lnSpc>
              <a:spcBef>
                <a:spcPts val="300"/>
              </a:spcBef>
              <a:spcAft>
                <a:spcPts val="0"/>
              </a:spcAft>
              <a:buNone/>
            </a:pPr>
            <a:r>
              <a:rPr lang="en-IN" sz="1300" b="0" i="0" dirty="0">
                <a:solidFill>
                  <a:srgbClr val="FFFFFF"/>
                </a:solidFill>
                <a:latin typeface="Calibri"/>
                <a:cs typeface="Calibri"/>
              </a:rPr>
              <a:t>Ethical Hacker + wireless testing</a:t>
            </a:r>
          </a:p>
        </p:txBody>
      </p:sp>
      <p:sp>
        <p:nvSpPr>
          <p:cNvPr id="382" name="Path arrow 2"/>
          <p:cNvSpPr/>
          <p:nvPr/>
        </p:nvSpPr>
        <p:spPr>
          <a:xfrm>
            <a:off x="7680960" y="1828800"/>
            <a:ext cx="320040" cy="329184"/>
          </a:xfrm>
          <a:prstGeom prst="rightArrow">
            <a:avLst/>
          </a:prstGeom>
          <a:solidFill>
            <a:srgbClr val="B7791F"/>
          </a:solidFill>
          <a:ln>
            <a:noFill/>
          </a:ln>
        </p:spPr>
        <p:txBody>
          <a:bodyPr wrap="square" lIns="109728" tIns="54864" rIns="109728" bIns="54864" anchor="ctr" anchorCtr="0">
            <a:noAutofit/>
          </a:bodyPr>
          <a:lstStyle/>
          <a:p>
            <a:endParaRPr lang="en-IN"/>
          </a:p>
        </p:txBody>
      </p:sp>
      <p:sp>
        <p:nvSpPr>
          <p:cNvPr id="383" name="Path 3"/>
          <p:cNvSpPr/>
          <p:nvPr/>
        </p:nvSpPr>
        <p:spPr>
          <a:xfrm>
            <a:off x="8046720" y="1234440"/>
            <a:ext cx="3200400" cy="1508760"/>
          </a:xfrm>
          <a:prstGeom prst="roundRect">
            <a:avLst>
              <a:gd name="adj" fmla="val 6000"/>
            </a:avLst>
          </a:prstGeom>
          <a:solidFill>
            <a:srgbClr val="5A0886"/>
          </a:solidFill>
          <a:ln>
            <a:noFill/>
          </a:ln>
        </p:spPr>
        <p:txBody>
          <a:bodyPr wrap="square" lIns="182880" tIns="73152" rIns="137160" bIns="73152" anchor="ctr" anchorCtr="0">
            <a:noAutofit/>
          </a:bodyPr>
          <a:lstStyle/>
          <a:p>
            <a:pPr marL="0" indent="0" algn="l">
              <a:lnSpc>
                <a:spcPct val="100000"/>
              </a:lnSpc>
              <a:spcBef>
                <a:spcPts val="0"/>
              </a:spcBef>
              <a:spcAft>
                <a:spcPts val="0"/>
              </a:spcAft>
              <a:buNone/>
            </a:pPr>
            <a:r>
              <a:rPr lang="en-IN" sz="1600" b="1" i="0" dirty="0">
                <a:solidFill>
                  <a:srgbClr val="FFFFFF"/>
                </a:solidFill>
                <a:latin typeface="Calibri"/>
                <a:cs typeface="Calibri"/>
              </a:rPr>
              <a:t>Relevant starting points</a:t>
            </a:r>
          </a:p>
          <a:p>
            <a:pPr marL="0" indent="0" algn="l">
              <a:lnSpc>
                <a:spcPct val="100000"/>
              </a:lnSpc>
              <a:spcBef>
                <a:spcPts val="300"/>
              </a:spcBef>
              <a:spcAft>
                <a:spcPts val="0"/>
              </a:spcAft>
              <a:buNone/>
            </a:pPr>
            <a:r>
              <a:rPr lang="en-IN" sz="1300" b="0" i="0" dirty="0">
                <a:solidFill>
                  <a:srgbClr val="FFFFFF"/>
                </a:solidFill>
                <a:latin typeface="Calibri"/>
                <a:cs typeface="Calibri"/>
              </a:rPr>
              <a:t>Entry-level security, security testing, software roles where secure design matters</a:t>
            </a:r>
          </a:p>
        </p:txBody>
      </p:sp>
      <p:sp>
        <p:nvSpPr>
          <p:cNvPr id="384" name="Career card 1"/>
          <p:cNvSpPr/>
          <p:nvPr/>
        </p:nvSpPr>
        <p:spPr>
          <a:xfrm>
            <a:off x="822960" y="3017520"/>
            <a:ext cx="3383280" cy="2331720"/>
          </a:xfrm>
          <a:prstGeom prst="roundRect">
            <a:avLst>
              <a:gd name="adj" fmla="val 6000"/>
            </a:avLst>
          </a:prstGeom>
          <a:solidFill>
            <a:srgbClr val="FFFFFF"/>
          </a:solidFill>
          <a:ln w="12700">
            <a:solidFill>
              <a:srgbClr val="CDB6E0"/>
            </a:solidFill>
          </a:ln>
        </p:spPr>
        <p:txBody>
          <a:bodyPr wrap="square" lIns="164592" tIns="109728" rIns="137160" bIns="91440" anchor="t" anchorCtr="0">
            <a:noAutofit/>
          </a:bodyPr>
          <a:lstStyle/>
          <a:p>
            <a:pPr marL="0" indent="0" algn="l">
              <a:lnSpc>
                <a:spcPct val="100000"/>
              </a:lnSpc>
              <a:spcBef>
                <a:spcPts val="0"/>
              </a:spcBef>
              <a:spcAft>
                <a:spcPts val="0"/>
              </a:spcAft>
              <a:buNone/>
            </a:pPr>
            <a:r>
              <a:rPr lang="en-IN" sz="1600" b="1" i="0" dirty="0">
                <a:solidFill>
                  <a:srgbClr val="5A0886"/>
                </a:solidFill>
                <a:latin typeface="Calibri"/>
                <a:cs typeface="Calibri"/>
              </a:rPr>
              <a:t>Placement preparation</a:t>
            </a:r>
          </a:p>
          <a:p>
            <a:pPr marL="228600" indent="-228600" algn="l">
              <a:lnSpc>
                <a:spcPct val="100000"/>
              </a:lnSpc>
              <a:spcBef>
                <a:spcPts val="400"/>
              </a:spcBef>
              <a:spcAft>
                <a:spcPts val="0"/>
              </a:spcAft>
              <a:buFont typeface="Arial"/>
              <a:buChar char="•"/>
            </a:pPr>
            <a:r>
              <a:rPr lang="en-IN" sz="1400" b="0" i="0" dirty="0">
                <a:solidFill>
                  <a:srgbClr val="2B2B2B"/>
                </a:solidFill>
                <a:latin typeface="Calibri"/>
                <a:cs typeface="Calibri"/>
              </a:rPr>
              <a:t>Interview vocabulary I can explain</a:t>
            </a:r>
          </a:p>
          <a:p>
            <a:pPr marL="228600" indent="-228600" algn="l">
              <a:lnSpc>
                <a:spcPct val="100000"/>
              </a:lnSpc>
              <a:spcBef>
                <a:spcPts val="400"/>
              </a:spcBef>
              <a:spcAft>
                <a:spcPts val="0"/>
              </a:spcAft>
              <a:buFont typeface="Arial"/>
              <a:buChar char="•"/>
            </a:pPr>
            <a:r>
              <a:rPr lang="en-IN" sz="1400" b="0" i="0" dirty="0">
                <a:solidFill>
                  <a:srgbClr val="2B2B2B"/>
                </a:solidFill>
                <a:latin typeface="Calibri"/>
                <a:cs typeface="Calibri"/>
              </a:rPr>
              <a:t>Two verified certificates to discuss</a:t>
            </a:r>
          </a:p>
        </p:txBody>
      </p:sp>
      <p:sp>
        <p:nvSpPr>
          <p:cNvPr id="385" name="Career card 2"/>
          <p:cNvSpPr/>
          <p:nvPr/>
        </p:nvSpPr>
        <p:spPr>
          <a:xfrm>
            <a:off x="4434840" y="3017520"/>
            <a:ext cx="3383280" cy="2331720"/>
          </a:xfrm>
          <a:prstGeom prst="roundRect">
            <a:avLst>
              <a:gd name="adj" fmla="val 6000"/>
            </a:avLst>
          </a:prstGeom>
          <a:solidFill>
            <a:srgbClr val="FFFFFF"/>
          </a:solidFill>
          <a:ln w="12700">
            <a:solidFill>
              <a:srgbClr val="CDB6E0"/>
            </a:solidFill>
          </a:ln>
        </p:spPr>
        <p:txBody>
          <a:bodyPr wrap="square" lIns="164592" tIns="109728" rIns="137160" bIns="91440" anchor="t" anchorCtr="0">
            <a:noAutofit/>
          </a:bodyPr>
          <a:lstStyle/>
          <a:p>
            <a:pPr marL="0" indent="0" algn="l">
              <a:lnSpc>
                <a:spcPct val="100000"/>
              </a:lnSpc>
              <a:spcBef>
                <a:spcPts val="0"/>
              </a:spcBef>
              <a:spcAft>
                <a:spcPts val="0"/>
              </a:spcAft>
              <a:buNone/>
            </a:pPr>
            <a:r>
              <a:rPr lang="en-IN" sz="1600" b="1" i="0" dirty="0">
                <a:solidFill>
                  <a:srgbClr val="5A0886"/>
                </a:solidFill>
                <a:latin typeface="Calibri"/>
                <a:cs typeface="Calibri"/>
              </a:rPr>
              <a:t>Project work</a:t>
            </a:r>
          </a:p>
          <a:p>
            <a:pPr marL="228600" indent="-228600" algn="l">
              <a:lnSpc>
                <a:spcPct val="100000"/>
              </a:lnSpc>
              <a:spcBef>
                <a:spcPts val="400"/>
              </a:spcBef>
              <a:spcAft>
                <a:spcPts val="0"/>
              </a:spcAft>
              <a:buFont typeface="Arial"/>
              <a:buChar char="•"/>
            </a:pPr>
            <a:r>
              <a:rPr lang="en-IN" sz="1400" b="0" i="0" dirty="0">
                <a:solidFill>
                  <a:srgbClr val="2B2B2B"/>
                </a:solidFill>
                <a:latin typeface="Calibri"/>
                <a:cs typeface="Calibri"/>
              </a:rPr>
              <a:t>Think about misuse and weak points early</a:t>
            </a:r>
          </a:p>
          <a:p>
            <a:pPr marL="228600" indent="-228600" algn="l">
              <a:lnSpc>
                <a:spcPct val="100000"/>
              </a:lnSpc>
              <a:spcBef>
                <a:spcPts val="400"/>
              </a:spcBef>
              <a:spcAft>
                <a:spcPts val="0"/>
              </a:spcAft>
              <a:buFont typeface="Arial"/>
              <a:buChar char="•"/>
            </a:pPr>
            <a:r>
              <a:rPr lang="en-IN" sz="1400" b="0" i="0" dirty="0">
                <a:solidFill>
                  <a:srgbClr val="2B2B2B"/>
                </a:solidFill>
                <a:latin typeface="Calibri"/>
                <a:cs typeface="Calibri"/>
              </a:rPr>
              <a:t>Write clearer notes on security decisions</a:t>
            </a:r>
          </a:p>
        </p:txBody>
      </p:sp>
      <p:sp>
        <p:nvSpPr>
          <p:cNvPr id="386" name="Career card 3"/>
          <p:cNvSpPr/>
          <p:nvPr/>
        </p:nvSpPr>
        <p:spPr>
          <a:xfrm>
            <a:off x="8046720" y="3017520"/>
            <a:ext cx="3383280" cy="2331720"/>
          </a:xfrm>
          <a:prstGeom prst="roundRect">
            <a:avLst>
              <a:gd name="adj" fmla="val 6000"/>
            </a:avLst>
          </a:prstGeom>
          <a:solidFill>
            <a:srgbClr val="FFFFFF"/>
          </a:solidFill>
          <a:ln w="12700">
            <a:solidFill>
              <a:srgbClr val="CDB6E0"/>
            </a:solidFill>
          </a:ln>
        </p:spPr>
        <p:txBody>
          <a:bodyPr wrap="square" lIns="164592" tIns="109728" rIns="137160" bIns="91440" anchor="t" anchorCtr="0">
            <a:noAutofit/>
          </a:bodyPr>
          <a:lstStyle/>
          <a:p>
            <a:pPr marL="0" indent="0" algn="l">
              <a:lnSpc>
                <a:spcPct val="100000"/>
              </a:lnSpc>
              <a:spcBef>
                <a:spcPts val="0"/>
              </a:spcBef>
              <a:spcAft>
                <a:spcPts val="0"/>
              </a:spcAft>
              <a:buNone/>
            </a:pPr>
            <a:r>
              <a:rPr lang="en-IN" sz="1600" b="1" i="0" dirty="0">
                <a:solidFill>
                  <a:srgbClr val="5A0886"/>
                </a:solidFill>
                <a:latin typeface="Calibri"/>
                <a:cs typeface="Calibri"/>
              </a:rPr>
              <a:t>Higher studies</a:t>
            </a:r>
          </a:p>
          <a:p>
            <a:pPr marL="228600" indent="-228600" algn="l">
              <a:lnSpc>
                <a:spcPct val="100000"/>
              </a:lnSpc>
              <a:spcBef>
                <a:spcPts val="400"/>
              </a:spcBef>
              <a:spcAft>
                <a:spcPts val="0"/>
              </a:spcAft>
              <a:buFont typeface="Arial"/>
              <a:buChar char="•"/>
            </a:pPr>
            <a:r>
              <a:rPr lang="en-IN" sz="1400" b="0" i="0" dirty="0">
                <a:solidFill>
                  <a:srgbClr val="2B2B2B"/>
                </a:solidFill>
                <a:latin typeface="Calibri"/>
                <a:cs typeface="Calibri"/>
              </a:rPr>
              <a:t>A base for network or wireless security study</a:t>
            </a:r>
          </a:p>
          <a:p>
            <a:pPr marL="228600" indent="-228600" algn="l">
              <a:lnSpc>
                <a:spcPct val="100000"/>
              </a:lnSpc>
              <a:spcBef>
                <a:spcPts val="400"/>
              </a:spcBef>
              <a:spcAft>
                <a:spcPts val="0"/>
              </a:spcAft>
              <a:buFont typeface="Arial"/>
              <a:buChar char="•"/>
            </a:pPr>
            <a:r>
              <a:rPr lang="en-IN" sz="1400" b="0" i="0" dirty="0">
                <a:solidFill>
                  <a:srgbClr val="2B2B2B"/>
                </a:solidFill>
                <a:latin typeface="Calibri"/>
                <a:cs typeface="Calibri"/>
              </a:rPr>
              <a:t>Helps me choose a research direction</a:t>
            </a:r>
          </a:p>
        </p:txBody>
      </p:sp>
      <p:sp>
        <p:nvSpPr>
          <p:cNvPr id="387" name="Career caveat"/>
          <p:cNvSpPr/>
          <p:nvPr/>
        </p:nvSpPr>
        <p:spPr>
          <a:xfrm>
            <a:off x="822960" y="5577840"/>
            <a:ext cx="10607040" cy="502920"/>
          </a:xfrm>
          <a:prstGeom prst="roundRect">
            <a:avLst>
              <a:gd name="adj" fmla="val 6000"/>
            </a:avLst>
          </a:prstGeom>
          <a:solidFill>
            <a:srgbClr val="FFF3D1"/>
          </a:solidFill>
          <a:ln>
            <a:noFill/>
          </a:ln>
        </p:spPr>
        <p:txBody>
          <a:bodyPr wrap="square" lIns="182880" tIns="36576" rIns="182880" bIns="36576" anchor="ctr" anchorCtr="0">
            <a:noAutofit/>
          </a:bodyPr>
          <a:lstStyle/>
          <a:p>
            <a:pPr marL="0" indent="0" algn="l">
              <a:lnSpc>
                <a:spcPct val="100000"/>
              </a:lnSpc>
              <a:spcBef>
                <a:spcPts val="0"/>
              </a:spcBef>
              <a:spcAft>
                <a:spcPts val="0"/>
              </a:spcAft>
              <a:buNone/>
            </a:pPr>
            <a:r>
              <a:rPr lang="en-IN" sz="1300" b="1" i="0" dirty="0">
                <a:solidFill>
                  <a:srgbClr val="5A3E00"/>
                </a:solidFill>
                <a:latin typeface="Calibri"/>
                <a:cs typeface="Calibri"/>
              </a:rPr>
              <a:t>Certificates strengthen my profile. They do not guarantee a job.</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2b4099f15_0_15"/>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IN" sz="2600" b="1" dirty="0">
                <a:latin typeface="Bodoni"/>
                <a:ea typeface="Bodoni"/>
                <a:cs typeface="Bodoni"/>
                <a:sym typeface="Bodoni"/>
              </a:rPr>
              <a:t>Reflection and Future Learning Plan</a:t>
            </a:r>
            <a:endParaRPr sz="3600" b="1">
              <a:latin typeface="Bodoni"/>
              <a:ea typeface="Bodoni"/>
              <a:cs typeface="Bodoni"/>
              <a:sym typeface="Bodoni"/>
            </a:endParaRPr>
          </a:p>
        </p:txBody>
      </p:sp>
      <p:sp>
        <p:nvSpPr>
          <p:cNvPr id="157" name="Google Shape;157;g382b4099f15_0_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58" name="Google Shape;158;g382b4099f15_0_15"/>
          <p:cNvSpPr txBox="1">
            <a:spLocks noGrp="1"/>
          </p:cNvSpPr>
          <p:nvPr>
            <p:ph type="ftr" idx="11"/>
          </p:nvPr>
        </p:nvSpPr>
        <p:spPr>
          <a:xfrm>
            <a:off x="4165600" y="6356351"/>
            <a:ext cx="4810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59" name="Google Shape;159;g382b4099f15_0_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pic>
        <p:nvPicPr>
          <p:cNvPr id="160" name="Google Shape;160;g382b4099f15_0_15" descr="A circular logo with a circle and a logo on it&#10;&#10;AI-generated content may be incorrect."/>
          <p:cNvPicPr preferRelativeResize="0"/>
          <p:nvPr/>
        </p:nvPicPr>
        <p:blipFill rotWithShape="1">
          <a:blip r:embed="rId2">
            <a:alphaModFix/>
          </a:blip>
          <a:srcRect/>
          <a:stretch/>
        </p:blipFill>
        <p:spPr>
          <a:xfrm>
            <a:off x="11136560" y="44624"/>
            <a:ext cx="980728" cy="980728"/>
          </a:xfrm>
          <a:prstGeom prst="rect">
            <a:avLst/>
          </a:prstGeom>
          <a:noFill/>
          <a:ln>
            <a:noFill/>
          </a:ln>
        </p:spPr>
      </p:pic>
      <p:grpSp>
        <p:nvGrpSpPr>
          <p:cNvPr id="161" name="Google Shape;161;g382b4099f15_0_15"/>
          <p:cNvGrpSpPr/>
          <p:nvPr/>
        </p:nvGrpSpPr>
        <p:grpSpPr>
          <a:xfrm>
            <a:off x="7300" y="2220"/>
            <a:ext cx="1443834" cy="6855900"/>
            <a:chOff x="7300" y="2220"/>
            <a:chExt cx="1443834" cy="6855900"/>
          </a:xfrm>
        </p:grpSpPr>
        <p:sp>
          <p:nvSpPr>
            <p:cNvPr id="162" name="Google Shape;162;g382b4099f15_0_15"/>
            <p:cNvSpPr/>
            <p:nvPr/>
          </p:nvSpPr>
          <p:spPr>
            <a:xfrm>
              <a:off x="7300" y="2220"/>
              <a:ext cx="425100" cy="685590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3" name="Google Shape;163;g382b4099f15_0_15" descr="A logo with a blue design&#10;&#10;AI-generated content may be incorrect."/>
            <p:cNvPicPr preferRelativeResize="0"/>
            <p:nvPr/>
          </p:nvPicPr>
          <p:blipFill rotWithShape="1">
            <a:blip r:embed="rId3">
              <a:alphaModFix/>
            </a:blip>
            <a:srcRect/>
            <a:stretch/>
          </p:blipFill>
          <p:spPr>
            <a:xfrm>
              <a:off x="524957" y="183372"/>
              <a:ext cx="926177" cy="841980"/>
            </a:xfrm>
            <a:prstGeom prst="rect">
              <a:avLst/>
            </a:prstGeom>
            <a:noFill/>
            <a:ln>
              <a:noFill/>
            </a:ln>
          </p:spPr>
        </p:pic>
      </p:grpSp>
      <p:sp>
        <p:nvSpPr>
          <p:cNvPr id="388" name="Takeaway"/>
          <p:cNvSpPr/>
          <p:nvPr/>
        </p:nvSpPr>
        <p:spPr>
          <a:xfrm>
            <a:off x="822960" y="1234440"/>
            <a:ext cx="4480560" cy="4754880"/>
          </a:xfrm>
          <a:prstGeom prst="roundRect">
            <a:avLst>
              <a:gd name="adj" fmla="val 6000"/>
            </a:avLst>
          </a:prstGeom>
          <a:solidFill>
            <a:srgbClr val="EFE6F7"/>
          </a:solidFill>
          <a:ln>
            <a:noFill/>
          </a:ln>
        </p:spPr>
        <p:txBody>
          <a:bodyPr wrap="square" lIns="274320" tIns="182880" rIns="274320" bIns="182880" anchor="ctr" anchorCtr="0">
            <a:noAutofit/>
          </a:bodyPr>
          <a:lstStyle/>
          <a:p>
            <a:pPr marL="0" indent="0" algn="l">
              <a:lnSpc>
                <a:spcPct val="100000"/>
              </a:lnSpc>
              <a:spcBef>
                <a:spcPts val="0"/>
              </a:spcBef>
              <a:spcAft>
                <a:spcPts val="0"/>
              </a:spcAft>
              <a:buNone/>
            </a:pPr>
            <a:r>
              <a:rPr lang="en-IN" sz="1600" b="1" i="0" dirty="0">
                <a:solidFill>
                  <a:srgbClr val="5A0886"/>
                </a:solidFill>
                <a:latin typeface="Calibri"/>
                <a:cs typeface="Calibri"/>
              </a:rPr>
              <a:t>My main takeaway</a:t>
            </a:r>
          </a:p>
          <a:p>
            <a:pPr marL="0" indent="0" algn="l">
              <a:lnSpc>
                <a:spcPct val="100000"/>
              </a:lnSpc>
              <a:spcBef>
                <a:spcPts val="800"/>
              </a:spcBef>
              <a:spcAft>
                <a:spcPts val="0"/>
              </a:spcAft>
              <a:buNone/>
            </a:pPr>
            <a:r>
              <a:rPr lang="en-IN" sz="2000" b="1" i="0" dirty="0">
                <a:solidFill>
                  <a:srgbClr val="2B2B2B"/>
                </a:solidFill>
                <a:latin typeface="Calibri"/>
                <a:cs typeface="Calibri"/>
              </a:rPr>
              <a:t>Ethical hacking starts with permission and scope, and tools come after that.</a:t>
            </a:r>
          </a:p>
          <a:p>
            <a:pPr marL="0" indent="0" algn="l">
              <a:lnSpc>
                <a:spcPct val="100000"/>
              </a:lnSpc>
              <a:spcBef>
                <a:spcPts val="1200"/>
              </a:spcBef>
              <a:spcAft>
                <a:spcPts val="0"/>
              </a:spcAft>
              <a:buNone/>
            </a:pPr>
            <a:r>
              <a:rPr lang="en-IN" sz="1400" b="0" i="0" dirty="0">
                <a:solidFill>
                  <a:srgbClr val="2B2B2B"/>
                </a:solidFill>
                <a:latin typeface="Calibri"/>
                <a:cs typeface="Calibri"/>
              </a:rPr>
              <a:t>Doing two courses showed me the same principle from a wide view and a wireless view, and it changed how I think about “testing”.</a:t>
            </a:r>
          </a:p>
        </p:txBody>
      </p:sp>
      <p:sp>
        <p:nvSpPr>
          <p:cNvPr id="389" name="Step 1"/>
          <p:cNvSpPr/>
          <p:nvPr/>
        </p:nvSpPr>
        <p:spPr>
          <a:xfrm>
            <a:off x="5669280" y="1325880"/>
            <a:ext cx="420624" cy="420624"/>
          </a:xfrm>
          <a:prstGeom prst="ellipse">
            <a:avLst/>
          </a:prstGeom>
          <a:solidFill>
            <a:srgbClr val="5A0886"/>
          </a:solidFill>
          <a:ln>
            <a:noFill/>
          </a:ln>
        </p:spPr>
        <p:txBody>
          <a:bodyPr wrap="square" lIns="0" tIns="0" rIns="0" bIns="0" anchor="ctr" anchorCtr="0">
            <a:noAutofit/>
          </a:bodyPr>
          <a:lstStyle/>
          <a:p>
            <a:pPr marL="0" indent="0" algn="ctr">
              <a:lnSpc>
                <a:spcPct val="100000"/>
              </a:lnSpc>
              <a:spcBef>
                <a:spcPts val="0"/>
              </a:spcBef>
              <a:spcAft>
                <a:spcPts val="0"/>
              </a:spcAft>
              <a:buNone/>
            </a:pPr>
            <a:r>
              <a:rPr lang="en-IN" sz="1400" b="1" i="0" dirty="0">
                <a:solidFill>
                  <a:srgbClr val="FFFFFF"/>
                </a:solidFill>
                <a:latin typeface="Calibri"/>
                <a:cs typeface="Calibri"/>
              </a:rPr>
              <a:t>1</a:t>
            </a:r>
          </a:p>
        </p:txBody>
      </p:sp>
      <p:sp>
        <p:nvSpPr>
          <p:cNvPr id="390" name="Next step 1"/>
          <p:cNvSpPr/>
          <p:nvPr/>
        </p:nvSpPr>
        <p:spPr>
          <a:xfrm>
            <a:off x="6263640" y="1234440"/>
            <a:ext cx="5166360" cy="1097280"/>
          </a:xfrm>
          <a:prstGeom prst="roundRect">
            <a:avLst>
              <a:gd name="adj" fmla="val 6000"/>
            </a:avLst>
          </a:prstGeom>
          <a:solidFill>
            <a:srgbClr val="FFFFFF"/>
          </a:solidFill>
          <a:ln w="12700">
            <a:solidFill>
              <a:srgbClr val="CDB6E0"/>
            </a:solidFill>
          </a:ln>
        </p:spPr>
        <p:txBody>
          <a:bodyPr wrap="square" lIns="164592" tIns="54864" rIns="109728" bIns="54864" anchor="ctr" anchorCtr="0">
            <a:noAutofit/>
          </a:bodyPr>
          <a:lstStyle/>
          <a:p>
            <a:pPr marL="0" indent="0" algn="l">
              <a:lnSpc>
                <a:spcPct val="100000"/>
              </a:lnSpc>
              <a:spcBef>
                <a:spcPts val="0"/>
              </a:spcBef>
              <a:spcAft>
                <a:spcPts val="0"/>
              </a:spcAft>
              <a:buNone/>
            </a:pPr>
            <a:r>
              <a:rPr lang="en-IN" sz="1500" b="1" i="0" dirty="0">
                <a:solidFill>
                  <a:srgbClr val="5A0886"/>
                </a:solidFill>
                <a:latin typeface="Calibri"/>
                <a:cs typeface="Calibri"/>
              </a:rPr>
              <a:t>Strengthen networking fundamentals</a:t>
            </a:r>
          </a:p>
          <a:p>
            <a:pPr marL="0" indent="0" algn="l">
              <a:lnSpc>
                <a:spcPct val="100000"/>
              </a:lnSpc>
              <a:spcBef>
                <a:spcPts val="200"/>
              </a:spcBef>
              <a:spcAft>
                <a:spcPts val="0"/>
              </a:spcAft>
              <a:buNone/>
            </a:pPr>
            <a:r>
              <a:rPr lang="en-IN" sz="1300" b="0" i="0" dirty="0">
                <a:solidFill>
                  <a:srgbClr val="2B2B2B"/>
                </a:solidFill>
                <a:latin typeface="Calibri"/>
                <a:cs typeface="Calibri"/>
              </a:rPr>
              <a:t>TCP/IP and Wi-Fi standards, so concepts connect faster</a:t>
            </a:r>
          </a:p>
        </p:txBody>
      </p:sp>
      <p:sp>
        <p:nvSpPr>
          <p:cNvPr id="391" name="Step 2"/>
          <p:cNvSpPr/>
          <p:nvPr/>
        </p:nvSpPr>
        <p:spPr>
          <a:xfrm>
            <a:off x="5669280" y="2532888"/>
            <a:ext cx="420624" cy="420624"/>
          </a:xfrm>
          <a:prstGeom prst="ellipse">
            <a:avLst/>
          </a:prstGeom>
          <a:solidFill>
            <a:srgbClr val="5A0886"/>
          </a:solidFill>
          <a:ln>
            <a:noFill/>
          </a:ln>
        </p:spPr>
        <p:txBody>
          <a:bodyPr wrap="square" lIns="0" tIns="0" rIns="0" bIns="0" anchor="ctr" anchorCtr="0">
            <a:noAutofit/>
          </a:bodyPr>
          <a:lstStyle/>
          <a:p>
            <a:pPr marL="0" indent="0" algn="ctr">
              <a:lnSpc>
                <a:spcPct val="100000"/>
              </a:lnSpc>
              <a:spcBef>
                <a:spcPts val="0"/>
              </a:spcBef>
              <a:spcAft>
                <a:spcPts val="0"/>
              </a:spcAft>
              <a:buNone/>
            </a:pPr>
            <a:r>
              <a:rPr lang="en-IN" sz="1400" b="1" i="0" dirty="0">
                <a:solidFill>
                  <a:srgbClr val="FFFFFF"/>
                </a:solidFill>
                <a:latin typeface="Calibri"/>
                <a:cs typeface="Calibri"/>
              </a:rPr>
              <a:t>2</a:t>
            </a:r>
          </a:p>
        </p:txBody>
      </p:sp>
      <p:sp>
        <p:nvSpPr>
          <p:cNvPr id="392" name="Next step 2"/>
          <p:cNvSpPr/>
          <p:nvPr/>
        </p:nvSpPr>
        <p:spPr>
          <a:xfrm>
            <a:off x="6263640" y="2441448"/>
            <a:ext cx="5166360" cy="1097280"/>
          </a:xfrm>
          <a:prstGeom prst="roundRect">
            <a:avLst>
              <a:gd name="adj" fmla="val 6000"/>
            </a:avLst>
          </a:prstGeom>
          <a:solidFill>
            <a:srgbClr val="FFFFFF"/>
          </a:solidFill>
          <a:ln w="12700">
            <a:solidFill>
              <a:srgbClr val="CDB6E0"/>
            </a:solidFill>
          </a:ln>
        </p:spPr>
        <p:txBody>
          <a:bodyPr wrap="square" lIns="164592" tIns="54864" rIns="109728" bIns="54864" anchor="ctr" anchorCtr="0">
            <a:noAutofit/>
          </a:bodyPr>
          <a:lstStyle/>
          <a:p>
            <a:pPr marL="0" indent="0" algn="l">
              <a:lnSpc>
                <a:spcPct val="100000"/>
              </a:lnSpc>
              <a:spcBef>
                <a:spcPts val="0"/>
              </a:spcBef>
              <a:spcAft>
                <a:spcPts val="0"/>
              </a:spcAft>
              <a:buNone/>
            </a:pPr>
            <a:r>
              <a:rPr lang="en-IN" sz="1500" b="1" i="0" dirty="0">
                <a:solidFill>
                  <a:srgbClr val="5A0886"/>
                </a:solidFill>
                <a:latin typeface="Calibri"/>
                <a:cs typeface="Calibri"/>
              </a:rPr>
              <a:t>Practise only in authorised labs</a:t>
            </a:r>
          </a:p>
          <a:p>
            <a:pPr marL="0" indent="0" algn="l">
              <a:lnSpc>
                <a:spcPct val="100000"/>
              </a:lnSpc>
              <a:spcBef>
                <a:spcPts val="200"/>
              </a:spcBef>
              <a:spcAft>
                <a:spcPts val="0"/>
              </a:spcAft>
              <a:buNone/>
            </a:pPr>
            <a:r>
              <a:rPr lang="en-IN" sz="1300" b="0" i="0" dirty="0">
                <a:solidFill>
                  <a:srgbClr val="2B2B2B"/>
                </a:solidFill>
                <a:latin typeface="Calibri"/>
                <a:cs typeface="Calibri"/>
              </a:rPr>
              <a:t>My own test setup or a college lab, with permission</a:t>
            </a:r>
          </a:p>
        </p:txBody>
      </p:sp>
      <p:sp>
        <p:nvSpPr>
          <p:cNvPr id="393" name="Step 3"/>
          <p:cNvSpPr/>
          <p:nvPr/>
        </p:nvSpPr>
        <p:spPr>
          <a:xfrm>
            <a:off x="5669280" y="3739896"/>
            <a:ext cx="420624" cy="420624"/>
          </a:xfrm>
          <a:prstGeom prst="ellipse">
            <a:avLst/>
          </a:prstGeom>
          <a:solidFill>
            <a:srgbClr val="5A0886"/>
          </a:solidFill>
          <a:ln>
            <a:noFill/>
          </a:ln>
        </p:spPr>
        <p:txBody>
          <a:bodyPr wrap="square" lIns="0" tIns="0" rIns="0" bIns="0" anchor="ctr" anchorCtr="0">
            <a:noAutofit/>
          </a:bodyPr>
          <a:lstStyle/>
          <a:p>
            <a:pPr marL="0" indent="0" algn="ctr">
              <a:lnSpc>
                <a:spcPct val="100000"/>
              </a:lnSpc>
              <a:spcBef>
                <a:spcPts val="0"/>
              </a:spcBef>
              <a:spcAft>
                <a:spcPts val="0"/>
              </a:spcAft>
              <a:buNone/>
            </a:pPr>
            <a:r>
              <a:rPr lang="en-IN" sz="1400" b="1" i="0" dirty="0">
                <a:solidFill>
                  <a:srgbClr val="FFFFFF"/>
                </a:solidFill>
                <a:latin typeface="Calibri"/>
                <a:cs typeface="Calibri"/>
              </a:rPr>
              <a:t>3</a:t>
            </a:r>
          </a:p>
        </p:txBody>
      </p:sp>
      <p:sp>
        <p:nvSpPr>
          <p:cNvPr id="394" name="Next step 3"/>
          <p:cNvSpPr/>
          <p:nvPr/>
        </p:nvSpPr>
        <p:spPr>
          <a:xfrm>
            <a:off x="6263640" y="3648456"/>
            <a:ext cx="5166360" cy="1097280"/>
          </a:xfrm>
          <a:prstGeom prst="roundRect">
            <a:avLst>
              <a:gd name="adj" fmla="val 6000"/>
            </a:avLst>
          </a:prstGeom>
          <a:solidFill>
            <a:srgbClr val="FFFFFF"/>
          </a:solidFill>
          <a:ln w="12700">
            <a:solidFill>
              <a:srgbClr val="CDB6E0"/>
            </a:solidFill>
          </a:ln>
        </p:spPr>
        <p:txBody>
          <a:bodyPr wrap="square" lIns="164592" tIns="54864" rIns="109728" bIns="54864" anchor="ctr" anchorCtr="0">
            <a:noAutofit/>
          </a:bodyPr>
          <a:lstStyle/>
          <a:p>
            <a:pPr marL="0" indent="0" algn="l">
              <a:lnSpc>
                <a:spcPct val="100000"/>
              </a:lnSpc>
              <a:spcBef>
                <a:spcPts val="0"/>
              </a:spcBef>
              <a:spcAft>
                <a:spcPts val="0"/>
              </a:spcAft>
              <a:buNone/>
            </a:pPr>
            <a:r>
              <a:rPr lang="en-IN" sz="1500" b="1" i="0" dirty="0">
                <a:solidFill>
                  <a:srgbClr val="5A0886"/>
                </a:solidFill>
                <a:latin typeface="Calibri"/>
                <a:cs typeface="Calibri"/>
              </a:rPr>
              <a:t>Improve documentation</a:t>
            </a:r>
          </a:p>
          <a:p>
            <a:pPr marL="0" indent="0" algn="l">
              <a:lnSpc>
                <a:spcPct val="100000"/>
              </a:lnSpc>
              <a:spcBef>
                <a:spcPts val="200"/>
              </a:spcBef>
              <a:spcAft>
                <a:spcPts val="0"/>
              </a:spcAft>
              <a:buNone/>
            </a:pPr>
            <a:r>
              <a:rPr lang="en-IN" sz="1300" b="0" i="0" dirty="0">
                <a:solidFill>
                  <a:srgbClr val="2B2B2B"/>
                </a:solidFill>
                <a:latin typeface="Calibri"/>
                <a:cs typeface="Calibri"/>
              </a:rPr>
              <a:t>Write sample assessment reports with finding, risk and fix</a:t>
            </a:r>
          </a:p>
        </p:txBody>
      </p:sp>
      <p:sp>
        <p:nvSpPr>
          <p:cNvPr id="395" name="Step 4"/>
          <p:cNvSpPr/>
          <p:nvPr/>
        </p:nvSpPr>
        <p:spPr>
          <a:xfrm>
            <a:off x="5669280" y="4946904"/>
            <a:ext cx="420624" cy="420624"/>
          </a:xfrm>
          <a:prstGeom prst="ellipse">
            <a:avLst/>
          </a:prstGeom>
          <a:solidFill>
            <a:srgbClr val="5A0886"/>
          </a:solidFill>
          <a:ln>
            <a:noFill/>
          </a:ln>
        </p:spPr>
        <p:txBody>
          <a:bodyPr wrap="square" lIns="0" tIns="0" rIns="0" bIns="0" anchor="ctr" anchorCtr="0">
            <a:noAutofit/>
          </a:bodyPr>
          <a:lstStyle/>
          <a:p>
            <a:pPr marL="0" indent="0" algn="ctr">
              <a:lnSpc>
                <a:spcPct val="100000"/>
              </a:lnSpc>
              <a:spcBef>
                <a:spcPts val="0"/>
              </a:spcBef>
              <a:spcAft>
                <a:spcPts val="0"/>
              </a:spcAft>
              <a:buNone/>
            </a:pPr>
            <a:r>
              <a:rPr lang="en-IN" sz="1400" b="1" i="0" dirty="0">
                <a:solidFill>
                  <a:srgbClr val="FFFFFF"/>
                </a:solidFill>
                <a:latin typeface="Calibri"/>
                <a:cs typeface="Calibri"/>
              </a:rPr>
              <a:t>4</a:t>
            </a:r>
          </a:p>
        </p:txBody>
      </p:sp>
      <p:sp>
        <p:nvSpPr>
          <p:cNvPr id="396" name="Next step 4"/>
          <p:cNvSpPr/>
          <p:nvPr/>
        </p:nvSpPr>
        <p:spPr>
          <a:xfrm>
            <a:off x="6263640" y="4855464"/>
            <a:ext cx="5166360" cy="1097280"/>
          </a:xfrm>
          <a:prstGeom prst="roundRect">
            <a:avLst>
              <a:gd name="adj" fmla="val 6000"/>
            </a:avLst>
          </a:prstGeom>
          <a:solidFill>
            <a:srgbClr val="FFFFFF"/>
          </a:solidFill>
          <a:ln w="12700">
            <a:solidFill>
              <a:srgbClr val="CDB6E0"/>
            </a:solidFill>
          </a:ln>
        </p:spPr>
        <p:txBody>
          <a:bodyPr wrap="square" lIns="164592" tIns="54864" rIns="109728" bIns="54864" anchor="ctr" anchorCtr="0">
            <a:noAutofit/>
          </a:bodyPr>
          <a:lstStyle/>
          <a:p>
            <a:pPr marL="0" indent="0" algn="l">
              <a:lnSpc>
                <a:spcPct val="100000"/>
              </a:lnSpc>
              <a:spcBef>
                <a:spcPts val="0"/>
              </a:spcBef>
              <a:spcAft>
                <a:spcPts val="0"/>
              </a:spcAft>
              <a:buNone/>
            </a:pPr>
            <a:r>
              <a:rPr lang="en-IN" sz="1500" b="1" i="0" dirty="0">
                <a:solidFill>
                  <a:srgbClr val="5A0886"/>
                </a:solidFill>
                <a:latin typeface="Calibri"/>
                <a:cs typeface="Calibri"/>
              </a:rPr>
              <a:t>Keep learning in a structured way</a:t>
            </a:r>
          </a:p>
          <a:p>
            <a:pPr marL="0" indent="0" algn="l">
              <a:lnSpc>
                <a:spcPct val="100000"/>
              </a:lnSpc>
              <a:spcBef>
                <a:spcPts val="200"/>
              </a:spcBef>
              <a:spcAft>
                <a:spcPts val="0"/>
              </a:spcAft>
              <a:buNone/>
            </a:pPr>
            <a:r>
              <a:rPr lang="en-IN" sz="1300" b="0" i="0" dirty="0">
                <a:solidFill>
                  <a:srgbClr val="2B2B2B"/>
                </a:solidFill>
                <a:latin typeface="Calibri"/>
                <a:cs typeface="Calibri"/>
              </a:rPr>
              <a:t>Pick the next course after reviewing gaps from these two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2b4099f15_0_15"/>
          <p:cNvSpPr txBox="1">
            <a:spLocks noGrp="1"/>
          </p:cNvSpPr>
          <p:nvPr>
            <p:ph type="title"/>
          </p:nvPr>
        </p:nvSpPr>
        <p:spPr>
          <a:xfrm>
            <a:off x="2398187" y="84674"/>
            <a:ext cx="7586700" cy="9966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Bodoni"/>
              <a:buNone/>
            </a:pPr>
            <a:r>
              <a:rPr lang="en-IN" sz="2600" b="1" dirty="0">
                <a:latin typeface="Bodoni"/>
                <a:ea typeface="Bodoni"/>
                <a:cs typeface="Bodoni"/>
                <a:sym typeface="Bodoni"/>
              </a:rPr>
              <a:t>Evidence and Overall Takeaways</a:t>
            </a:r>
            <a:endParaRPr sz="3600" b="1">
              <a:latin typeface="Bodoni"/>
              <a:ea typeface="Bodoni"/>
              <a:cs typeface="Bodoni"/>
              <a:sym typeface="Bodoni"/>
            </a:endParaRPr>
          </a:p>
        </p:txBody>
      </p:sp>
      <p:sp>
        <p:nvSpPr>
          <p:cNvPr id="157" name="Google Shape;157;g382b4099f15_0_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p>
            <a:r>
              <a:rPr lang="en-US" dirty="0"/>
              <a:t>22/10/2026</a:t>
            </a:r>
          </a:p>
        </p:txBody>
      </p:sp>
      <p:sp>
        <p:nvSpPr>
          <p:cNvPr id="158" name="Google Shape;158;g382b4099f15_0_15"/>
          <p:cNvSpPr txBox="1">
            <a:spLocks noGrp="1"/>
          </p:cNvSpPr>
          <p:nvPr>
            <p:ph type="ftr" idx="11"/>
          </p:nvPr>
        </p:nvSpPr>
        <p:spPr>
          <a:xfrm>
            <a:off x="4165600" y="6356351"/>
            <a:ext cx="4810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Department of Cyber Security</a:t>
            </a:r>
            <a:endParaRPr dirty="0"/>
          </a:p>
        </p:txBody>
      </p:sp>
      <p:sp>
        <p:nvSpPr>
          <p:cNvPr id="159" name="Google Shape;159;g382b4099f15_0_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pic>
        <p:nvPicPr>
          <p:cNvPr id="160" name="Google Shape;160;g382b4099f15_0_15" descr="A circular logo with a circle and a logo on it&#10;&#10;AI-generated content may be incorrect."/>
          <p:cNvPicPr preferRelativeResize="0"/>
          <p:nvPr/>
        </p:nvPicPr>
        <p:blipFill rotWithShape="1">
          <a:blip r:embed="rId2">
            <a:alphaModFix/>
          </a:blip>
          <a:srcRect/>
          <a:stretch/>
        </p:blipFill>
        <p:spPr>
          <a:xfrm>
            <a:off x="11136560" y="44624"/>
            <a:ext cx="980728" cy="980728"/>
          </a:xfrm>
          <a:prstGeom prst="rect">
            <a:avLst/>
          </a:prstGeom>
          <a:noFill/>
          <a:ln>
            <a:noFill/>
          </a:ln>
        </p:spPr>
      </p:pic>
      <p:grpSp>
        <p:nvGrpSpPr>
          <p:cNvPr id="161" name="Google Shape;161;g382b4099f15_0_15"/>
          <p:cNvGrpSpPr/>
          <p:nvPr/>
        </p:nvGrpSpPr>
        <p:grpSpPr>
          <a:xfrm>
            <a:off x="7300" y="2220"/>
            <a:ext cx="1443834" cy="6855900"/>
            <a:chOff x="7300" y="2220"/>
            <a:chExt cx="1443834" cy="6855900"/>
          </a:xfrm>
        </p:grpSpPr>
        <p:sp>
          <p:nvSpPr>
            <p:cNvPr id="162" name="Google Shape;162;g382b4099f15_0_15"/>
            <p:cNvSpPr/>
            <p:nvPr/>
          </p:nvSpPr>
          <p:spPr>
            <a:xfrm>
              <a:off x="7300" y="2220"/>
              <a:ext cx="425100" cy="685590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3" name="Google Shape;163;g382b4099f15_0_15" descr="A logo with a blue design&#10;&#10;AI-generated content may be incorrect."/>
            <p:cNvPicPr preferRelativeResize="0"/>
            <p:nvPr/>
          </p:nvPicPr>
          <p:blipFill rotWithShape="1">
            <a:blip r:embed="rId3">
              <a:alphaModFix/>
            </a:blip>
            <a:srcRect/>
            <a:stretch/>
          </p:blipFill>
          <p:spPr>
            <a:xfrm>
              <a:off x="524957" y="183372"/>
              <a:ext cx="926177" cy="841980"/>
            </a:xfrm>
            <a:prstGeom prst="rect">
              <a:avLst/>
            </a:prstGeom>
            <a:noFill/>
            <a:ln>
              <a:noFill/>
            </a:ln>
          </p:spPr>
        </p:pic>
      </p:grpSp>
      <p:pic>
        <p:nvPicPr>
          <p:cNvPr id="397" name="Cisco certificate" descr="Cisco Networking Academy Ethical Hacker certificate for Priya Gaglani, 16 Sep 2026"/>
          <p:cNvPicPr>
            <a:picLocks noChangeAspect="1"/>
          </p:cNvPicPr>
          <p:nvPr/>
        </p:nvPicPr>
        <p:blipFill>
          <a:blip r:embed="rId4"/>
          <a:stretch>
            <a:fillRect/>
          </a:stretch>
        </p:blipFill>
        <p:spPr>
          <a:xfrm>
            <a:off x="1451134" y="1150620"/>
            <a:ext cx="4333345" cy="2487168"/>
          </a:xfrm>
          <a:prstGeom prst="rect">
            <a:avLst/>
          </a:prstGeom>
          <a:ln w="12700">
            <a:solidFill>
              <a:srgbClr val="5A0886"/>
            </a:solidFill>
          </a:ln>
        </p:spPr>
      </p:pic>
      <p:pic>
        <p:nvPicPr>
          <p:cNvPr id="398" name="Infosys certificate" descr="Infosys Springboard Kali Linux Advanced Wireless Penetration Testing certificate for Priya Gaglani"/>
          <p:cNvPicPr>
            <a:picLocks noChangeAspect="1"/>
          </p:cNvPicPr>
          <p:nvPr/>
        </p:nvPicPr>
        <p:blipFill>
          <a:blip r:embed="rId5"/>
          <a:stretch>
            <a:fillRect/>
          </a:stretch>
        </p:blipFill>
        <p:spPr>
          <a:xfrm>
            <a:off x="6407523" y="1120693"/>
            <a:ext cx="4222377" cy="2517095"/>
          </a:xfrm>
          <a:prstGeom prst="rect">
            <a:avLst/>
          </a:prstGeom>
          <a:ln w="12700">
            <a:solidFill>
              <a:srgbClr val="0E7C86"/>
            </a:solidFill>
          </a:ln>
        </p:spPr>
      </p:pic>
      <p:sp>
        <p:nvSpPr>
          <p:cNvPr id="399" name="Cisco caption"/>
          <p:cNvSpPr/>
          <p:nvPr/>
        </p:nvSpPr>
        <p:spPr>
          <a:xfrm>
            <a:off x="2264039" y="3702943"/>
            <a:ext cx="3520440" cy="27432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IN" sz="1100" b="0" i="1" dirty="0">
                <a:solidFill>
                  <a:srgbClr val="555555"/>
                </a:solidFill>
                <a:latin typeface="Calibri"/>
                <a:cs typeface="Calibri"/>
              </a:rPr>
              <a:t>Certificate 1: Cisco Ethical Hacker, 16 Sep 2026</a:t>
            </a:r>
          </a:p>
        </p:txBody>
      </p:sp>
      <p:sp>
        <p:nvSpPr>
          <p:cNvPr id="400" name="Infosys caption"/>
          <p:cNvSpPr/>
          <p:nvPr/>
        </p:nvSpPr>
        <p:spPr>
          <a:xfrm>
            <a:off x="7216180" y="3712464"/>
            <a:ext cx="3520440" cy="27432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IN" sz="1100" b="0" i="1" dirty="0">
                <a:solidFill>
                  <a:srgbClr val="555555"/>
                </a:solidFill>
                <a:latin typeface="Calibri"/>
                <a:cs typeface="Calibri"/>
              </a:rPr>
              <a:t>Certificate 2: Infosys Springboard, Sep 2, 2026</a:t>
            </a:r>
          </a:p>
        </p:txBody>
      </p:sp>
      <p:sp>
        <p:nvSpPr>
          <p:cNvPr id="402" name="Takeaway 1"/>
          <p:cNvSpPr/>
          <p:nvPr/>
        </p:nvSpPr>
        <p:spPr>
          <a:xfrm>
            <a:off x="822960" y="4343400"/>
            <a:ext cx="3383280" cy="1645920"/>
          </a:xfrm>
          <a:prstGeom prst="roundRect">
            <a:avLst>
              <a:gd name="adj" fmla="val 6000"/>
            </a:avLst>
          </a:prstGeom>
          <a:solidFill>
            <a:srgbClr val="5A0886"/>
          </a:solidFill>
          <a:ln>
            <a:noFill/>
          </a:ln>
        </p:spPr>
        <p:txBody>
          <a:bodyPr wrap="square" lIns="182880" tIns="91440" rIns="137160" bIns="91440" anchor="ctr" anchorCtr="0">
            <a:noAutofit/>
          </a:bodyPr>
          <a:lstStyle/>
          <a:p>
            <a:pPr marL="0" indent="0" algn="l">
              <a:lnSpc>
                <a:spcPct val="100000"/>
              </a:lnSpc>
              <a:spcBef>
                <a:spcPts val="0"/>
              </a:spcBef>
              <a:spcAft>
                <a:spcPts val="0"/>
              </a:spcAft>
              <a:buNone/>
            </a:pPr>
            <a:r>
              <a:rPr lang="en-IN" sz="1600" b="1" i="0" dirty="0">
                <a:solidFill>
                  <a:srgbClr val="FFFFFF"/>
                </a:solidFill>
                <a:latin typeface="Calibri"/>
                <a:cs typeface="Calibri"/>
              </a:rPr>
              <a:t>Completed</a:t>
            </a:r>
          </a:p>
          <a:p>
            <a:pPr marL="0" indent="0" algn="l">
              <a:lnSpc>
                <a:spcPct val="100000"/>
              </a:lnSpc>
              <a:spcBef>
                <a:spcPts val="400"/>
              </a:spcBef>
              <a:spcAft>
                <a:spcPts val="0"/>
              </a:spcAft>
              <a:buNone/>
            </a:pPr>
            <a:r>
              <a:rPr lang="en-IN" sz="1400" b="0" i="0" dirty="0">
                <a:solidFill>
                  <a:srgbClr val="FFFFFF"/>
                </a:solidFill>
                <a:latin typeface="Calibri"/>
                <a:cs typeface="Calibri"/>
              </a:rPr>
              <a:t>Two courses from two providers, each with a certificate</a:t>
            </a:r>
          </a:p>
        </p:txBody>
      </p:sp>
      <p:sp>
        <p:nvSpPr>
          <p:cNvPr id="403" name="Takeaway 2"/>
          <p:cNvSpPr/>
          <p:nvPr/>
        </p:nvSpPr>
        <p:spPr>
          <a:xfrm>
            <a:off x="4434840" y="4343400"/>
            <a:ext cx="3383280" cy="1645920"/>
          </a:xfrm>
          <a:prstGeom prst="roundRect">
            <a:avLst>
              <a:gd name="adj" fmla="val 6000"/>
            </a:avLst>
          </a:prstGeom>
          <a:solidFill>
            <a:srgbClr val="0E7C86"/>
          </a:solidFill>
          <a:ln>
            <a:noFill/>
          </a:ln>
        </p:spPr>
        <p:txBody>
          <a:bodyPr wrap="square" lIns="182880" tIns="91440" rIns="137160" bIns="91440" anchor="ctr" anchorCtr="0">
            <a:noAutofit/>
          </a:bodyPr>
          <a:lstStyle/>
          <a:p>
            <a:pPr marL="0" indent="0" algn="l">
              <a:lnSpc>
                <a:spcPct val="100000"/>
              </a:lnSpc>
              <a:spcBef>
                <a:spcPts val="0"/>
              </a:spcBef>
              <a:spcAft>
                <a:spcPts val="0"/>
              </a:spcAft>
              <a:buNone/>
            </a:pPr>
            <a:r>
              <a:rPr lang="en-IN" sz="1600" b="1" i="0" dirty="0">
                <a:solidFill>
                  <a:srgbClr val="FFFFFF"/>
                </a:solidFill>
                <a:latin typeface="Calibri"/>
                <a:cs typeface="Calibri"/>
              </a:rPr>
              <a:t>Learned</a:t>
            </a:r>
          </a:p>
          <a:p>
            <a:pPr marL="0" indent="0" algn="l">
              <a:lnSpc>
                <a:spcPct val="100000"/>
              </a:lnSpc>
              <a:spcBef>
                <a:spcPts val="400"/>
              </a:spcBef>
              <a:spcAft>
                <a:spcPts val="0"/>
              </a:spcAft>
              <a:buNone/>
            </a:pPr>
            <a:r>
              <a:rPr lang="en-IN" sz="1400" b="0" i="0" dirty="0">
                <a:solidFill>
                  <a:srgbClr val="FFFFFF"/>
                </a:solidFill>
                <a:latin typeface="Calibri"/>
                <a:cs typeface="Calibri"/>
              </a:rPr>
              <a:t>Assessment is a process: scope, assess, report, and improve</a:t>
            </a:r>
          </a:p>
        </p:txBody>
      </p:sp>
      <p:sp>
        <p:nvSpPr>
          <p:cNvPr id="404" name="Takeaway 3"/>
          <p:cNvSpPr/>
          <p:nvPr/>
        </p:nvSpPr>
        <p:spPr>
          <a:xfrm>
            <a:off x="8046720" y="4343400"/>
            <a:ext cx="3383280" cy="1645920"/>
          </a:xfrm>
          <a:prstGeom prst="roundRect">
            <a:avLst>
              <a:gd name="adj" fmla="val 6000"/>
            </a:avLst>
          </a:prstGeom>
          <a:solidFill>
            <a:srgbClr val="5A0886"/>
          </a:solidFill>
          <a:ln>
            <a:noFill/>
          </a:ln>
        </p:spPr>
        <p:txBody>
          <a:bodyPr wrap="square" lIns="182880" tIns="91440" rIns="137160" bIns="91440" anchor="ctr" anchorCtr="0">
            <a:noAutofit/>
          </a:bodyPr>
          <a:lstStyle/>
          <a:p>
            <a:pPr marL="0" indent="0" algn="l">
              <a:lnSpc>
                <a:spcPct val="100000"/>
              </a:lnSpc>
              <a:spcBef>
                <a:spcPts val="0"/>
              </a:spcBef>
              <a:spcAft>
                <a:spcPts val="0"/>
              </a:spcAft>
              <a:buNone/>
            </a:pPr>
            <a:r>
              <a:rPr lang="en-IN" sz="1600" b="1" i="0" dirty="0">
                <a:solidFill>
                  <a:srgbClr val="FFFFFF"/>
                </a:solidFill>
                <a:latin typeface="Calibri"/>
                <a:cs typeface="Calibri"/>
              </a:rPr>
              <a:t>Next</a:t>
            </a:r>
          </a:p>
          <a:p>
            <a:pPr marL="0" indent="0" algn="l">
              <a:lnSpc>
                <a:spcPct val="100000"/>
              </a:lnSpc>
              <a:spcBef>
                <a:spcPts val="400"/>
              </a:spcBef>
              <a:spcAft>
                <a:spcPts val="0"/>
              </a:spcAft>
              <a:buNone/>
            </a:pPr>
            <a:r>
              <a:rPr lang="en-IN" sz="1400" b="0" i="0" dirty="0">
                <a:solidFill>
                  <a:srgbClr val="FFFFFF"/>
                </a:solidFill>
                <a:latin typeface="Calibri"/>
                <a:cs typeface="Calibri"/>
              </a:rPr>
              <a:t>Networking basics</a:t>
            </a:r>
            <a:r>
              <a:rPr lang="en-IN" dirty="0">
                <a:solidFill>
                  <a:srgbClr val="FFFFFF"/>
                </a:solidFill>
                <a:latin typeface="Calibri"/>
                <a:cs typeface="Calibri"/>
              </a:rPr>
              <a:t> &amp; </a:t>
            </a:r>
            <a:r>
              <a:rPr lang="en-IN" sz="1400" b="0" i="0" dirty="0">
                <a:solidFill>
                  <a:srgbClr val="FFFFFF"/>
                </a:solidFill>
                <a:latin typeface="Calibri"/>
                <a:cs typeface="Calibri"/>
              </a:rPr>
              <a:t>authorised labs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4"/>
          <p:cNvSpPr txBox="1">
            <a:spLocks noGrp="1"/>
          </p:cNvSpPr>
          <p:nvPr>
            <p:ph type="body" idx="1"/>
          </p:nvPr>
        </p:nvSpPr>
        <p:spPr>
          <a:xfrm>
            <a:off x="2333799" y="2636912"/>
            <a:ext cx="7704856" cy="1036712"/>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6600"/>
              <a:buNone/>
            </a:pPr>
            <a:r>
              <a:rPr lang="en-US" sz="6600">
                <a:latin typeface="Verdana"/>
                <a:ea typeface="Verdana"/>
                <a:cs typeface="Verdana"/>
                <a:sym typeface="Verdana"/>
              </a:rPr>
              <a:t>Thank You</a:t>
            </a:r>
            <a:endParaRPr/>
          </a:p>
        </p:txBody>
      </p:sp>
      <p:pic>
        <p:nvPicPr>
          <p:cNvPr id="169" name="Google Shape;169;p34" descr="A circular logo with a circle and a logo on it&#10;&#10;AI-generated content may be incorrect."/>
          <p:cNvPicPr preferRelativeResize="0"/>
          <p:nvPr/>
        </p:nvPicPr>
        <p:blipFill rotWithShape="1">
          <a:blip r:embed="rId3">
            <a:alphaModFix/>
          </a:blip>
          <a:srcRect/>
          <a:stretch/>
        </p:blipFill>
        <p:spPr>
          <a:xfrm>
            <a:off x="11136560" y="44624"/>
            <a:ext cx="980728" cy="980728"/>
          </a:xfrm>
          <a:prstGeom prst="rect">
            <a:avLst/>
          </a:prstGeom>
          <a:noFill/>
          <a:ln>
            <a:noFill/>
          </a:ln>
        </p:spPr>
      </p:pic>
      <p:grpSp>
        <p:nvGrpSpPr>
          <p:cNvPr id="170" name="Google Shape;170;p34"/>
          <p:cNvGrpSpPr/>
          <p:nvPr/>
        </p:nvGrpSpPr>
        <p:grpSpPr>
          <a:xfrm>
            <a:off x="7300" y="2220"/>
            <a:ext cx="1443834" cy="6855780"/>
            <a:chOff x="7300" y="2220"/>
            <a:chExt cx="1443834" cy="6855780"/>
          </a:xfrm>
        </p:grpSpPr>
        <p:sp>
          <p:nvSpPr>
            <p:cNvPr id="171" name="Google Shape;171;p34"/>
            <p:cNvSpPr/>
            <p:nvPr/>
          </p:nvSpPr>
          <p:spPr>
            <a:xfrm>
              <a:off x="7300" y="2220"/>
              <a:ext cx="425219" cy="6855780"/>
            </a:xfrm>
            <a:prstGeom prst="rect">
              <a:avLst/>
            </a:prstGeom>
            <a:solidFill>
              <a:srgbClr val="5A0886"/>
            </a:solidFill>
            <a:ln w="25400" cap="flat" cmpd="sng">
              <a:solidFill>
                <a:srgbClr val="5A088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72" name="Google Shape;172;p34" descr="A logo with a blue design&#10;&#10;AI-generated content may be incorrect."/>
            <p:cNvPicPr preferRelativeResize="0"/>
            <p:nvPr/>
          </p:nvPicPr>
          <p:blipFill rotWithShape="1">
            <a:blip r:embed="rId4">
              <a:alphaModFix/>
            </a:blip>
            <a:srcRect/>
            <a:stretch/>
          </p:blipFill>
          <p:spPr>
            <a:xfrm>
              <a:off x="524957" y="183372"/>
              <a:ext cx="926177" cy="841980"/>
            </a:xfrm>
            <a:prstGeom prst="rect">
              <a:avLst/>
            </a:prstGeom>
            <a:noFill/>
            <a:ln>
              <a:noFill/>
            </a:ln>
          </p:spPr>
        </p:pic>
      </p:grpSp>
      <p:sp>
        <p:nvSpPr>
          <p:cNvPr id="173" name="Google Shape;173;p3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p>
            <a:r>
              <a:rPr lang="en-US" dirty="0"/>
              <a:t>22/10/2026</a:t>
            </a:r>
          </a:p>
          <a:p>
            <a:pPr marL="0" lvl="0" indent="0" algn="l" rtl="0">
              <a:lnSpc>
                <a:spcPct val="100000"/>
              </a:lnSpc>
              <a:spcBef>
                <a:spcPts val="0"/>
              </a:spcBef>
              <a:spcAft>
                <a:spcPts val="0"/>
              </a:spcAft>
              <a:buSzPts val="1400"/>
              <a:buNone/>
            </a:pPr>
            <a:endParaRPr dirty="0"/>
          </a:p>
        </p:txBody>
      </p:sp>
      <p:sp>
        <p:nvSpPr>
          <p:cNvPr id="174" name="Google Shape;174;p3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Cyber Security</a:t>
            </a:r>
            <a:endParaRPr/>
          </a:p>
        </p:txBody>
      </p:sp>
      <p:sp>
        <p:nvSpPr>
          <p:cNvPr id="175" name="Google Shape;175;p3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5528547-be21-4cb5-b3e5-9f4745cd629b">
      <Terms xmlns="http://schemas.microsoft.com/office/infopath/2007/PartnerControls"/>
    </lcf76f155ced4ddcb4097134ff3c332f>
    <TaxCatchAll xmlns="17f54f7e-8591-4f9a-8309-58e36c435fb9" xsi:nil="true"/>
    <ReferenceId xmlns="65528547-be21-4cb5-b3e5-9f4745cd629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922E9DACFE213439CA4353750D1E044" ma:contentTypeVersion="10" ma:contentTypeDescription="Create a new document." ma:contentTypeScope="" ma:versionID="2479fa9904c906d3237b484a01811b6e">
  <xsd:schema xmlns:xsd="http://www.w3.org/2001/XMLSchema" xmlns:xs="http://www.w3.org/2001/XMLSchema" xmlns:p="http://schemas.microsoft.com/office/2006/metadata/properties" xmlns:ns2="65528547-be21-4cb5-b3e5-9f4745cd629b" xmlns:ns3="17f54f7e-8591-4f9a-8309-58e36c435fb9" targetNamespace="http://schemas.microsoft.com/office/2006/metadata/properties" ma:root="true" ma:fieldsID="793431c81cb2616d36d2ff76712c594b" ns2:_="" ns3:_="">
    <xsd:import namespace="65528547-be21-4cb5-b3e5-9f4745cd629b"/>
    <xsd:import namespace="17f54f7e-8591-4f9a-8309-58e36c435fb9"/>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528547-be21-4cb5-b3e5-9f4745cd629b"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de69592b-492b-4a9a-8d6d-eb7c5dc7e319"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7f54f7e-8591-4f9a-8309-58e36c435fb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a2bae935-0890-4c7f-9879-7875db3e9754}" ma:internalName="TaxCatchAll" ma:showField="CatchAllData" ma:web="17f54f7e-8591-4f9a-8309-58e36c435f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AE2A52-8254-4352-A34F-82004FEBCBF7}">
  <ds:schemaRefs>
    <ds:schemaRef ds:uri="http://schemas.microsoft.com/sharepoint/v3/contenttype/forms"/>
  </ds:schemaRefs>
</ds:datastoreItem>
</file>

<file path=customXml/itemProps2.xml><?xml version="1.0" encoding="utf-8"?>
<ds:datastoreItem xmlns:ds="http://schemas.openxmlformats.org/officeDocument/2006/customXml" ds:itemID="{3A498B07-8437-4BD5-A2A0-09F438039E51}">
  <ds:schemaRefs>
    <ds:schemaRef ds:uri="http://schemas.microsoft.com/office/2006/metadata/properties"/>
    <ds:schemaRef ds:uri="http://schemas.microsoft.com/office/infopath/2007/PartnerControls"/>
    <ds:schemaRef ds:uri="65528547-be21-4cb5-b3e5-9f4745cd629b"/>
    <ds:schemaRef ds:uri="17f54f7e-8591-4f9a-8309-58e36c435fb9"/>
  </ds:schemaRefs>
</ds:datastoreItem>
</file>

<file path=customXml/itemProps3.xml><?xml version="1.0" encoding="utf-8"?>
<ds:datastoreItem xmlns:ds="http://schemas.openxmlformats.org/officeDocument/2006/customXml" ds:itemID="{7ED4E9A9-7CC5-43B8-B768-0708708C3B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5528547-be21-4cb5-b3e5-9f4745cd629b"/>
    <ds:schemaRef ds:uri="17f54f7e-8591-4f9a-8309-58e36c435f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TotalTime>
  <Words>1657</Words>
  <Application>Microsoft Office PowerPoint</Application>
  <PresentationFormat>Widescreen</PresentationFormat>
  <Paragraphs>254</Paragraphs>
  <Slides>16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Bodoni</vt:lpstr>
      <vt:lpstr>Arial</vt:lpstr>
      <vt:lpstr>Times New Roman</vt:lpstr>
      <vt:lpstr>Verdana</vt:lpstr>
      <vt:lpstr>Calibri</vt:lpstr>
      <vt:lpstr>Office Theme</vt:lpstr>
      <vt:lpstr>  Mahavir Education Trust’s Shah &amp; Anchor Kutchhi Engineering College Chembur, Mumbai-400088 (An Autonomous Institute Affiliated to University of Mumbai)</vt:lpstr>
      <vt:lpstr>Vision &amp; Mission</vt:lpstr>
      <vt:lpstr>  Program Specific Outcomes </vt:lpstr>
      <vt:lpstr>Outline</vt:lpstr>
      <vt:lpstr>My Self-Learning Journey</vt:lpstr>
      <vt:lpstr>Activity 1: Cisco Ethical Hacker</vt:lpstr>
      <vt:lpstr>Activity 2: Wireless Penetration Testing</vt:lpstr>
      <vt:lpstr>Learning Process and Evidence</vt:lpstr>
      <vt:lpstr>Key Technical Concepts</vt:lpstr>
      <vt:lpstr>Practical Example (Hypothetical)</vt:lpstr>
      <vt:lpstr>Skills Gained</vt:lpstr>
      <vt:lpstr>Challenges and How I Addressed Them</vt:lpstr>
      <vt:lpstr>Career Relevance</vt:lpstr>
      <vt:lpstr>Reflection and Future Learning Plan</vt:lpstr>
      <vt:lpstr>Evidence and Overall Takeaways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Mahavir Education Trust’s Shah &amp; Anchor Kutchhi Engineering College Chembur, Mumbai-400088 (An Autonomous Institute Affiliated to University of Mumbai)</dc:title>
  <dc:creator>Mahesh Patil</dc:creator>
  <cp:lastModifiedBy>Priya</cp:lastModifiedBy>
  <cp:revision>5</cp:revision>
  <dcterms:created xsi:type="dcterms:W3CDTF">2023-06-05T08:11:23Z</dcterms:created>
  <dcterms:modified xsi:type="dcterms:W3CDTF">2026-10-25T16:28:31Z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0x0101006922E9DACFE213439CA4353750D1E044</vt:lpwstr>
  </property>
  <property fmtid="{D5CDD505-2E9C-101B-9397-08002B2CF9AE}" pid="3" name="MediaServiceImageTags">
    <vt:lpwstr/>
  </property>
</Properties>
</file>