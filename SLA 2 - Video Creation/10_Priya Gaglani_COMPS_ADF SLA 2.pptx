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0"/>
  </p:notes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61" r:id="rId19"/>
  </p:sldIdLst>
  <p:sldSz cx="12192000" cy="6858000"/>
  <p:notesSz cx="6858000" cy="9144000"/>
  <p:embeddedFontLst>
    <p:embeddedFont>
      <p:font typeface="Bodoni" panose="020B0604020202020204" charset="0"/>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8i/0QYR7hMratR+aAnh5MRVo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269872-E178-4BFD-9306-1EBE11D6D2E7}">
  <a:tblStyle styleId="{78269872-E178-4BFD-9306-1EBE11D6D2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174673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9" name="Google Shape;9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7" name="Google Shape;1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82b4099f15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82b4099f15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3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7"/>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7"/>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3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3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3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3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4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4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4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4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43"/>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4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4"/>
          <p:cNvSpPr>
            <a:spLocks noGrp="1"/>
          </p:cNvSpPr>
          <p:nvPr>
            <p:ph type="pic" idx="2"/>
          </p:nvPr>
        </p:nvSpPr>
        <p:spPr>
          <a:xfrm>
            <a:off x="2389717" y="612775"/>
            <a:ext cx="7315200" cy="4114800"/>
          </a:xfrm>
          <a:prstGeom prst="rect">
            <a:avLst/>
          </a:prstGeom>
          <a:noFill/>
          <a:ln>
            <a:noFill/>
          </a:ln>
        </p:spPr>
      </p:sp>
      <p:sp>
        <p:nvSpPr>
          <p:cNvPr id="68" name="Google Shape;68;p44"/>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4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6"/>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4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4000"/>
          </a:blip>
          <a:stretch>
            <a:fillRect/>
          </a:stretch>
        </a:blip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1681758" y="-27384"/>
            <a:ext cx="8828484" cy="142876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Verdana"/>
              <a:buNone/>
            </a:pPr>
            <a:r>
              <a:rPr lang="en-US" sz="3600">
                <a:latin typeface="Verdana"/>
                <a:ea typeface="Verdana"/>
                <a:cs typeface="Verdana"/>
                <a:sym typeface="Verdana"/>
              </a:rPr>
              <a:t> </a:t>
            </a:r>
            <a:r>
              <a:rPr lang="en-US" sz="1800">
                <a:latin typeface="Bodoni"/>
                <a:ea typeface="Bodoni"/>
                <a:cs typeface="Bodoni"/>
                <a:sym typeface="Bodoni"/>
              </a:rPr>
              <a:t> Mahavir Education Trust’s</a:t>
            </a:r>
            <a:br>
              <a:rPr lang="en-US" sz="1800">
                <a:latin typeface="Bodoni"/>
                <a:ea typeface="Bodoni"/>
                <a:cs typeface="Bodoni"/>
                <a:sym typeface="Bodoni"/>
              </a:rPr>
            </a:br>
            <a:r>
              <a:rPr lang="en-US" sz="4000">
                <a:latin typeface="Bodoni"/>
                <a:ea typeface="Bodoni"/>
                <a:cs typeface="Bodoni"/>
                <a:sym typeface="Bodoni"/>
              </a:rPr>
              <a:t>Shah &amp; Anchor Kutchhi Engineering College</a:t>
            </a:r>
            <a:br>
              <a:rPr lang="en-US" sz="3100">
                <a:latin typeface="Bodoni"/>
                <a:ea typeface="Bodoni"/>
                <a:cs typeface="Bodoni"/>
                <a:sym typeface="Bodoni"/>
              </a:rPr>
            </a:br>
            <a:r>
              <a:rPr lang="en-US" sz="1800">
                <a:latin typeface="Bodoni"/>
                <a:ea typeface="Bodoni"/>
                <a:cs typeface="Bodoni"/>
                <a:sym typeface="Bodoni"/>
              </a:rPr>
              <a:t>Chembur, Mumbai-400088</a:t>
            </a:r>
            <a:br>
              <a:rPr lang="en-US" sz="1800">
                <a:latin typeface="Bodoni"/>
                <a:ea typeface="Bodoni"/>
                <a:cs typeface="Bodoni"/>
                <a:sym typeface="Bodoni"/>
              </a:rPr>
            </a:br>
            <a:r>
              <a:rPr lang="en-US" sz="1800">
                <a:solidFill>
                  <a:schemeClr val="dk1"/>
                </a:solidFill>
                <a:latin typeface="Bodoni"/>
                <a:ea typeface="Bodoni"/>
                <a:cs typeface="Bodoni"/>
                <a:sym typeface="Bodoni"/>
              </a:rPr>
              <a:t>(An Autonomous Institute Affiliated to University of Mumbai)</a:t>
            </a:r>
            <a:endParaRPr sz="2000">
              <a:latin typeface="Bodoni"/>
              <a:ea typeface="Bodoni"/>
              <a:cs typeface="Bodoni"/>
              <a:sym typeface="Bodoni"/>
            </a:endParaRPr>
          </a:p>
        </p:txBody>
      </p:sp>
      <p:sp>
        <p:nvSpPr>
          <p:cNvPr id="89" name="Google Shape;89;p1"/>
          <p:cNvSpPr txBox="1"/>
          <p:nvPr/>
        </p:nvSpPr>
        <p:spPr>
          <a:xfrm>
            <a:off x="2333820" y="3717032"/>
            <a:ext cx="7721579" cy="8768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000"/>
              <a:buFont typeface="Verdana"/>
              <a:buNone/>
            </a:pPr>
            <a:r>
              <a:rPr lang="en-US" sz="4000" b="0" i="0" u="none" strike="noStrike" cap="none">
                <a:solidFill>
                  <a:schemeClr val="dk1"/>
                </a:solidFill>
                <a:latin typeface="Verdana"/>
                <a:ea typeface="Verdana"/>
                <a:cs typeface="Verdana"/>
                <a:sym typeface="Verdana"/>
              </a:rPr>
              <a:t> </a:t>
            </a:r>
            <a:r>
              <a:rPr lang="en-US" sz="2000" b="0" i="0" u="none" strike="noStrike" cap="none">
                <a:solidFill>
                  <a:schemeClr val="dk1"/>
                </a:solidFill>
                <a:latin typeface="Bodoni"/>
                <a:ea typeface="Bodoni"/>
                <a:cs typeface="Bodoni"/>
                <a:sym typeface="Bodoni"/>
              </a:rPr>
              <a:t>Department of Cyber Security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Bodoni"/>
              <a:buNone/>
            </a:pPr>
            <a:endParaRPr sz="1050" b="1" i="1" u="none" strike="noStrike" cap="none">
              <a:solidFill>
                <a:srgbClr val="5A0886"/>
              </a:solidFill>
              <a:latin typeface="Bodoni"/>
              <a:ea typeface="Bodoni"/>
              <a:cs typeface="Bodoni"/>
              <a:sym typeface="Bodoni"/>
            </a:endParaRPr>
          </a:p>
        </p:txBody>
      </p:sp>
      <p:sp>
        <p:nvSpPr>
          <p:cNvPr id="90" name="Google Shape;90;p1"/>
          <p:cNvSpPr txBox="1"/>
          <p:nvPr/>
        </p:nvSpPr>
        <p:spPr>
          <a:xfrm>
            <a:off x="2468709" y="4591132"/>
            <a:ext cx="7586690" cy="220486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Verdana"/>
              <a:buNone/>
            </a:pPr>
            <a:r>
              <a:rPr lang="en-US" sz="1200" b="0" i="0" u="none" strike="noStrike" cap="none" dirty="0">
                <a:solidFill>
                  <a:schemeClr val="dk1"/>
                </a:solidFill>
                <a:latin typeface="Verdana"/>
                <a:ea typeface="Verdana"/>
                <a:cs typeface="Verdana"/>
                <a:sym typeface="Verdana"/>
              </a:rPr>
              <a:t>presentation</a:t>
            </a:r>
            <a:endParaRPr sz="12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chemeClr val="dk1"/>
              </a:buClr>
              <a:buSzPts val="1200"/>
              <a:buFont typeface="Verdana"/>
              <a:buNone/>
            </a:pPr>
            <a:r>
              <a:rPr lang="en-US" sz="1200" b="0" i="0" u="none" strike="noStrike" cap="none" dirty="0">
                <a:solidFill>
                  <a:schemeClr val="dk1"/>
                </a:solidFill>
                <a:latin typeface="Verdana"/>
                <a:ea typeface="Verdana"/>
                <a:cs typeface="Verdana"/>
                <a:sym typeface="Verdana"/>
              </a:rPr>
              <a:t>on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Verdana"/>
              <a:ea typeface="Verdana"/>
              <a:cs typeface="Verdana"/>
              <a:sym typeface="Verdana"/>
            </a:endParaRPr>
          </a:p>
          <a:p>
            <a:pPr algn="ctr">
              <a:buClr>
                <a:schemeClr val="dk1"/>
              </a:buClr>
              <a:buSzPts val="1600"/>
            </a:pPr>
            <a:r>
              <a:rPr lang="en-US" sz="1600" b="1" dirty="0">
                <a:latin typeface="Verdana" panose="020B0604030504040204" pitchFamily="34" charset="0"/>
                <a:ea typeface="Verdana" panose="020B0604030504040204" pitchFamily="34" charset="0"/>
              </a:rPr>
              <a:t>The Role of Artificial Intelligence in Advanced Digital Forensics</a:t>
            </a:r>
          </a:p>
          <a:p>
            <a:pPr marL="0" marR="0" lvl="0" indent="0" algn="ctr" rtl="0">
              <a:lnSpc>
                <a:spcPct val="100000"/>
              </a:lnSpc>
              <a:spcBef>
                <a:spcPts val="0"/>
              </a:spcBef>
              <a:spcAft>
                <a:spcPts val="0"/>
              </a:spcAft>
              <a:buClr>
                <a:schemeClr val="dk1"/>
              </a:buClr>
              <a:buSzPts val="1600"/>
              <a:buFont typeface="Verdana"/>
              <a:buNone/>
            </a:pPr>
            <a:endParaRPr sz="1400" b="0" i="0" u="none" strike="noStrike" cap="none" dirty="0">
              <a:solidFill>
                <a:srgbClr val="000000"/>
              </a:solidFill>
              <a:latin typeface="Arial"/>
              <a:ea typeface="Arial"/>
              <a:cs typeface="Arial"/>
              <a:sym typeface="Arial"/>
            </a:endParaRPr>
          </a:p>
          <a:p>
            <a:pPr lvl="0" algn="ctr">
              <a:buClr>
                <a:schemeClr val="dk1"/>
              </a:buClr>
              <a:buSzPts val="1200"/>
            </a:pPr>
            <a:r>
              <a:rPr lang="en-US" sz="1200" b="0" i="0" u="none" strike="noStrike" cap="none" dirty="0">
                <a:solidFill>
                  <a:schemeClr val="dk1"/>
                </a:solidFill>
                <a:highlight>
                  <a:schemeClr val="lt1"/>
                </a:highlight>
                <a:latin typeface="Verdana"/>
                <a:ea typeface="Verdana"/>
                <a:cs typeface="Verdana"/>
                <a:sym typeface="Verdana"/>
              </a:rPr>
              <a:t>(</a:t>
            </a:r>
            <a:r>
              <a:rPr lang="en-US" sz="1200" b="0" i="0" u="none" strike="noStrike" cap="none" dirty="0" err="1">
                <a:solidFill>
                  <a:schemeClr val="dk1"/>
                </a:solidFill>
                <a:highlight>
                  <a:schemeClr val="lt1"/>
                </a:highlight>
                <a:latin typeface="Verdana"/>
                <a:ea typeface="Verdana"/>
                <a:cs typeface="Verdana"/>
                <a:sym typeface="Verdana"/>
              </a:rPr>
              <a:t>Subject:Advanced</a:t>
            </a:r>
            <a:r>
              <a:rPr lang="en-US" sz="1200" b="0" i="0" u="none" strike="noStrike" cap="none" dirty="0">
                <a:solidFill>
                  <a:schemeClr val="dk1"/>
                </a:solidFill>
                <a:highlight>
                  <a:schemeClr val="lt1"/>
                </a:highlight>
                <a:latin typeface="Verdana"/>
                <a:ea typeface="Verdana"/>
                <a:cs typeface="Verdana"/>
                <a:sym typeface="Verdana"/>
              </a:rPr>
              <a:t> Digital Forensics      </a:t>
            </a:r>
            <a:r>
              <a:rPr lang="en-IN" sz="1200" dirty="0"/>
              <a:t>HNCSCR0701</a:t>
            </a:r>
            <a:r>
              <a:rPr lang="en-US" sz="1200" b="0" i="0" u="none" strike="noStrike" cap="none" dirty="0">
                <a:solidFill>
                  <a:schemeClr val="dk1"/>
                </a:solidFill>
                <a:highlight>
                  <a:schemeClr val="lt1"/>
                </a:highlight>
                <a:latin typeface="Verdana"/>
                <a:ea typeface="Verdana"/>
                <a:cs typeface="Verdana"/>
                <a:sym typeface="Verdana"/>
              </a:rPr>
              <a:t> )</a:t>
            </a:r>
            <a:endParaRPr sz="1400" b="0" i="0" u="none" strike="noStrike" cap="none" dirty="0">
              <a:solidFill>
                <a:srgbClr val="000000"/>
              </a:solidFill>
              <a:highlight>
                <a:schemeClr val="lt1"/>
              </a:highlight>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Verdana"/>
              <a:buNone/>
            </a:pPr>
            <a:br>
              <a:rPr lang="en-US" sz="1200" b="1" i="0" u="none" strike="noStrike" cap="none" dirty="0">
                <a:solidFill>
                  <a:schemeClr val="dk1"/>
                </a:solidFill>
                <a:latin typeface="Verdana"/>
                <a:ea typeface="Verdana"/>
                <a:cs typeface="Verdana"/>
                <a:sym typeface="Verdana"/>
              </a:rPr>
            </a:br>
            <a:r>
              <a:rPr lang="en-US" sz="1200" b="0" i="0" u="none" strike="noStrike" cap="none" dirty="0">
                <a:solidFill>
                  <a:schemeClr val="dk1"/>
                </a:solidFill>
                <a:latin typeface="Verdana"/>
                <a:ea typeface="Verdana"/>
                <a:cs typeface="Verdana"/>
                <a:sym typeface="Verdana"/>
              </a:rPr>
              <a:t>by</a:t>
            </a:r>
            <a:br>
              <a:rPr lang="en-US" sz="1200" b="0" i="0" u="none" strike="noStrike" cap="none" dirty="0">
                <a:solidFill>
                  <a:schemeClr val="dk1"/>
                </a:solidFill>
                <a:latin typeface="Verdana"/>
                <a:ea typeface="Verdana"/>
                <a:cs typeface="Verdana"/>
                <a:sym typeface="Verdana"/>
              </a:rPr>
            </a:br>
            <a:r>
              <a:rPr lang="en-US" sz="1600" b="1" dirty="0">
                <a:solidFill>
                  <a:schemeClr val="dk1"/>
                </a:solidFill>
                <a:highlight>
                  <a:schemeClr val="lt1"/>
                </a:highlight>
                <a:latin typeface="Verdana"/>
                <a:ea typeface="Verdana"/>
                <a:cs typeface="Verdana"/>
                <a:sym typeface="Verdana"/>
              </a:rPr>
              <a:t>(Priya </a:t>
            </a:r>
            <a:r>
              <a:rPr lang="en-US" sz="1600" b="1" dirty="0" err="1">
                <a:solidFill>
                  <a:schemeClr val="dk1"/>
                </a:solidFill>
                <a:highlight>
                  <a:schemeClr val="lt1"/>
                </a:highlight>
                <a:latin typeface="Verdana"/>
                <a:ea typeface="Verdana"/>
                <a:cs typeface="Verdana"/>
                <a:sym typeface="Verdana"/>
              </a:rPr>
              <a:t>Gaglani</a:t>
            </a:r>
            <a:r>
              <a:rPr lang="en-US" sz="1600" b="1" dirty="0">
                <a:solidFill>
                  <a:schemeClr val="dk1"/>
                </a:solidFill>
                <a:highlight>
                  <a:schemeClr val="lt1"/>
                </a:highlight>
                <a:latin typeface="Verdana"/>
                <a:ea typeface="Verdana"/>
                <a:cs typeface="Verdana"/>
                <a:sym typeface="Verdana"/>
              </a:rPr>
              <a:t>       23UF18027CM016)</a:t>
            </a:r>
            <a:endParaRPr sz="1400" b="0" i="0" u="none" strike="noStrike" cap="none" dirty="0">
              <a:solidFill>
                <a:srgbClr val="000000"/>
              </a:solidFill>
              <a:highlight>
                <a:schemeClr val="lt1"/>
              </a:highlight>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Verdana"/>
              <a:buNone/>
            </a:pPr>
            <a:r>
              <a:rPr lang="en-US" sz="1200" b="0" i="1" u="none" strike="noStrike" cap="none" dirty="0">
                <a:solidFill>
                  <a:schemeClr val="dk1"/>
                </a:solidFill>
                <a:highlight>
                  <a:schemeClr val="lt1"/>
                </a:highlight>
                <a:latin typeface="Verdana"/>
                <a:ea typeface="Verdana"/>
                <a:cs typeface="Verdana"/>
                <a:sym typeface="Verdana"/>
              </a:rPr>
              <a:t>Email: priya.18027@sakec.ac.in</a:t>
            </a:r>
            <a:endParaRPr sz="1400" b="0" i="0" u="none" strike="noStrike" cap="none" dirty="0">
              <a:solidFill>
                <a:srgbClr val="000000"/>
              </a:solidFill>
              <a:highlight>
                <a:schemeClr val="lt1"/>
              </a:highlight>
              <a:latin typeface="Arial"/>
              <a:ea typeface="Arial"/>
              <a:cs typeface="Arial"/>
              <a:sym typeface="Arial"/>
            </a:endParaRPr>
          </a:p>
        </p:txBody>
      </p:sp>
      <p:pic>
        <p:nvPicPr>
          <p:cNvPr id="91" name="Google Shape;91;p1" descr="A white building with many balconies&#10;&#10;AI-generated content may be incorrect."/>
          <p:cNvPicPr preferRelativeResize="0"/>
          <p:nvPr/>
        </p:nvPicPr>
        <p:blipFill rotWithShape="1">
          <a:blip r:embed="rId3">
            <a:alphaModFix/>
          </a:blip>
          <a:srcRect/>
          <a:stretch/>
        </p:blipFill>
        <p:spPr>
          <a:xfrm>
            <a:off x="4507629" y="1460620"/>
            <a:ext cx="3316563" cy="2376264"/>
          </a:xfrm>
          <a:prstGeom prst="rect">
            <a:avLst/>
          </a:prstGeom>
          <a:noFill/>
          <a:ln>
            <a:noFill/>
          </a:ln>
        </p:spPr>
      </p:pic>
      <p:pic>
        <p:nvPicPr>
          <p:cNvPr id="92" name="Google Shape;92;p1" descr="A circular logo with a circle and a logo on it&#10;&#10;AI-generated content may be incorrect."/>
          <p:cNvPicPr preferRelativeResize="0"/>
          <p:nvPr/>
        </p:nvPicPr>
        <p:blipFill rotWithShape="1">
          <a:blip r:embed="rId4">
            <a:alphaModFix/>
          </a:blip>
          <a:srcRect/>
          <a:stretch/>
        </p:blipFill>
        <p:spPr>
          <a:xfrm>
            <a:off x="10983735" y="196636"/>
            <a:ext cx="980728" cy="980728"/>
          </a:xfrm>
          <a:prstGeom prst="rect">
            <a:avLst/>
          </a:prstGeom>
          <a:noFill/>
          <a:ln>
            <a:noFill/>
          </a:ln>
        </p:spPr>
      </p:pic>
      <p:grpSp>
        <p:nvGrpSpPr>
          <p:cNvPr id="93" name="Google Shape;93;p1"/>
          <p:cNvGrpSpPr/>
          <p:nvPr/>
        </p:nvGrpSpPr>
        <p:grpSpPr>
          <a:xfrm>
            <a:off x="7300" y="2220"/>
            <a:ext cx="1443834" cy="6855780"/>
            <a:chOff x="7300" y="2220"/>
            <a:chExt cx="1443834" cy="6855780"/>
          </a:xfrm>
        </p:grpSpPr>
        <p:sp>
          <p:nvSpPr>
            <p:cNvPr id="94" name="Google Shape;94;p1"/>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5" name="Google Shape;95;p1" descr="A logo with a blue design&#10;&#10;AI-generated content may be incorrect."/>
            <p:cNvPicPr preferRelativeResize="0"/>
            <p:nvPr/>
          </p:nvPicPr>
          <p:blipFill rotWithShape="1">
            <a:blip r:embed="rId5">
              <a:alphaModFix/>
            </a:blip>
            <a:srcRect/>
            <a:stretch/>
          </p:blipFill>
          <p:spPr>
            <a:xfrm>
              <a:off x="524957" y="183372"/>
              <a:ext cx="926177" cy="841980"/>
            </a:xfrm>
            <a:prstGeom prst="rect">
              <a:avLst/>
            </a:prstGeom>
            <a:noFill/>
            <a:ln>
              <a:noFill/>
            </a:ln>
          </p:spPr>
        </p:pic>
      </p:grpSp>
      <p:sp>
        <p:nvSpPr>
          <p:cNvPr id="96" name="Google Shape;96;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22/10/2026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5"/>
          <p:cNvSpPr txBox="1">
            <a:spLocks noGrp="1"/>
          </p:cNvSpPr>
          <p:nvPr>
            <p:ph type="title"/>
          </p:nvPr>
        </p:nvSpPr>
        <p:spPr>
          <a:xfrm>
            <a:off x="4371757" y="343884"/>
            <a:ext cx="3815023" cy="6093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2300"/>
              <a:buFont typeface="Bodoni"/>
              <a:buNone/>
            </a:pPr>
            <a:r>
              <a:rPr lang="en-US" sz="3600" b="1">
                <a:latin typeface="Bodoni"/>
                <a:ea typeface="Bodoni"/>
                <a:cs typeface="Bodoni"/>
                <a:sym typeface="Bodoni"/>
              </a:rPr>
              <a:t>Vision &amp; Mission</a:t>
            </a:r>
            <a:endParaRPr sz="3600" b="1">
              <a:latin typeface="Bodoni"/>
              <a:ea typeface="Bodoni"/>
              <a:cs typeface="Bodoni"/>
              <a:sym typeface="Bodoni"/>
            </a:endParaRPr>
          </a:p>
        </p:txBody>
      </p:sp>
      <p:sp>
        <p:nvSpPr>
          <p:cNvPr id="102" name="Google Shape;102;p5"/>
          <p:cNvSpPr txBox="1"/>
          <p:nvPr/>
        </p:nvSpPr>
        <p:spPr>
          <a:xfrm>
            <a:off x="1264690" y="2040527"/>
            <a:ext cx="4061427" cy="532500"/>
          </a:xfrm>
          <a:prstGeom prst="rect">
            <a:avLst/>
          </a:prstGeom>
          <a:noFill/>
          <a:ln>
            <a:noFill/>
          </a:ln>
        </p:spPr>
        <p:txBody>
          <a:bodyPr spcFirstLastPara="1" wrap="square" lIns="68575" tIns="34275" rIns="68575" bIns="34275" anchor="t" anchorCtr="0">
            <a:noAutofit/>
          </a:bodyPr>
          <a:lstStyle/>
          <a:p>
            <a:pPr marL="0" marR="0" lvl="0" indent="0" algn="just" rtl="0">
              <a:lnSpc>
                <a:spcPct val="90000"/>
              </a:lnSpc>
              <a:spcBef>
                <a:spcPts val="0"/>
              </a:spcBef>
              <a:spcAft>
                <a:spcPts val="0"/>
              </a:spcAft>
              <a:buClr>
                <a:srgbClr val="000000"/>
              </a:buClr>
              <a:buSzPts val="1600"/>
              <a:buFont typeface="Arial"/>
              <a:buNone/>
            </a:pPr>
            <a:r>
              <a:rPr lang="en-US" sz="1200" b="0" i="0" u="none" strike="noStrike" cap="none" dirty="0">
                <a:solidFill>
                  <a:schemeClr val="dk1"/>
                </a:solidFill>
                <a:latin typeface="Verdana"/>
                <a:ea typeface="Verdana"/>
                <a:cs typeface="Verdana"/>
                <a:sym typeface="Verdana"/>
              </a:rPr>
              <a:t>To become a globally recognized institution offering quality education and enhancing professional standards</a:t>
            </a:r>
            <a:endParaRPr sz="1200" b="0" i="0" u="none" strike="noStrike" cap="none" dirty="0">
              <a:solidFill>
                <a:schemeClr val="dk1"/>
              </a:solidFill>
              <a:latin typeface="Verdana"/>
              <a:ea typeface="Verdana"/>
              <a:cs typeface="Verdana"/>
              <a:sym typeface="Verdana"/>
            </a:endParaRPr>
          </a:p>
        </p:txBody>
      </p:sp>
      <p:sp>
        <p:nvSpPr>
          <p:cNvPr id="103" name="Google Shape;103;p5"/>
          <p:cNvSpPr txBox="1"/>
          <p:nvPr/>
        </p:nvSpPr>
        <p:spPr>
          <a:xfrm>
            <a:off x="1199930" y="4166983"/>
            <a:ext cx="4126187" cy="1680185"/>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400"/>
              </a:spcBef>
              <a:spcAft>
                <a:spcPts val="0"/>
              </a:spcAft>
              <a:buClr>
                <a:srgbClr val="000000"/>
              </a:buClr>
              <a:buSzPts val="1600"/>
              <a:buFont typeface="Arial"/>
              <a:buNone/>
            </a:pPr>
            <a:r>
              <a:rPr lang="en-US" sz="1200" b="0" i="0" u="none" strike="noStrike" cap="none" dirty="0">
                <a:solidFill>
                  <a:schemeClr val="dk1"/>
                </a:solidFill>
                <a:latin typeface="Verdana"/>
                <a:ea typeface="Verdana"/>
                <a:cs typeface="Verdana"/>
                <a:sym typeface="Verdana"/>
              </a:rPr>
              <a:t>To impart high quality technical education to the students by providing an excellent academic environment, well - equipped laboratories and training through motivated teachers.</a:t>
            </a:r>
            <a:endParaRPr sz="1200" b="0" i="0" u="none" strike="noStrike" cap="none" dirty="0">
              <a:solidFill>
                <a:schemeClr val="dk1"/>
              </a:solidFill>
              <a:latin typeface="Verdana"/>
              <a:ea typeface="Verdana"/>
              <a:cs typeface="Verdana"/>
              <a:sym typeface="Verdana"/>
            </a:endParaRPr>
          </a:p>
        </p:txBody>
      </p:sp>
      <p:grpSp>
        <p:nvGrpSpPr>
          <p:cNvPr id="104" name="Google Shape;104;p5"/>
          <p:cNvGrpSpPr/>
          <p:nvPr/>
        </p:nvGrpSpPr>
        <p:grpSpPr>
          <a:xfrm>
            <a:off x="1199456" y="1337416"/>
            <a:ext cx="2544271" cy="432828"/>
            <a:chOff x="379810" y="257523"/>
            <a:chExt cx="3038100" cy="471600"/>
          </a:xfrm>
        </p:grpSpPr>
        <p:sp>
          <p:nvSpPr>
            <p:cNvPr id="105" name="Google Shape;105;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06" name="Google Shape;106;p5"/>
            <p:cNvSpPr txBox="1"/>
            <p:nvPr/>
          </p:nvSpPr>
          <p:spPr>
            <a:xfrm>
              <a:off x="758977" y="281216"/>
              <a:ext cx="2372333" cy="372251"/>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Institute Vision</a:t>
              </a:r>
              <a:endParaRPr sz="1100" b="0" i="0" u="none" strike="noStrike" cap="none">
                <a:solidFill>
                  <a:schemeClr val="dk1"/>
                </a:solidFill>
                <a:latin typeface="Verdana"/>
                <a:ea typeface="Verdana"/>
                <a:cs typeface="Verdana"/>
                <a:sym typeface="Verdana"/>
              </a:endParaRPr>
            </a:p>
          </p:txBody>
        </p:sp>
      </p:grpSp>
      <p:sp>
        <p:nvSpPr>
          <p:cNvPr id="107" name="Google Shape;107;p5"/>
          <p:cNvSpPr txBox="1"/>
          <p:nvPr/>
        </p:nvSpPr>
        <p:spPr>
          <a:xfrm>
            <a:off x="5877263" y="4205259"/>
            <a:ext cx="5547329" cy="1827895"/>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600"/>
              <a:buFont typeface="Arial"/>
              <a:buNone/>
            </a:pPr>
            <a:r>
              <a:rPr lang="en-US" sz="1200" i="0" u="none" strike="noStrike" cap="none" dirty="0">
                <a:solidFill>
                  <a:schemeClr val="dk1"/>
                </a:solidFill>
                <a:latin typeface="Verdana"/>
                <a:ea typeface="Verdana"/>
                <a:cs typeface="Verdana"/>
                <a:sym typeface="Verdana"/>
              </a:rPr>
              <a:t>1. To provide an academic environment for the development by providing training and skill development to build knowledge, skills, values, and confidence to take a leadership role in the field of Cyber Security.</a:t>
            </a:r>
            <a:endParaRPr sz="1200" i="0" u="none" strike="noStrike" cap="none" dirty="0">
              <a:solidFill>
                <a:schemeClr val="dk1"/>
              </a:solidFill>
              <a:latin typeface="Verdana"/>
              <a:ea typeface="Verdana"/>
              <a:cs typeface="Verdana"/>
              <a:sym typeface="Verdana"/>
            </a:endParaRPr>
          </a:p>
          <a:p>
            <a:pPr lvl="0" algn="just">
              <a:buSzPts val="1600"/>
            </a:pPr>
            <a:r>
              <a:rPr lang="en-US" sz="1200" i="0" u="none" strike="noStrike" cap="none" dirty="0">
                <a:solidFill>
                  <a:schemeClr val="dk1"/>
                </a:solidFill>
                <a:latin typeface="Verdana"/>
                <a:ea typeface="Verdana"/>
                <a:cs typeface="Verdana"/>
                <a:sym typeface="Verdana"/>
              </a:rPr>
              <a:t>2. </a:t>
            </a:r>
            <a:r>
              <a:rPr lang="en-US" sz="1200" dirty="0">
                <a:solidFill>
                  <a:schemeClr val="dk1"/>
                </a:solidFill>
                <a:latin typeface="Verdana"/>
                <a:ea typeface="Verdana"/>
                <a:cs typeface="Verdana"/>
                <a:sym typeface="Verdana"/>
              </a:rPr>
              <a:t>To cultivate research and entrepreneurship culture resulting in knowledge and innovative technologies that contribute to sustainable development of the society.</a:t>
            </a:r>
          </a:p>
          <a:p>
            <a:pPr lvl="0" algn="just">
              <a:buSzPts val="1600"/>
            </a:pPr>
            <a:r>
              <a:rPr lang="en-US" sz="1200" dirty="0">
                <a:solidFill>
                  <a:schemeClr val="dk1"/>
                </a:solidFill>
                <a:latin typeface="Verdana"/>
                <a:ea typeface="Verdana"/>
                <a:cs typeface="Verdana"/>
                <a:sym typeface="Verdana"/>
              </a:rPr>
              <a:t>3. To enhance academic and corporate collaborations.</a:t>
            </a:r>
            <a:endParaRPr sz="1200" i="0" u="none" strike="noStrike" cap="none" dirty="0">
              <a:solidFill>
                <a:schemeClr val="dk1"/>
              </a:solidFill>
              <a:latin typeface="Verdana"/>
              <a:ea typeface="Verdana"/>
              <a:cs typeface="Verdana"/>
              <a:sym typeface="Verdana"/>
            </a:endParaRPr>
          </a:p>
        </p:txBody>
      </p:sp>
      <p:sp>
        <p:nvSpPr>
          <p:cNvPr id="108" name="Google Shape;108;p5"/>
          <p:cNvSpPr txBox="1"/>
          <p:nvPr/>
        </p:nvSpPr>
        <p:spPr>
          <a:xfrm>
            <a:off x="5904435" y="1896105"/>
            <a:ext cx="5518669" cy="1001229"/>
          </a:xfrm>
          <a:prstGeom prst="rect">
            <a:avLst/>
          </a:prstGeom>
          <a:noFill/>
          <a:ln>
            <a:noFill/>
          </a:ln>
        </p:spPr>
        <p:txBody>
          <a:bodyPr spcFirstLastPara="1" wrap="square" lIns="68575" tIns="34275" rIns="68575" bIns="34275" anchor="t" anchorCtr="0">
            <a:noAutofit/>
          </a:bodyPr>
          <a:lstStyle/>
          <a:p>
            <a:pPr lvl="0" algn="just">
              <a:buSzPts val="1600"/>
            </a:pPr>
            <a:r>
              <a:rPr lang="en-US" sz="1200" dirty="0">
                <a:solidFill>
                  <a:schemeClr val="dk1"/>
                </a:solidFill>
                <a:latin typeface="Verdana"/>
                <a:ea typeface="Verdana"/>
                <a:cs typeface="Verdana"/>
                <a:sym typeface="Verdana"/>
              </a:rPr>
              <a:t>To be a high repute focused department preparing students ethically in field of cyber security and make them capable to lead technical, economic, social and ethical development of the society.</a:t>
            </a:r>
            <a:endParaRPr sz="1200" b="1" i="0" u="none" strike="noStrike" cap="none" dirty="0">
              <a:solidFill>
                <a:schemeClr val="dk1"/>
              </a:solidFill>
              <a:latin typeface="Verdana"/>
              <a:ea typeface="Verdana"/>
              <a:cs typeface="Verdana"/>
              <a:sym typeface="Verdana"/>
            </a:endParaRPr>
          </a:p>
        </p:txBody>
      </p:sp>
      <p:grpSp>
        <p:nvGrpSpPr>
          <p:cNvPr id="109" name="Google Shape;109;p5"/>
          <p:cNvGrpSpPr/>
          <p:nvPr/>
        </p:nvGrpSpPr>
        <p:grpSpPr>
          <a:xfrm>
            <a:off x="1199456" y="3647599"/>
            <a:ext cx="2544271" cy="432828"/>
            <a:chOff x="379810" y="257523"/>
            <a:chExt cx="3038100" cy="471600"/>
          </a:xfrm>
        </p:grpSpPr>
        <p:sp>
          <p:nvSpPr>
            <p:cNvPr id="110" name="Google Shape;110;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1" name="Google Shape;111;p5"/>
            <p:cNvSpPr txBox="1"/>
            <p:nvPr/>
          </p:nvSpPr>
          <p:spPr>
            <a:xfrm>
              <a:off x="630381" y="268638"/>
              <a:ext cx="2536958" cy="313831"/>
            </a:xfrm>
            <a:prstGeom prst="rect">
              <a:avLst/>
            </a:prstGeom>
            <a:solidFill>
              <a:srgbClr val="5A0886"/>
            </a:solidFill>
            <a:ln>
              <a:noFill/>
            </a:ln>
          </p:spPr>
          <p:txBody>
            <a:bodyPr spcFirstLastPara="1" wrap="square" lIns="68575" tIns="68575" rIns="68575" bIns="68575" anchor="t" anchorCtr="0">
              <a:no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dirty="0">
                  <a:solidFill>
                    <a:srgbClr val="FFFFFF"/>
                  </a:solidFill>
                  <a:latin typeface="Verdana"/>
                  <a:ea typeface="Verdana"/>
                  <a:cs typeface="Verdana"/>
                  <a:sym typeface="Verdana"/>
                </a:rPr>
                <a:t>Institute Mission</a:t>
              </a:r>
              <a:endParaRPr sz="1100" b="0" i="0" u="none" strike="noStrike" cap="none" dirty="0">
                <a:solidFill>
                  <a:schemeClr val="dk1"/>
                </a:solidFill>
                <a:latin typeface="Verdana"/>
                <a:ea typeface="Verdana"/>
                <a:cs typeface="Verdana"/>
                <a:sym typeface="Verdana"/>
              </a:endParaRPr>
            </a:p>
          </p:txBody>
        </p:sp>
      </p:grpSp>
      <p:grpSp>
        <p:nvGrpSpPr>
          <p:cNvPr id="112" name="Google Shape;112;p5"/>
          <p:cNvGrpSpPr/>
          <p:nvPr/>
        </p:nvGrpSpPr>
        <p:grpSpPr>
          <a:xfrm>
            <a:off x="5950958" y="1337416"/>
            <a:ext cx="3054223" cy="432828"/>
            <a:chOff x="379810" y="257523"/>
            <a:chExt cx="3038100" cy="471600"/>
          </a:xfrm>
        </p:grpSpPr>
        <p:sp>
          <p:nvSpPr>
            <p:cNvPr id="113" name="Google Shape;113;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4" name="Google Shape;114;p5"/>
            <p:cNvSpPr txBox="1"/>
            <p:nvPr/>
          </p:nvSpPr>
          <p:spPr>
            <a:xfrm>
              <a:off x="785634" y="281216"/>
              <a:ext cx="2366106" cy="443176"/>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dirty="0">
                  <a:solidFill>
                    <a:srgbClr val="FFFFFF"/>
                  </a:solidFill>
                  <a:latin typeface="Verdana"/>
                  <a:ea typeface="Verdana"/>
                  <a:cs typeface="Verdana"/>
                  <a:sym typeface="Verdana"/>
                </a:rPr>
                <a:t>Department Vision</a:t>
              </a:r>
              <a:endParaRPr sz="1100" b="0" i="0" u="none" strike="noStrike" cap="none" dirty="0">
                <a:solidFill>
                  <a:schemeClr val="dk1"/>
                </a:solidFill>
                <a:latin typeface="Verdana"/>
                <a:ea typeface="Verdana"/>
                <a:cs typeface="Verdana"/>
                <a:sym typeface="Verdana"/>
              </a:endParaRPr>
            </a:p>
          </p:txBody>
        </p:sp>
      </p:grpSp>
      <p:grpSp>
        <p:nvGrpSpPr>
          <p:cNvPr id="115" name="Google Shape;115;p5"/>
          <p:cNvGrpSpPr/>
          <p:nvPr/>
        </p:nvGrpSpPr>
        <p:grpSpPr>
          <a:xfrm>
            <a:off x="6010892" y="3642227"/>
            <a:ext cx="3054223" cy="432829"/>
            <a:chOff x="379810" y="257523"/>
            <a:chExt cx="3038100" cy="471600"/>
          </a:xfrm>
        </p:grpSpPr>
        <p:sp>
          <p:nvSpPr>
            <p:cNvPr id="116" name="Google Shape;116;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7" name="Google Shape;117;p5"/>
            <p:cNvSpPr txBox="1"/>
            <p:nvPr/>
          </p:nvSpPr>
          <p:spPr>
            <a:xfrm>
              <a:off x="726018" y="287066"/>
              <a:ext cx="2460310" cy="365796"/>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Department Mission</a:t>
              </a:r>
              <a:endParaRPr sz="1100" b="0" i="0" u="none" strike="noStrike" cap="none">
                <a:solidFill>
                  <a:schemeClr val="dk1"/>
                </a:solidFill>
                <a:latin typeface="Verdana"/>
                <a:ea typeface="Verdana"/>
                <a:cs typeface="Verdana"/>
                <a:sym typeface="Verdana"/>
              </a:endParaRPr>
            </a:p>
          </p:txBody>
        </p:sp>
      </p:grpSp>
      <p:sp>
        <p:nvSpPr>
          <p:cNvPr id="118" name="Google Shape;118;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19" name="Google Shape;119;p5"/>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20" name="Google Shape;120;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21" name="Google Shape;121;p5"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22" name="Google Shape;122;p5"/>
          <p:cNvGrpSpPr/>
          <p:nvPr/>
        </p:nvGrpSpPr>
        <p:grpSpPr>
          <a:xfrm>
            <a:off x="7300" y="2220"/>
            <a:ext cx="1443834" cy="6855780"/>
            <a:chOff x="7300" y="2220"/>
            <a:chExt cx="1443834" cy="6855780"/>
          </a:xfrm>
        </p:grpSpPr>
        <p:sp>
          <p:nvSpPr>
            <p:cNvPr id="123" name="Google Shape;123;p5"/>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4" name="Google Shape;124;p5"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aphicFrame>
        <p:nvGraphicFramePr>
          <p:cNvPr id="129" name="Google Shape;129;p11"/>
          <p:cNvGraphicFramePr/>
          <p:nvPr>
            <p:extLst>
              <p:ext uri="{D42A27DB-BD31-4B8C-83A1-F6EECF244321}">
                <p14:modId xmlns:p14="http://schemas.microsoft.com/office/powerpoint/2010/main" val="4278003758"/>
              </p:ext>
            </p:extLst>
          </p:nvPr>
        </p:nvGraphicFramePr>
        <p:xfrm>
          <a:off x="1343472" y="1340769"/>
          <a:ext cx="10238928" cy="4923364"/>
        </p:xfrm>
        <a:graphic>
          <a:graphicData uri="http://schemas.openxmlformats.org/drawingml/2006/table">
            <a:tbl>
              <a:tblPr>
                <a:noFill/>
                <a:tableStyleId>{78269872-E178-4BFD-9306-1EBE11D6D2E7}</a:tableStyleId>
              </a:tblPr>
              <a:tblGrid>
                <a:gridCol w="1672873">
                  <a:extLst>
                    <a:ext uri="{9D8B030D-6E8A-4147-A177-3AD203B41FA5}">
                      <a16:colId xmlns:a16="http://schemas.microsoft.com/office/drawing/2014/main" val="20000"/>
                    </a:ext>
                  </a:extLst>
                </a:gridCol>
                <a:gridCol w="8566055">
                  <a:extLst>
                    <a:ext uri="{9D8B030D-6E8A-4147-A177-3AD203B41FA5}">
                      <a16:colId xmlns:a16="http://schemas.microsoft.com/office/drawing/2014/main" val="20001"/>
                    </a:ext>
                  </a:extLst>
                </a:gridCol>
              </a:tblGrid>
              <a:tr h="491436">
                <a:tc>
                  <a:txBody>
                    <a:bodyPr/>
                    <a:lstStyle/>
                    <a:p>
                      <a:pPr marL="0" marR="0" lvl="0" indent="0" algn="ctr" rtl="0">
                        <a:lnSpc>
                          <a:spcPct val="115000"/>
                        </a:lnSpc>
                        <a:spcBef>
                          <a:spcPts val="0"/>
                        </a:spcBef>
                        <a:spcAft>
                          <a:spcPts val="0"/>
                        </a:spcAft>
                        <a:buClr>
                          <a:srgbClr val="000000"/>
                        </a:buClr>
                        <a:buSzPts val="1100"/>
                        <a:buFont typeface="Arial"/>
                        <a:buNone/>
                      </a:pPr>
                      <a:r>
                        <a:rPr lang="en-US" sz="1900" b="1" u="none" strike="noStrike" cap="none">
                          <a:solidFill>
                            <a:schemeClr val="lt1"/>
                          </a:solidFill>
                          <a:latin typeface="Verdana"/>
                          <a:ea typeface="Verdana"/>
                          <a:cs typeface="Verdana"/>
                          <a:sym typeface="Verdana"/>
                        </a:rPr>
                        <a:t>Index</a:t>
                      </a:r>
                      <a:endParaRPr sz="1900" b="1" u="none" strike="noStrike" cap="none">
                        <a:solidFill>
                          <a:schemeClr val="lt1"/>
                        </a:solidFill>
                        <a:latin typeface="Verdana"/>
                        <a:ea typeface="Verdana"/>
                        <a:cs typeface="Verdana"/>
                        <a:sym typeface="Verdana"/>
                      </a:endParaRPr>
                    </a:p>
                  </a:txBody>
                  <a:tcPr marL="51425" marR="51425" marT="0" marB="0" anchor="ctr">
                    <a:solidFill>
                      <a:srgbClr val="5A0886"/>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900" b="1" u="none" strike="noStrike" cap="none">
                          <a:solidFill>
                            <a:schemeClr val="lt1"/>
                          </a:solidFill>
                          <a:latin typeface="Verdana"/>
                          <a:ea typeface="Verdana"/>
                          <a:cs typeface="Verdana"/>
                          <a:sym typeface="Verdana"/>
                        </a:rPr>
                        <a:t>Outcome</a:t>
                      </a:r>
                      <a:endParaRPr sz="1900" b="1" u="none" strike="noStrike" cap="none">
                        <a:solidFill>
                          <a:schemeClr val="lt1"/>
                        </a:solidFill>
                        <a:latin typeface="Verdana"/>
                        <a:ea typeface="Verdana"/>
                        <a:cs typeface="Verdana"/>
                        <a:sym typeface="Verdana"/>
                      </a:endParaRPr>
                    </a:p>
                  </a:txBody>
                  <a:tcPr marL="51425" marR="51425" marT="0" marB="0" anchor="ctr">
                    <a:solidFill>
                      <a:srgbClr val="5A0886"/>
                    </a:solidFill>
                  </a:tcPr>
                </a:tc>
                <a:extLst>
                  <a:ext uri="{0D108BD9-81ED-4DB2-BD59-A6C34878D82A}">
                    <a16:rowId xmlns:a16="http://schemas.microsoft.com/office/drawing/2014/main" val="10000"/>
                  </a:ext>
                </a:extLst>
              </a:tr>
              <a:tr h="1366722">
                <a:tc>
                  <a:txBody>
                    <a:bodyPr/>
                    <a:lstStyle/>
                    <a:p>
                      <a:pPr marL="0" marR="0" lvl="0" indent="0" algn="ctr" rtl="0">
                        <a:lnSpc>
                          <a:spcPct val="115000"/>
                        </a:lnSpc>
                        <a:spcBef>
                          <a:spcPts val="0"/>
                        </a:spcBef>
                        <a:spcAft>
                          <a:spcPts val="0"/>
                        </a:spcAft>
                        <a:buClr>
                          <a:srgbClr val="000000"/>
                        </a:buClr>
                        <a:buSzPts val="1100"/>
                        <a:buFont typeface="Arial"/>
                        <a:buNone/>
                      </a:pPr>
                      <a:r>
                        <a:rPr lang="en-US" sz="1400" b="0" u="none" strike="noStrike" cap="none" dirty="0">
                          <a:solidFill>
                            <a:schemeClr val="dk1"/>
                          </a:solidFill>
                          <a:latin typeface="Verdana"/>
                          <a:ea typeface="Verdana"/>
                          <a:cs typeface="Verdana"/>
                          <a:sym typeface="Verdana"/>
                        </a:rPr>
                        <a:t>PSO1</a:t>
                      </a:r>
                      <a:endParaRPr sz="1400" b="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00000"/>
                        </a:lnSpc>
                        <a:spcBef>
                          <a:spcPts val="0"/>
                        </a:spcBef>
                        <a:spcAft>
                          <a:spcPts val="0"/>
                        </a:spcAft>
                        <a:buClr>
                          <a:srgbClr val="000000"/>
                        </a:buClr>
                        <a:buSzPts val="1000"/>
                        <a:buFont typeface="Arial"/>
                        <a:buNone/>
                      </a:pPr>
                      <a:r>
                        <a:rPr lang="en-US" sz="1400" b="0" i="0" u="none" strike="noStrike" cap="none" dirty="0">
                          <a:solidFill>
                            <a:schemeClr val="dk1"/>
                          </a:solidFill>
                          <a:latin typeface="Verdana"/>
                          <a:ea typeface="Verdana"/>
                          <a:cs typeface="Verdana"/>
                          <a:sym typeface="Verdana"/>
                        </a:rPr>
                        <a:t>The Cyber Security graduates are able to gain a thorough understanding of the Cyber Security landscape with its growing threats and vulnerabilities in the world of computing including</a:t>
                      </a:r>
                    </a:p>
                    <a:p>
                      <a:pPr marL="0" marR="0" lvl="0" indent="0" algn="just" rtl="0">
                        <a:lnSpc>
                          <a:spcPct val="100000"/>
                        </a:lnSpc>
                        <a:spcBef>
                          <a:spcPts val="0"/>
                        </a:spcBef>
                        <a:spcAft>
                          <a:spcPts val="0"/>
                        </a:spcAft>
                        <a:buClr>
                          <a:srgbClr val="000000"/>
                        </a:buClr>
                        <a:buSzPts val="1000"/>
                        <a:buFont typeface="Arial"/>
                        <a:buNone/>
                      </a:pPr>
                      <a:r>
                        <a:rPr lang="en-US" sz="1400" b="0" i="0" u="none" strike="noStrike" cap="none" dirty="0">
                          <a:solidFill>
                            <a:schemeClr val="dk1"/>
                          </a:solidFill>
                          <a:latin typeface="Verdana"/>
                          <a:ea typeface="Verdana"/>
                          <a:cs typeface="Verdana"/>
                          <a:sym typeface="Verdana"/>
                        </a:rPr>
                        <a:t>software and hardware.</a:t>
                      </a:r>
                      <a:endParaRPr sz="1400" b="0" i="0" u="none" strike="noStrike" cap="none" dirty="0">
                        <a:solidFill>
                          <a:schemeClr val="dk1"/>
                        </a:solidFill>
                        <a:latin typeface="Verdana"/>
                        <a:ea typeface="Verdana"/>
                        <a:cs typeface="Verdana"/>
                        <a:sym typeface="Verdana"/>
                      </a:endParaRPr>
                    </a:p>
                  </a:txBody>
                  <a:tcPr marL="51425" marR="51425" marT="0" marB="0" anchor="ctr"/>
                </a:tc>
                <a:extLst>
                  <a:ext uri="{0D108BD9-81ED-4DB2-BD59-A6C34878D82A}">
                    <a16:rowId xmlns:a16="http://schemas.microsoft.com/office/drawing/2014/main" val="10001"/>
                  </a:ext>
                </a:extLst>
              </a:tr>
              <a:tr h="1217854">
                <a:tc>
                  <a:txBody>
                    <a:bodyPr/>
                    <a:lstStyle/>
                    <a:p>
                      <a:pPr marL="0" marR="0" lvl="0" indent="0" algn="ctr" rtl="0">
                        <a:lnSpc>
                          <a:spcPct val="115000"/>
                        </a:lnSpc>
                        <a:spcBef>
                          <a:spcPts val="0"/>
                        </a:spcBef>
                        <a:spcAft>
                          <a:spcPts val="0"/>
                        </a:spcAft>
                        <a:buClr>
                          <a:srgbClr val="000000"/>
                        </a:buClr>
                        <a:buSzPts val="1100"/>
                        <a:buFont typeface="Arial"/>
                        <a:buNone/>
                      </a:pPr>
                      <a:r>
                        <a:rPr lang="en-IN" sz="1400" b="0" i="0" u="none" strike="noStrike" cap="none" dirty="0">
                          <a:solidFill>
                            <a:schemeClr val="dk1"/>
                          </a:solidFill>
                          <a:latin typeface="Verdana"/>
                          <a:ea typeface="Verdana"/>
                          <a:cs typeface="Verdana"/>
                          <a:sym typeface="Arial"/>
                        </a:rPr>
                        <a:t>PSO2</a:t>
                      </a:r>
                      <a:endParaRPr sz="1400" b="0" i="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sym typeface="Arial"/>
                        </a:rPr>
                        <a:t>The Cyber Security graduates are able to attain skills to comprehend and anticipate future challenges and devise methods to meet them and also, be articulate and skilled to convince all the stakeholders</a:t>
                      </a:r>
                      <a:endParaRPr sz="1400" b="0" i="0" u="none" strike="noStrike" cap="none" dirty="0">
                        <a:solidFill>
                          <a:schemeClr val="dk1"/>
                        </a:solidFill>
                        <a:latin typeface="Verdana"/>
                        <a:ea typeface="Verdana"/>
                        <a:sym typeface="Arial"/>
                      </a:endParaRPr>
                    </a:p>
                  </a:txBody>
                  <a:tcPr marL="51425" marR="51425" marT="0" marB="0" anchor="ctr"/>
                </a:tc>
                <a:extLst>
                  <a:ext uri="{0D108BD9-81ED-4DB2-BD59-A6C34878D82A}">
                    <a16:rowId xmlns:a16="http://schemas.microsoft.com/office/drawing/2014/main" val="1917427192"/>
                  </a:ext>
                </a:extLst>
              </a:tr>
              <a:tr h="1847352">
                <a:tc>
                  <a:txBody>
                    <a:bodyPr/>
                    <a:lstStyle/>
                    <a:p>
                      <a:pPr marL="0" marR="0" lvl="0" indent="0" algn="ctr"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cs typeface="Verdana"/>
                          <a:sym typeface="Verdana"/>
                        </a:rPr>
                        <a:t>PSO3</a:t>
                      </a:r>
                      <a:endParaRPr sz="1400" b="0" i="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cs typeface="Verdana"/>
                          <a:sym typeface="Verdana"/>
                        </a:rPr>
                        <a:t>The Cyber Security graduates are able to acquire and demonstrate the ability to use ethical standard tools, practices and technologies for the analysis, design, development, implementation and testing of innovative and optimal Cyber Security solutions without compromising the privacy needs of individual and entities and the security concerns of law enforcement agencies.</a:t>
                      </a:r>
                      <a:endParaRPr sz="1400" b="0" i="0" u="none" strike="noStrike" cap="none" dirty="0">
                        <a:solidFill>
                          <a:schemeClr val="dk1"/>
                        </a:solidFill>
                        <a:latin typeface="Verdana"/>
                        <a:ea typeface="Verdana"/>
                        <a:sym typeface="Arial"/>
                      </a:endParaRPr>
                    </a:p>
                  </a:txBody>
                  <a:tcPr marL="51425" marR="51425" marT="0" marB="0" anchor="ctr"/>
                </a:tc>
                <a:extLst>
                  <a:ext uri="{0D108BD9-81ED-4DB2-BD59-A6C34878D82A}">
                    <a16:rowId xmlns:a16="http://schemas.microsoft.com/office/drawing/2014/main" val="10002"/>
                  </a:ext>
                </a:extLst>
              </a:tr>
            </a:tbl>
          </a:graphicData>
        </a:graphic>
      </p:graphicFrame>
      <p:sp>
        <p:nvSpPr>
          <p:cNvPr id="130" name="Google Shape;130;p11"/>
          <p:cNvSpPr txBox="1">
            <a:spLocks noGrp="1"/>
          </p:cNvSpPr>
          <p:nvPr>
            <p:ph type="title"/>
          </p:nvPr>
        </p:nvSpPr>
        <p:spPr>
          <a:xfrm>
            <a:off x="3355208" y="323833"/>
            <a:ext cx="5481583" cy="6093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rgbClr val="0800A6"/>
              </a:buClr>
              <a:buSzPts val="4267"/>
              <a:buFont typeface="Bodoni"/>
              <a:buNone/>
            </a:pPr>
            <a:r>
              <a:rPr lang="en-US" sz="4267" b="1">
                <a:solidFill>
                  <a:srgbClr val="0800A6"/>
                </a:solidFill>
                <a:latin typeface="Bodoni"/>
                <a:ea typeface="Bodoni"/>
                <a:cs typeface="Bodoni"/>
                <a:sym typeface="Bodoni"/>
              </a:rPr>
              <a:t> </a:t>
            </a:r>
            <a:br>
              <a:rPr lang="en-US" sz="4267" b="1">
                <a:solidFill>
                  <a:srgbClr val="0800A6"/>
                </a:solidFill>
                <a:latin typeface="Bodoni"/>
                <a:ea typeface="Bodoni"/>
                <a:cs typeface="Bodoni"/>
                <a:sym typeface="Bodoni"/>
              </a:rPr>
            </a:br>
            <a:r>
              <a:rPr lang="en-US" sz="3600" b="1">
                <a:latin typeface="Bodoni"/>
                <a:ea typeface="Bodoni"/>
                <a:cs typeface="Bodoni"/>
                <a:sym typeface="Bodoni"/>
              </a:rPr>
              <a:t>Program Specific Outcomes</a:t>
            </a:r>
            <a:br>
              <a:rPr lang="en-US" sz="4267" b="1">
                <a:solidFill>
                  <a:srgbClr val="0800A6"/>
                </a:solidFill>
                <a:latin typeface="Bodoni"/>
                <a:ea typeface="Bodoni"/>
                <a:cs typeface="Bodoni"/>
                <a:sym typeface="Bodoni"/>
              </a:rPr>
            </a:br>
            <a:endParaRPr sz="4267" b="1">
              <a:solidFill>
                <a:srgbClr val="0800A6"/>
              </a:solidFill>
              <a:latin typeface="Bodoni"/>
              <a:ea typeface="Bodoni"/>
              <a:cs typeface="Bodoni"/>
              <a:sym typeface="Bodoni"/>
            </a:endParaRPr>
          </a:p>
        </p:txBody>
      </p:sp>
      <p:sp>
        <p:nvSpPr>
          <p:cNvPr id="131" name="Google Shape;131;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32" name="Google Shape;132;p11"/>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33" name="Google Shape;133;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34" name="Google Shape;134;p11"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35" name="Google Shape;135;p11"/>
          <p:cNvGrpSpPr/>
          <p:nvPr/>
        </p:nvGrpSpPr>
        <p:grpSpPr>
          <a:xfrm>
            <a:off x="7300" y="2220"/>
            <a:ext cx="1443834" cy="6855780"/>
            <a:chOff x="7300" y="2220"/>
            <a:chExt cx="1443834" cy="6855780"/>
          </a:xfrm>
        </p:grpSpPr>
        <p:sp>
          <p:nvSpPr>
            <p:cNvPr id="136" name="Google Shape;136;p11"/>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7" name="Google Shape;137;p11"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600" b="1">
                <a:latin typeface="Bodoni"/>
                <a:ea typeface="Bodoni"/>
                <a:cs typeface="Bodoni"/>
                <a:sym typeface="Bodoni"/>
              </a:rPr>
              <a:t>Outline</a:t>
            </a:r>
            <a:endParaRPr sz="3600" b="1">
              <a:latin typeface="Bodoni"/>
              <a:ea typeface="Bodoni"/>
              <a:cs typeface="Bodoni"/>
              <a:sym typeface="Bodoni"/>
            </a:endParaRPr>
          </a:p>
        </p:txBody>
      </p:sp>
      <p:sp>
        <p:nvSpPr>
          <p:cNvPr id="143" name="Google Shape;143;p2"/>
          <p:cNvSpPr txBox="1">
            <a:spLocks noGrp="1"/>
          </p:cNvSpPr>
          <p:nvPr>
            <p:ph type="body" idx="1"/>
          </p:nvPr>
        </p:nvSpPr>
        <p:spPr>
          <a:xfrm>
            <a:off x="2130000" y="1329000"/>
            <a:ext cx="6778330" cy="4864410"/>
          </a:xfrm>
          <a:prstGeom prst="rect">
            <a:avLst/>
          </a:prstGeom>
          <a:noFill/>
          <a:ln>
            <a:noFill/>
          </a:ln>
        </p:spPr>
        <p:txBody>
          <a:bodyPr spcFirstLastPara="1" wrap="square" lIns="91425" tIns="45700" rIns="91425" bIns="45700" anchor="t" anchorCtr="0">
            <a:noAutofit/>
          </a:bodyPr>
          <a:lstStyle/>
          <a:p>
            <a:pPr marL="285750" lvl="0" indent="-304800" algn="l" rtl="0">
              <a:lnSpc>
                <a:spcPct val="150000"/>
              </a:lnSpc>
              <a:spcBef>
                <a:spcPts val="240"/>
              </a:spcBef>
              <a:spcAft>
                <a:spcPts val="0"/>
              </a:spcAft>
              <a:buClr>
                <a:schemeClr val="dk1"/>
              </a:buClr>
              <a:buSzPts val="1500"/>
              <a:buFont typeface="Times New Roman"/>
              <a:buChar char="❖"/>
            </a:pPr>
            <a:r>
              <a:rPr lang="en-US" sz="1500" b="1" dirty="0">
                <a:latin typeface="Times New Roman"/>
                <a:ea typeface="Times New Roman"/>
                <a:cs typeface="Times New Roman"/>
                <a:sym typeface="Times New Roman"/>
              </a:rPr>
              <a:t>Introduction</a:t>
            </a:r>
          </a:p>
          <a:p>
            <a:pPr marL="285750" indent="-304800">
              <a:lnSpc>
                <a:spcPct val="150000"/>
              </a:lnSpc>
              <a:spcBef>
                <a:spcPts val="240"/>
              </a:spcBef>
              <a:buSzPts val="1500"/>
              <a:buFont typeface="Times New Roman"/>
              <a:buChar char="❖"/>
            </a:pPr>
            <a:r>
              <a:rPr lang="en-US" sz="1500" b="1" dirty="0">
                <a:latin typeface="Times New Roman"/>
                <a:cs typeface="Times New Roman"/>
              </a:rPr>
              <a:t>Problem Statement &amp; Objectives</a:t>
            </a: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Core Concept / Theory </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Working / Mechanism </a:t>
            </a:r>
            <a:endParaRPr sz="1500" b="1" dirty="0">
              <a:latin typeface="Times New Roman"/>
              <a:cs typeface="Times New Roman"/>
              <a:sym typeface="Times New Roman"/>
            </a:endParaRPr>
          </a:p>
          <a:p>
            <a:pPr marL="285750" indent="-304800">
              <a:lnSpc>
                <a:spcPct val="150000"/>
              </a:lnSpc>
              <a:spcBef>
                <a:spcPts val="240"/>
              </a:spcBef>
              <a:buSzPts val="1500"/>
              <a:buFont typeface="Times New Roman"/>
              <a:buChar char="❖"/>
            </a:pPr>
            <a:r>
              <a:rPr lang="en-US" sz="1500" b="1" dirty="0">
                <a:latin typeface="Times New Roman"/>
                <a:cs typeface="Times New Roman"/>
              </a:rPr>
              <a:t>Functional &amp; Non-Functional Requirements (if applicable)</a:t>
            </a:r>
          </a:p>
          <a:p>
            <a:pPr marL="285750" indent="-304800">
              <a:lnSpc>
                <a:spcPct val="150000"/>
              </a:lnSpc>
              <a:spcBef>
                <a:spcPts val="240"/>
              </a:spcBef>
              <a:buSzPts val="1500"/>
              <a:buFont typeface="Times New Roman"/>
              <a:buChar char="❖"/>
            </a:pPr>
            <a:r>
              <a:rPr lang="en-US" sz="1500" b="1" dirty="0">
                <a:latin typeface="Times New Roman"/>
                <a:cs typeface="Times New Roman"/>
              </a:rPr>
              <a:t>Challenges / Limitations</a:t>
            </a: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Case Study / Example </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Comparative Analysis (if applicable) </a:t>
            </a:r>
            <a:endParaRPr sz="1500" b="1" dirty="0">
              <a:latin typeface="Times New Roman"/>
              <a:cs typeface="Times New Roman"/>
              <a:sym typeface="Times New Roman"/>
            </a:endParaRPr>
          </a:p>
          <a:p>
            <a:pPr marL="285750" lvl="0" indent="-304800">
              <a:lnSpc>
                <a:spcPct val="150000"/>
              </a:lnSpc>
              <a:spcBef>
                <a:spcPts val="240"/>
              </a:spcBef>
              <a:buSzPts val="1500"/>
              <a:buFont typeface="Times New Roman"/>
              <a:buChar char="❖"/>
            </a:pPr>
            <a:r>
              <a:rPr lang="en-US" sz="1500" b="1" dirty="0">
                <a:latin typeface="Times New Roman"/>
                <a:cs typeface="Times New Roman"/>
              </a:rPr>
              <a:t>Tools &amp; Modeling Approaches</a:t>
            </a:r>
            <a:endParaRPr lang="en-US"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Applications in Real Life</a:t>
            </a:r>
          </a:p>
          <a:p>
            <a:pPr marL="285750" indent="-304800">
              <a:lnSpc>
                <a:spcPct val="150000"/>
              </a:lnSpc>
              <a:spcBef>
                <a:spcPts val="240"/>
              </a:spcBef>
              <a:buSzPts val="1500"/>
              <a:buFont typeface="Times New Roman"/>
              <a:buChar char="❖"/>
            </a:pPr>
            <a:r>
              <a:rPr lang="en-US" sz="1500" b="1" dirty="0">
                <a:latin typeface="Times New Roman"/>
                <a:cs typeface="Times New Roman"/>
              </a:rPr>
              <a:t>Proposed Framework / Design</a:t>
            </a:r>
            <a:endParaRPr sz="1500" b="1" dirty="0">
              <a:latin typeface="Times New Roman"/>
              <a:cs typeface="Times New Roman"/>
              <a:sym typeface="Times New Roman"/>
            </a:endParaRP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Conclusion </a:t>
            </a:r>
            <a:r>
              <a:rPr lang="en-US" sz="1500" b="1" dirty="0">
                <a:latin typeface="Times New Roman"/>
                <a:cs typeface="Times New Roman"/>
              </a:rPr>
              <a:t>&amp; Future Scope</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Reference</a:t>
            </a:r>
            <a:endParaRPr sz="1500" b="1" dirty="0">
              <a:latin typeface="Times New Roman"/>
              <a:cs typeface="Times New Roman"/>
              <a:sym typeface="Times New Roman"/>
            </a:endParaRPr>
          </a:p>
        </p:txBody>
      </p:sp>
      <p:sp>
        <p:nvSpPr>
          <p:cNvPr id="144" name="Google Shape;144;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45" name="Google Shape;145;p2"/>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46" name="Google Shape;146;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47" name="Google Shape;147;p2"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48" name="Google Shape;148;p2"/>
          <p:cNvGrpSpPr/>
          <p:nvPr/>
        </p:nvGrpSpPr>
        <p:grpSpPr>
          <a:xfrm>
            <a:off x="7300" y="2220"/>
            <a:ext cx="1443834" cy="6855780"/>
            <a:chOff x="7300" y="2220"/>
            <a:chExt cx="1443834" cy="6855780"/>
          </a:xfrm>
        </p:grpSpPr>
        <p:sp>
          <p:nvSpPr>
            <p:cNvPr id="149" name="Google Shape;149;p2"/>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0" name="Google Shape;150;p2"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Introduction &amp; Objectives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60" name="Google Shape;160;g382b4099f15_0_15"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
        <p:nvSpPr>
          <p:cNvPr id="301" name="Text 301"/>
          <p:cNvSpPr txBox="1"/>
          <p:nvPr/>
        </p:nvSpPr>
        <p:spPr>
          <a:xfrm>
            <a:off x="548640" y="1097280"/>
            <a:ext cx="7315200" cy="365760"/>
          </a:xfrm>
          <a:prstGeom prst="rect">
            <a:avLst/>
          </a:prstGeom>
          <a:noFill/>
          <a:ln>
            <a:noFill/>
          </a:ln>
        </p:spPr>
        <p:txBody>
          <a:bodyPr wrap="square" lIns="45720" tIns="27432" rIns="45720" bIns="27432" anchor="t">
            <a:noAutofit/>
          </a:bodyPr>
          <a:lstStyle/>
          <a:p>
            <a:pPr marL="0" indent="0" algn="l">
              <a:spcBef>
                <a:spcPts val="0"/>
              </a:spcBef>
              <a:spcAft>
                <a:spcPts val="0"/>
              </a:spcAft>
              <a:buNone/>
            </a:pPr>
            <a:r>
              <a:rPr lang="en-US" sz="1800" b="1" i="0" dirty="0">
                <a:solidFill>
                  <a:srgbClr val="5A0886"/>
                </a:solidFill>
                <a:latin typeface="Times New Roman"/>
                <a:cs typeface="Times New Roman"/>
              </a:rPr>
              <a:t>Digital forensics process</a:t>
            </a:r>
          </a:p>
        </p:txBody>
      </p:sp>
      <p:sp>
        <p:nvSpPr>
          <p:cNvPr id="302" name="Step 302"/>
          <p:cNvSpPr/>
          <p:nvPr/>
        </p:nvSpPr>
        <p:spPr>
          <a:xfrm>
            <a:off x="548640" y="1508760"/>
            <a:ext cx="2286000" cy="685800"/>
          </a:xfrm>
          <a:prstGeom prst="homePlate">
            <a:avLst>
              <a:gd name="adj" fmla="val 3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800" b="1" i="0" dirty="0">
                <a:solidFill>
                  <a:srgbClr val="5A0886"/>
                </a:solidFill>
                <a:latin typeface="Times New Roman"/>
                <a:cs typeface="Times New Roman"/>
              </a:rPr>
              <a:t>Identify</a:t>
            </a:r>
          </a:p>
        </p:txBody>
      </p:sp>
      <p:sp>
        <p:nvSpPr>
          <p:cNvPr id="303" name="Step 303"/>
          <p:cNvSpPr/>
          <p:nvPr/>
        </p:nvSpPr>
        <p:spPr>
          <a:xfrm>
            <a:off x="2770632" y="1508760"/>
            <a:ext cx="2286000" cy="685800"/>
          </a:xfrm>
          <a:prstGeom prst="homePlate">
            <a:avLst>
              <a:gd name="adj" fmla="val 3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800" b="1" i="0" dirty="0">
                <a:solidFill>
                  <a:srgbClr val="5A0886"/>
                </a:solidFill>
                <a:latin typeface="Times New Roman"/>
                <a:cs typeface="Times New Roman"/>
              </a:rPr>
              <a:t>Collect</a:t>
            </a:r>
          </a:p>
        </p:txBody>
      </p:sp>
      <p:sp>
        <p:nvSpPr>
          <p:cNvPr id="304" name="Step 304"/>
          <p:cNvSpPr/>
          <p:nvPr/>
        </p:nvSpPr>
        <p:spPr>
          <a:xfrm>
            <a:off x="4992624" y="1508760"/>
            <a:ext cx="2286000" cy="685800"/>
          </a:xfrm>
          <a:prstGeom prst="homePlate">
            <a:avLst>
              <a:gd name="adj" fmla="val 3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800" b="1" i="0" dirty="0">
                <a:solidFill>
                  <a:srgbClr val="5A0886"/>
                </a:solidFill>
                <a:latin typeface="Times New Roman"/>
                <a:cs typeface="Times New Roman"/>
              </a:rPr>
              <a:t>Preserve</a:t>
            </a:r>
          </a:p>
        </p:txBody>
      </p:sp>
      <p:sp>
        <p:nvSpPr>
          <p:cNvPr id="305" name="Step 305"/>
          <p:cNvSpPr/>
          <p:nvPr/>
        </p:nvSpPr>
        <p:spPr>
          <a:xfrm>
            <a:off x="7214616" y="1508760"/>
            <a:ext cx="2286000" cy="685800"/>
          </a:xfrm>
          <a:prstGeom prst="homePlate">
            <a:avLst>
              <a:gd name="adj" fmla="val 30000"/>
            </a:avLst>
          </a:prstGeom>
          <a:solidFill>
            <a:srgbClr val="5A0886"/>
          </a:solidFill>
          <a:ln>
            <a:noFill/>
          </a:ln>
        </p:spPr>
        <p:txBody>
          <a:bodyPr wrap="square" lIns="109728" tIns="73152" rIns="109728" bIns="73152" anchor="ctr">
            <a:noAutofit/>
          </a:bodyPr>
          <a:lstStyle/>
          <a:p>
            <a:pPr marL="0" indent="0" algn="ctr">
              <a:spcBef>
                <a:spcPts val="0"/>
              </a:spcBef>
              <a:spcAft>
                <a:spcPts val="0"/>
              </a:spcAft>
              <a:buNone/>
            </a:pPr>
            <a:r>
              <a:rPr lang="en-US" sz="1800" b="1" i="0" dirty="0">
                <a:solidFill>
                  <a:srgbClr val="FFFFFF"/>
                </a:solidFill>
                <a:latin typeface="Times New Roman"/>
                <a:cs typeface="Times New Roman"/>
              </a:rPr>
              <a:t>Examine</a:t>
            </a:r>
          </a:p>
        </p:txBody>
      </p:sp>
      <p:sp>
        <p:nvSpPr>
          <p:cNvPr id="306" name="Step 306"/>
          <p:cNvSpPr/>
          <p:nvPr/>
        </p:nvSpPr>
        <p:spPr>
          <a:xfrm>
            <a:off x="9436608" y="1508760"/>
            <a:ext cx="2286000" cy="685800"/>
          </a:xfrm>
          <a:prstGeom prst="homePlate">
            <a:avLst>
              <a:gd name="adj" fmla="val 3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800" b="1" i="0" dirty="0">
                <a:solidFill>
                  <a:srgbClr val="5A0886"/>
                </a:solidFill>
                <a:latin typeface="Times New Roman"/>
                <a:cs typeface="Times New Roman"/>
              </a:rPr>
              <a:t>Present</a:t>
            </a:r>
          </a:p>
        </p:txBody>
      </p:sp>
      <p:sp>
        <p:nvSpPr>
          <p:cNvPr id="307" name="Text 307"/>
          <p:cNvSpPr txBox="1"/>
          <p:nvPr/>
        </p:nvSpPr>
        <p:spPr>
          <a:xfrm>
            <a:off x="6940296" y="2240280"/>
            <a:ext cx="3108960" cy="36576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400" b="0" i="1" dirty="0">
                <a:solidFill>
                  <a:srgbClr val="5A0886"/>
                </a:solidFill>
                <a:latin typeface="Times New Roman"/>
                <a:cs typeface="Times New Roman"/>
              </a:rPr>
              <a:t>AI can assist at this stage</a:t>
            </a:r>
          </a:p>
        </p:txBody>
      </p:sp>
      <p:sp>
        <p:nvSpPr>
          <p:cNvPr id="308" name="Problem 308"/>
          <p:cNvSpPr/>
          <p:nvPr/>
        </p:nvSpPr>
        <p:spPr>
          <a:xfrm>
            <a:off x="548640" y="2743200"/>
            <a:ext cx="5440680" cy="329184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09" name="Text 309"/>
          <p:cNvSpPr txBox="1"/>
          <p:nvPr/>
        </p:nvSpPr>
        <p:spPr>
          <a:xfrm>
            <a:off x="731520" y="2834640"/>
            <a:ext cx="5120640" cy="31089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2000" b="1" i="0" dirty="0">
                <a:solidFill>
                  <a:srgbClr val="5A0886"/>
                </a:solidFill>
                <a:latin typeface="Times New Roman"/>
                <a:cs typeface="Times New Roman"/>
              </a:rPr>
              <a:t>Problem statement</a:t>
            </a:r>
          </a:p>
          <a:p>
            <a:pPr marL="285750" indent="-285750" algn="l">
              <a:spcBef>
                <a:spcPts val="0"/>
              </a:spcBef>
              <a:spcAft>
                <a:spcPts val="800"/>
              </a:spcAft>
              <a:buClr>
                <a:srgbClr val="5A0886"/>
              </a:buClr>
              <a:buFont typeface="Arial"/>
              <a:buChar char="•"/>
            </a:pPr>
            <a:r>
              <a:rPr lang="en-US" sz="1800" b="0" i="0" dirty="0">
                <a:solidFill>
                  <a:srgbClr val="1F1F1F"/>
                </a:solidFill>
                <a:latin typeface="Times New Roman"/>
                <a:cs typeface="Times New Roman"/>
              </a:rPr>
              <a:t>Phones, laptops and cloud accounts hold far more data than an investigator can read by hand.</a:t>
            </a:r>
          </a:p>
          <a:p>
            <a:pPr marL="285750" indent="-285750" algn="l">
              <a:spcBef>
                <a:spcPts val="0"/>
              </a:spcBef>
              <a:spcAft>
                <a:spcPts val="0"/>
              </a:spcAft>
              <a:buClr>
                <a:srgbClr val="5A0886"/>
              </a:buClr>
              <a:buFont typeface="Arial"/>
              <a:buChar char="•"/>
            </a:pPr>
            <a:r>
              <a:rPr lang="en-US" sz="1800" b="0" i="0" dirty="0">
                <a:solidFill>
                  <a:srgbClr val="1F1F1F"/>
                </a:solidFill>
                <a:latin typeface="Times New Roman"/>
                <a:cs typeface="Times New Roman"/>
              </a:rPr>
              <a:t>AI tools can help sort and flag this data, but an unverified AI result can mislead an investigation or weaken the evidence.</a:t>
            </a:r>
          </a:p>
        </p:txBody>
      </p:sp>
      <p:sp>
        <p:nvSpPr>
          <p:cNvPr id="310" name="Objectives 310"/>
          <p:cNvSpPr/>
          <p:nvPr/>
        </p:nvSpPr>
        <p:spPr>
          <a:xfrm>
            <a:off x="6172200" y="2743200"/>
            <a:ext cx="5440680" cy="329184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11" name="Text 311"/>
          <p:cNvSpPr txBox="1"/>
          <p:nvPr/>
        </p:nvSpPr>
        <p:spPr>
          <a:xfrm>
            <a:off x="6355080" y="2834640"/>
            <a:ext cx="5120640" cy="31089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2000" b="1" i="0" dirty="0">
                <a:solidFill>
                  <a:srgbClr val="5A0886"/>
                </a:solidFill>
                <a:latin typeface="Times New Roman"/>
                <a:cs typeface="Times New Roman"/>
              </a:rPr>
              <a:t>Objectives</a:t>
            </a:r>
          </a:p>
          <a:p>
            <a:pPr marL="0" indent="0" algn="l">
              <a:spcBef>
                <a:spcPts val="0"/>
              </a:spcBef>
              <a:spcAft>
                <a:spcPts val="800"/>
              </a:spcAft>
              <a:buNone/>
            </a:pPr>
            <a:r>
              <a:rPr lang="en-US" sz="1800" b="1" i="0" dirty="0">
                <a:solidFill>
                  <a:srgbClr val="5A0886"/>
                </a:solidFill>
                <a:latin typeface="Times New Roman"/>
                <a:cs typeface="Times New Roman"/>
              </a:rPr>
              <a:t>1.  </a:t>
            </a:r>
            <a:r>
              <a:rPr lang="en-US" sz="1800" b="0" i="0" dirty="0">
                <a:solidFill>
                  <a:srgbClr val="1F1F1F"/>
                </a:solidFill>
                <a:latin typeface="Times New Roman"/>
                <a:cs typeface="Times New Roman"/>
              </a:rPr>
              <a:t>Show where AI supports forensic work</a:t>
            </a:r>
          </a:p>
          <a:p>
            <a:pPr marL="0" indent="0" algn="l">
              <a:spcBef>
                <a:spcPts val="0"/>
              </a:spcBef>
              <a:spcAft>
                <a:spcPts val="800"/>
              </a:spcAft>
              <a:buNone/>
            </a:pPr>
            <a:r>
              <a:rPr lang="en-US" sz="1800" b="1" i="0" dirty="0">
                <a:solidFill>
                  <a:srgbClr val="5A0886"/>
                </a:solidFill>
                <a:latin typeface="Times New Roman"/>
                <a:cs typeface="Times New Roman"/>
              </a:rPr>
              <a:t>2.  </a:t>
            </a:r>
            <a:r>
              <a:rPr lang="en-US" sz="1800" b="0" i="0" dirty="0">
                <a:solidFill>
                  <a:srgbClr val="1F1F1F"/>
                </a:solidFill>
                <a:latin typeface="Times New Roman"/>
                <a:cs typeface="Times New Roman"/>
              </a:rPr>
              <a:t>Present a workflow that protects evidence</a:t>
            </a:r>
          </a:p>
          <a:p>
            <a:pPr marL="0" indent="0" algn="l">
              <a:spcBef>
                <a:spcPts val="0"/>
              </a:spcBef>
              <a:spcAft>
                <a:spcPts val="800"/>
              </a:spcAft>
              <a:buNone/>
            </a:pPr>
            <a:r>
              <a:rPr lang="en-US" sz="1800" b="1" i="0" dirty="0">
                <a:solidFill>
                  <a:srgbClr val="5A0886"/>
                </a:solidFill>
                <a:latin typeface="Times New Roman"/>
                <a:cs typeface="Times New Roman"/>
              </a:rPr>
              <a:t>3.  </a:t>
            </a:r>
            <a:r>
              <a:rPr lang="en-US" sz="1800" b="0" i="0" dirty="0">
                <a:solidFill>
                  <a:srgbClr val="1F1F1F"/>
                </a:solidFill>
                <a:latin typeface="Times New Roman"/>
                <a:cs typeface="Times New Roman"/>
              </a:rPr>
              <a:t>Demonstrate rule-based flagging on synthetic data</a:t>
            </a:r>
          </a:p>
          <a:p>
            <a:pPr marL="0" indent="0" algn="l">
              <a:spcBef>
                <a:spcPts val="0"/>
              </a:spcBef>
              <a:spcAft>
                <a:spcPts val="800"/>
              </a:spcAft>
              <a:buNone/>
            </a:pPr>
            <a:r>
              <a:rPr lang="en-US" sz="1800" b="1" i="0" dirty="0">
                <a:solidFill>
                  <a:srgbClr val="5A0886"/>
                </a:solidFill>
                <a:latin typeface="Times New Roman"/>
                <a:cs typeface="Times New Roman"/>
              </a:rPr>
              <a:t>4.  </a:t>
            </a:r>
            <a:r>
              <a:rPr lang="en-US" sz="1800" b="0" i="0" dirty="0">
                <a:solidFill>
                  <a:srgbClr val="1F1F1F"/>
                </a:solidFill>
                <a:latin typeface="Times New Roman"/>
                <a:cs typeface="Times New Roman"/>
              </a:rPr>
              <a:t>Explain why every AI result needs human verification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AI-Assisted Forensic Workflow</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12" name="Step 312"/>
          <p:cNvSpPr/>
          <p:nvPr/>
        </p:nvSpPr>
        <p:spPr>
          <a:xfrm>
            <a:off x="548640" y="1371600"/>
            <a:ext cx="1554480" cy="1371600"/>
          </a:xfrm>
          <a:prstGeom prst="roundRect">
            <a:avLst>
              <a:gd name="adj" fmla="val 8000"/>
            </a:avLst>
          </a:prstGeom>
          <a:solidFill>
            <a:srgbClr val="EFE6F6"/>
          </a:solidFill>
          <a:ln w="12700">
            <a:solidFill>
              <a:srgbClr val="5A0886"/>
            </a:solid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5A0886"/>
                </a:solidFill>
                <a:latin typeface="Times New Roman"/>
                <a:cs typeface="Times New Roman"/>
              </a:rPr>
              <a:t>1</a:t>
            </a:r>
          </a:p>
          <a:p>
            <a:pPr marL="0" indent="0" algn="ctr">
              <a:spcBef>
                <a:spcPts val="0"/>
              </a:spcBef>
              <a:spcAft>
                <a:spcPts val="0"/>
              </a:spcAft>
              <a:buNone/>
            </a:pPr>
            <a:r>
              <a:rPr lang="en-US" sz="1500" b="1" i="0" dirty="0">
                <a:solidFill>
                  <a:srgbClr val="5A0886"/>
                </a:solidFill>
                <a:latin typeface="Times New Roman"/>
                <a:cs typeface="Times New Roman"/>
              </a:rPr>
              <a:t>Authorised evidence source</a:t>
            </a:r>
          </a:p>
        </p:txBody>
      </p:sp>
      <p:sp>
        <p:nvSpPr>
          <p:cNvPr id="313" name="Arrow 313"/>
          <p:cNvSpPr/>
          <p:nvPr/>
        </p:nvSpPr>
        <p:spPr>
          <a:xfrm>
            <a:off x="2148840" y="1901952"/>
            <a:ext cx="256032" cy="31089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14" name="Step 314"/>
          <p:cNvSpPr/>
          <p:nvPr/>
        </p:nvSpPr>
        <p:spPr>
          <a:xfrm>
            <a:off x="2450592" y="1371600"/>
            <a:ext cx="1554480" cy="1371600"/>
          </a:xfrm>
          <a:prstGeom prst="roundRect">
            <a:avLst>
              <a:gd name="adj" fmla="val 8000"/>
            </a:avLst>
          </a:prstGeom>
          <a:solidFill>
            <a:srgbClr val="EFE6F6"/>
          </a:solidFill>
          <a:ln w="12700">
            <a:solidFill>
              <a:srgbClr val="5A0886"/>
            </a:solid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5A0886"/>
                </a:solidFill>
                <a:latin typeface="Times New Roman"/>
                <a:cs typeface="Times New Roman"/>
              </a:rPr>
              <a:t>2</a:t>
            </a:r>
          </a:p>
          <a:p>
            <a:pPr marL="0" indent="0" algn="ctr">
              <a:spcBef>
                <a:spcPts val="0"/>
              </a:spcBef>
              <a:spcAft>
                <a:spcPts val="0"/>
              </a:spcAft>
              <a:buNone/>
            </a:pPr>
            <a:r>
              <a:rPr lang="en-US" sz="1500" b="1" i="0" dirty="0">
                <a:solidFill>
                  <a:srgbClr val="5A0886"/>
                </a:solidFill>
                <a:latin typeface="Times New Roman"/>
                <a:cs typeface="Times New Roman"/>
              </a:rPr>
              <a:t>Evidence preservation &amp; verification</a:t>
            </a:r>
          </a:p>
        </p:txBody>
      </p:sp>
      <p:sp>
        <p:nvSpPr>
          <p:cNvPr id="315" name="Arrow 315"/>
          <p:cNvSpPr/>
          <p:nvPr/>
        </p:nvSpPr>
        <p:spPr>
          <a:xfrm>
            <a:off x="4050792" y="1901952"/>
            <a:ext cx="256032" cy="31089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16" name="Step 316"/>
          <p:cNvSpPr/>
          <p:nvPr/>
        </p:nvSpPr>
        <p:spPr>
          <a:xfrm>
            <a:off x="4352544" y="1371600"/>
            <a:ext cx="1554480" cy="1371600"/>
          </a:xfrm>
          <a:prstGeom prst="roundRect">
            <a:avLst>
              <a:gd name="adj" fmla="val 8000"/>
            </a:avLst>
          </a:prstGeom>
          <a:solidFill>
            <a:srgbClr val="EFE6F6"/>
          </a:solidFill>
          <a:ln w="12700">
            <a:solidFill>
              <a:srgbClr val="5A0886"/>
            </a:solid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5A0886"/>
                </a:solidFill>
                <a:latin typeface="Times New Roman"/>
                <a:cs typeface="Times New Roman"/>
              </a:rPr>
              <a:t>3</a:t>
            </a:r>
          </a:p>
          <a:p>
            <a:pPr marL="0" indent="0" algn="ctr">
              <a:spcBef>
                <a:spcPts val="0"/>
              </a:spcBef>
              <a:spcAft>
                <a:spcPts val="0"/>
              </a:spcAft>
              <a:buNone/>
            </a:pPr>
            <a:r>
              <a:rPr lang="en-US" sz="1500" b="1" i="0" dirty="0">
                <a:solidFill>
                  <a:srgbClr val="5A0886"/>
                </a:solidFill>
                <a:latin typeface="Times New Roman"/>
                <a:cs typeface="Times New Roman"/>
              </a:rPr>
              <a:t>Working copy</a:t>
            </a:r>
          </a:p>
        </p:txBody>
      </p:sp>
      <p:sp>
        <p:nvSpPr>
          <p:cNvPr id="317" name="Arrow 317"/>
          <p:cNvSpPr/>
          <p:nvPr/>
        </p:nvSpPr>
        <p:spPr>
          <a:xfrm>
            <a:off x="5952744" y="1901952"/>
            <a:ext cx="256032" cy="31089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18" name="Step 318"/>
          <p:cNvSpPr/>
          <p:nvPr/>
        </p:nvSpPr>
        <p:spPr>
          <a:xfrm>
            <a:off x="6254496" y="1371600"/>
            <a:ext cx="1554480" cy="1371600"/>
          </a:xfrm>
          <a:prstGeom prst="roundRect">
            <a:avLst>
              <a:gd name="adj" fmla="val 8000"/>
            </a:avLst>
          </a:prstGeom>
          <a:solidFill>
            <a:srgbClr val="5A0886"/>
          </a:solidFill>
          <a:ln>
            <a:no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FFFFFF"/>
                </a:solidFill>
                <a:latin typeface="Times New Roman"/>
                <a:cs typeface="Times New Roman"/>
              </a:rPr>
              <a:t>4</a:t>
            </a:r>
          </a:p>
          <a:p>
            <a:pPr marL="0" indent="0" algn="ctr">
              <a:spcBef>
                <a:spcPts val="0"/>
              </a:spcBef>
              <a:spcAft>
                <a:spcPts val="0"/>
              </a:spcAft>
              <a:buNone/>
            </a:pPr>
            <a:r>
              <a:rPr lang="en-US" sz="1500" b="1" i="0" dirty="0">
                <a:solidFill>
                  <a:srgbClr val="FFFFFF"/>
                </a:solidFill>
                <a:latin typeface="Times New Roman"/>
                <a:cs typeface="Times New Roman"/>
              </a:rPr>
              <a:t>AI-assisted triage &amp; analysis</a:t>
            </a:r>
          </a:p>
        </p:txBody>
      </p:sp>
      <p:sp>
        <p:nvSpPr>
          <p:cNvPr id="319" name="Arrow 319"/>
          <p:cNvSpPr/>
          <p:nvPr/>
        </p:nvSpPr>
        <p:spPr>
          <a:xfrm>
            <a:off x="7854696" y="1901952"/>
            <a:ext cx="256032" cy="31089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20" name="Step 320"/>
          <p:cNvSpPr/>
          <p:nvPr/>
        </p:nvSpPr>
        <p:spPr>
          <a:xfrm>
            <a:off x="8156448" y="1371600"/>
            <a:ext cx="1554480" cy="1371600"/>
          </a:xfrm>
          <a:prstGeom prst="roundRect">
            <a:avLst>
              <a:gd name="adj" fmla="val 8000"/>
            </a:avLst>
          </a:prstGeom>
          <a:solidFill>
            <a:srgbClr val="E6F4EA"/>
          </a:solidFill>
          <a:ln w="12700">
            <a:solidFill>
              <a:srgbClr val="1E7B34"/>
            </a:solid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1E7B34"/>
                </a:solidFill>
                <a:latin typeface="Times New Roman"/>
                <a:cs typeface="Times New Roman"/>
              </a:rPr>
              <a:t>5</a:t>
            </a:r>
          </a:p>
          <a:p>
            <a:pPr marL="0" indent="0" algn="ctr">
              <a:spcBef>
                <a:spcPts val="0"/>
              </a:spcBef>
              <a:spcAft>
                <a:spcPts val="0"/>
              </a:spcAft>
              <a:buNone/>
            </a:pPr>
            <a:r>
              <a:rPr lang="en-US" sz="1500" b="1" i="0" dirty="0">
                <a:solidFill>
                  <a:srgbClr val="1E7B34"/>
                </a:solidFill>
                <a:latin typeface="Times New Roman"/>
                <a:cs typeface="Times New Roman"/>
              </a:rPr>
              <a:t>Human verification</a:t>
            </a:r>
          </a:p>
        </p:txBody>
      </p:sp>
      <p:sp>
        <p:nvSpPr>
          <p:cNvPr id="321" name="Arrow 321"/>
          <p:cNvSpPr/>
          <p:nvPr/>
        </p:nvSpPr>
        <p:spPr>
          <a:xfrm>
            <a:off x="9756648" y="1901952"/>
            <a:ext cx="256032" cy="31089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22" name="Step 322"/>
          <p:cNvSpPr/>
          <p:nvPr/>
        </p:nvSpPr>
        <p:spPr>
          <a:xfrm>
            <a:off x="10058400" y="1371600"/>
            <a:ext cx="1554480" cy="1371600"/>
          </a:xfrm>
          <a:prstGeom prst="roundRect">
            <a:avLst>
              <a:gd name="adj" fmla="val 8000"/>
            </a:avLst>
          </a:prstGeom>
          <a:solidFill>
            <a:srgbClr val="E6F4EA"/>
          </a:solidFill>
          <a:ln w="12700">
            <a:solidFill>
              <a:srgbClr val="1E7B34"/>
            </a:solidFill>
          </a:ln>
        </p:spPr>
        <p:txBody>
          <a:bodyPr wrap="square" lIns="73152" tIns="45720" rIns="73152" bIns="45720" anchor="ctr">
            <a:noAutofit/>
          </a:bodyPr>
          <a:lstStyle/>
          <a:p>
            <a:pPr marL="0" indent="0" algn="ctr">
              <a:spcBef>
                <a:spcPts val="0"/>
              </a:spcBef>
              <a:spcAft>
                <a:spcPts val="0"/>
              </a:spcAft>
              <a:buNone/>
            </a:pPr>
            <a:r>
              <a:rPr lang="en-US" sz="1200" b="1" i="0" dirty="0">
                <a:solidFill>
                  <a:srgbClr val="1E7B34"/>
                </a:solidFill>
                <a:latin typeface="Times New Roman"/>
                <a:cs typeface="Times New Roman"/>
              </a:rPr>
              <a:t>6</a:t>
            </a:r>
          </a:p>
          <a:p>
            <a:pPr marL="0" indent="0" algn="ctr">
              <a:spcBef>
                <a:spcPts val="0"/>
              </a:spcBef>
              <a:spcAft>
                <a:spcPts val="0"/>
              </a:spcAft>
              <a:buNone/>
            </a:pPr>
            <a:r>
              <a:rPr lang="en-US" sz="1500" b="1" i="0" dirty="0">
                <a:solidFill>
                  <a:srgbClr val="1E7B34"/>
                </a:solidFill>
                <a:latin typeface="Times New Roman"/>
                <a:cs typeface="Times New Roman"/>
              </a:rPr>
              <a:t>Documented findings</a:t>
            </a:r>
          </a:p>
        </p:txBody>
      </p:sp>
      <p:cxnSp>
        <p:nvCxnSpPr>
          <p:cNvPr id="323" name="Line 323"/>
          <p:cNvCxnSpPr/>
          <p:nvPr/>
        </p:nvCxnSpPr>
        <p:spPr>
          <a:xfrm>
            <a:off x="548640" y="2926080"/>
            <a:ext cx="5358384" cy="0"/>
          </a:xfrm>
          <a:prstGeom prst="line">
            <a:avLst/>
          </a:prstGeom>
          <a:ln w="25400">
            <a:solidFill>
              <a:srgbClr val="5A0886"/>
            </a:solidFill>
          </a:ln>
        </p:spPr>
      </p:cxnSp>
      <p:sp>
        <p:nvSpPr>
          <p:cNvPr id="324" name="Text 324"/>
          <p:cNvSpPr txBox="1"/>
          <p:nvPr/>
        </p:nvSpPr>
        <p:spPr>
          <a:xfrm>
            <a:off x="548640" y="2999232"/>
            <a:ext cx="5358384" cy="36576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400" b="1" i="0" dirty="0">
                <a:solidFill>
                  <a:srgbClr val="5A0886"/>
                </a:solidFill>
                <a:latin typeface="Times New Roman"/>
                <a:cs typeface="Times New Roman"/>
              </a:rPr>
              <a:t>Preserve first: the original stays untouched</a:t>
            </a:r>
          </a:p>
        </p:txBody>
      </p:sp>
      <p:cxnSp>
        <p:nvCxnSpPr>
          <p:cNvPr id="325" name="Line 325"/>
          <p:cNvCxnSpPr/>
          <p:nvPr/>
        </p:nvCxnSpPr>
        <p:spPr>
          <a:xfrm>
            <a:off x="6254496" y="2926080"/>
            <a:ext cx="1554480" cy="0"/>
          </a:xfrm>
          <a:prstGeom prst="line">
            <a:avLst/>
          </a:prstGeom>
          <a:ln w="25400">
            <a:solidFill>
              <a:srgbClr val="5A0886"/>
            </a:solidFill>
          </a:ln>
        </p:spPr>
      </p:cxnSp>
      <p:sp>
        <p:nvSpPr>
          <p:cNvPr id="326" name="Text 326"/>
          <p:cNvSpPr txBox="1"/>
          <p:nvPr/>
        </p:nvSpPr>
        <p:spPr>
          <a:xfrm>
            <a:off x="6254496" y="2999232"/>
            <a:ext cx="1554480" cy="36576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400" b="1" i="0" dirty="0">
                <a:solidFill>
                  <a:srgbClr val="5A0886"/>
                </a:solidFill>
                <a:latin typeface="Times New Roman"/>
                <a:cs typeface="Times New Roman"/>
              </a:rPr>
              <a:t>AI supports</a:t>
            </a:r>
          </a:p>
        </p:txBody>
      </p:sp>
      <p:cxnSp>
        <p:nvCxnSpPr>
          <p:cNvPr id="327" name="Line 327"/>
          <p:cNvCxnSpPr/>
          <p:nvPr/>
        </p:nvCxnSpPr>
        <p:spPr>
          <a:xfrm>
            <a:off x="8156448" y="2926080"/>
            <a:ext cx="3456432" cy="0"/>
          </a:xfrm>
          <a:prstGeom prst="line">
            <a:avLst/>
          </a:prstGeom>
          <a:ln w="25400">
            <a:solidFill>
              <a:srgbClr val="1E7B34"/>
            </a:solidFill>
          </a:ln>
        </p:spPr>
      </p:cxnSp>
      <p:sp>
        <p:nvSpPr>
          <p:cNvPr id="328" name="Text 328"/>
          <p:cNvSpPr txBox="1"/>
          <p:nvPr/>
        </p:nvSpPr>
        <p:spPr>
          <a:xfrm>
            <a:off x="8156448" y="2999232"/>
            <a:ext cx="3456432" cy="36576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400" b="1" i="0" dirty="0">
                <a:solidFill>
                  <a:srgbClr val="1E7B34"/>
                </a:solidFill>
                <a:latin typeface="Times New Roman"/>
                <a:cs typeface="Times New Roman"/>
              </a:rPr>
              <a:t>People decide and document</a:t>
            </a:r>
          </a:p>
        </p:txBody>
      </p:sp>
      <p:sp>
        <p:nvSpPr>
          <p:cNvPr id="329" name="Note 329"/>
          <p:cNvSpPr/>
          <p:nvPr/>
        </p:nvSpPr>
        <p:spPr>
          <a:xfrm>
            <a:off x="548640" y="3794760"/>
            <a:ext cx="3611880" cy="20116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30" name="Text 330"/>
          <p:cNvSpPr txBox="1"/>
          <p:nvPr/>
        </p:nvSpPr>
        <p:spPr>
          <a:xfrm>
            <a:off x="685800" y="3886200"/>
            <a:ext cx="3337560" cy="19659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AI works on the copy</a:t>
            </a:r>
          </a:p>
          <a:p>
            <a:pPr marL="0" indent="0" algn="l">
              <a:spcBef>
                <a:spcPts val="0"/>
              </a:spcBef>
              <a:spcAft>
                <a:spcPts val="0"/>
              </a:spcAft>
              <a:buNone/>
            </a:pPr>
            <a:r>
              <a:rPr lang="en-US" sz="1600" b="0" i="0" dirty="0">
                <a:solidFill>
                  <a:srgbClr val="1F1F1F"/>
                </a:solidFill>
                <a:latin typeface="Times New Roman"/>
                <a:cs typeface="Times New Roman"/>
              </a:rPr>
              <a:t>Analysis runs on a verified working copy, never on the original evidence.</a:t>
            </a:r>
          </a:p>
        </p:txBody>
      </p:sp>
      <p:sp>
        <p:nvSpPr>
          <p:cNvPr id="331" name="Note 331"/>
          <p:cNvSpPr/>
          <p:nvPr/>
        </p:nvSpPr>
        <p:spPr>
          <a:xfrm>
            <a:off x="4297680" y="3794760"/>
            <a:ext cx="3611880" cy="20116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32" name="Text 332"/>
          <p:cNvSpPr txBox="1"/>
          <p:nvPr/>
        </p:nvSpPr>
        <p:spPr>
          <a:xfrm>
            <a:off x="4434840" y="3886200"/>
            <a:ext cx="3337560" cy="19659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AI output is a lead</a:t>
            </a:r>
          </a:p>
          <a:p>
            <a:pPr marL="0" indent="0" algn="l">
              <a:spcBef>
                <a:spcPts val="0"/>
              </a:spcBef>
              <a:spcAft>
                <a:spcPts val="0"/>
              </a:spcAft>
              <a:buNone/>
            </a:pPr>
            <a:r>
              <a:rPr lang="en-US" sz="1600" b="0" i="0" dirty="0">
                <a:solidFill>
                  <a:srgbClr val="1F1F1F"/>
                </a:solidFill>
                <a:latin typeface="Times New Roman"/>
                <a:cs typeface="Times New Roman"/>
              </a:rPr>
              <a:t>Results enter the workflow at step 5 and must be checked before they count.</a:t>
            </a:r>
          </a:p>
        </p:txBody>
      </p:sp>
      <p:sp>
        <p:nvSpPr>
          <p:cNvPr id="333" name="Note 333"/>
          <p:cNvSpPr/>
          <p:nvPr/>
        </p:nvSpPr>
        <p:spPr>
          <a:xfrm>
            <a:off x="8046720" y="3794760"/>
            <a:ext cx="3611880" cy="20116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34" name="Text 334"/>
          <p:cNvSpPr txBox="1"/>
          <p:nvPr/>
        </p:nvSpPr>
        <p:spPr>
          <a:xfrm>
            <a:off x="8183880" y="3886200"/>
            <a:ext cx="3337560" cy="19659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Everything is recorded</a:t>
            </a:r>
          </a:p>
          <a:p>
            <a:pPr marL="0" indent="0" algn="l">
              <a:spcBef>
                <a:spcPts val="0"/>
              </a:spcBef>
              <a:spcAft>
                <a:spcPts val="0"/>
              </a:spcAft>
              <a:buNone/>
            </a:pPr>
            <a:r>
              <a:rPr lang="en-US" sz="1600" b="0" i="0" dirty="0">
                <a:solidFill>
                  <a:srgbClr val="1F1F1F"/>
                </a:solidFill>
                <a:latin typeface="Times New Roman"/>
                <a:cs typeface="Times New Roman"/>
              </a:rPr>
              <a:t>Tool version, settings and steps are documented so others can review the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Where AI Helps Investigators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35" name="App 335"/>
          <p:cNvSpPr/>
          <p:nvPr/>
        </p:nvSpPr>
        <p:spPr>
          <a:xfrm>
            <a:off x="548640" y="1188720"/>
            <a:ext cx="5440680" cy="22402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36" name="Num 336"/>
          <p:cNvSpPr/>
          <p:nvPr/>
        </p:nvSpPr>
        <p:spPr>
          <a:xfrm>
            <a:off x="731520" y="1371600"/>
            <a:ext cx="502920" cy="502920"/>
          </a:xfrm>
          <a:prstGeom prst="ellipse">
            <a:avLst/>
          </a:prstGeom>
          <a:solidFill>
            <a:srgbClr val="5A0886"/>
          </a:solidFill>
          <a:ln>
            <a:noFill/>
          </a:ln>
        </p:spPr>
        <p:txBody>
          <a:bodyPr wrap="square" lIns="0" tIns="0" rIns="0" bIns="0" anchor="ctr">
            <a:noAutofit/>
          </a:bodyPr>
          <a:lstStyle/>
          <a:p>
            <a:pPr marL="0" indent="0" algn="ctr">
              <a:spcBef>
                <a:spcPts val="0"/>
              </a:spcBef>
              <a:spcAft>
                <a:spcPts val="0"/>
              </a:spcAft>
              <a:buNone/>
            </a:pPr>
            <a:r>
              <a:rPr lang="en-US" sz="1800" b="1" i="0" dirty="0">
                <a:solidFill>
                  <a:srgbClr val="FFFFFF"/>
                </a:solidFill>
                <a:latin typeface="Times New Roman"/>
                <a:cs typeface="Times New Roman"/>
              </a:rPr>
              <a:t>1</a:t>
            </a:r>
          </a:p>
        </p:txBody>
      </p:sp>
      <p:sp>
        <p:nvSpPr>
          <p:cNvPr id="337" name="Text 337"/>
          <p:cNvSpPr txBox="1"/>
          <p:nvPr/>
        </p:nvSpPr>
        <p:spPr>
          <a:xfrm>
            <a:off x="1371600" y="1353312"/>
            <a:ext cx="4480560" cy="201168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Data triage and classification</a:t>
            </a:r>
          </a:p>
          <a:p>
            <a:pPr marL="0" indent="0" algn="l">
              <a:spcBef>
                <a:spcPts val="0"/>
              </a:spcBef>
              <a:spcAft>
                <a:spcPts val="400"/>
              </a:spcAft>
              <a:buNone/>
            </a:pPr>
            <a:r>
              <a:rPr lang="en-US" sz="1600" b="1" i="0" dirty="0">
                <a:solidFill>
                  <a:srgbClr val="1F1F1F"/>
                </a:solidFill>
                <a:latin typeface="Times New Roman"/>
                <a:cs typeface="Times New Roman"/>
              </a:rPr>
              <a:t>Helps: </a:t>
            </a:r>
            <a:r>
              <a:rPr lang="en-US" sz="1600" b="0" i="0" dirty="0">
                <a:solidFill>
                  <a:srgbClr val="1F1F1F"/>
                </a:solidFill>
                <a:latin typeface="Times New Roman"/>
                <a:cs typeface="Times New Roman"/>
              </a:rPr>
              <a:t>Prioritises and groups large file sets and flags likely duplicates.</a:t>
            </a:r>
          </a:p>
          <a:p>
            <a:pPr marL="0" indent="0" algn="l">
              <a:spcBef>
                <a:spcPts val="0"/>
              </a:spcBef>
              <a:spcAft>
                <a:spcPts val="0"/>
              </a:spcAft>
              <a:buNone/>
            </a:pPr>
            <a:r>
              <a:rPr lang="en-US" sz="1600" b="1" i="0" dirty="0">
                <a:solidFill>
                  <a:srgbClr val="B3261E"/>
                </a:solidFill>
                <a:latin typeface="Times New Roman"/>
                <a:cs typeface="Times New Roman"/>
              </a:rPr>
              <a:t>Check: </a:t>
            </a:r>
            <a:r>
              <a:rPr lang="en-US" sz="1600" b="0" i="0" dirty="0">
                <a:solidFill>
                  <a:srgbClr val="1F1F1F"/>
                </a:solidFill>
                <a:latin typeface="Times New Roman"/>
                <a:cs typeface="Times New Roman"/>
              </a:rPr>
              <a:t>Confirm the grouping is relevant before relying on it.</a:t>
            </a:r>
          </a:p>
        </p:txBody>
      </p:sp>
      <p:sp>
        <p:nvSpPr>
          <p:cNvPr id="338" name="App 338"/>
          <p:cNvSpPr/>
          <p:nvPr/>
        </p:nvSpPr>
        <p:spPr>
          <a:xfrm>
            <a:off x="6172200" y="1188720"/>
            <a:ext cx="5440680" cy="22402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39" name="Num 339"/>
          <p:cNvSpPr/>
          <p:nvPr/>
        </p:nvSpPr>
        <p:spPr>
          <a:xfrm>
            <a:off x="6355080" y="1371600"/>
            <a:ext cx="502920" cy="502920"/>
          </a:xfrm>
          <a:prstGeom prst="ellipse">
            <a:avLst/>
          </a:prstGeom>
          <a:solidFill>
            <a:srgbClr val="5A0886"/>
          </a:solidFill>
          <a:ln>
            <a:noFill/>
          </a:ln>
        </p:spPr>
        <p:txBody>
          <a:bodyPr wrap="square" lIns="0" tIns="0" rIns="0" bIns="0" anchor="ctr">
            <a:noAutofit/>
          </a:bodyPr>
          <a:lstStyle/>
          <a:p>
            <a:pPr marL="0" indent="0" algn="ctr">
              <a:spcBef>
                <a:spcPts val="0"/>
              </a:spcBef>
              <a:spcAft>
                <a:spcPts val="0"/>
              </a:spcAft>
              <a:buNone/>
            </a:pPr>
            <a:r>
              <a:rPr lang="en-US" sz="1800" b="1" i="0" dirty="0">
                <a:solidFill>
                  <a:srgbClr val="FFFFFF"/>
                </a:solidFill>
                <a:latin typeface="Times New Roman"/>
                <a:cs typeface="Times New Roman"/>
              </a:rPr>
              <a:t>2</a:t>
            </a:r>
          </a:p>
        </p:txBody>
      </p:sp>
      <p:sp>
        <p:nvSpPr>
          <p:cNvPr id="340" name="Text 340"/>
          <p:cNvSpPr txBox="1"/>
          <p:nvPr/>
        </p:nvSpPr>
        <p:spPr>
          <a:xfrm>
            <a:off x="6995160" y="1353312"/>
            <a:ext cx="4480560" cy="201168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Detecting unusual activity</a:t>
            </a:r>
          </a:p>
          <a:p>
            <a:pPr marL="0" indent="0" algn="l">
              <a:spcBef>
                <a:spcPts val="0"/>
              </a:spcBef>
              <a:spcAft>
                <a:spcPts val="400"/>
              </a:spcAft>
              <a:buNone/>
            </a:pPr>
            <a:r>
              <a:rPr lang="en-US" sz="1600" b="1" i="0" dirty="0">
                <a:solidFill>
                  <a:srgbClr val="1F1F1F"/>
                </a:solidFill>
                <a:latin typeface="Times New Roman"/>
                <a:cs typeface="Times New Roman"/>
              </a:rPr>
              <a:t>Helps: </a:t>
            </a:r>
            <a:r>
              <a:rPr lang="en-US" sz="1600" b="0" i="0" dirty="0">
                <a:solidFill>
                  <a:srgbClr val="1F1F1F"/>
                </a:solidFill>
                <a:latin typeface="Times New Roman"/>
                <a:cs typeface="Times New Roman"/>
              </a:rPr>
              <a:t>Flags odd login times, file access or data transfers in logs.</a:t>
            </a:r>
          </a:p>
          <a:p>
            <a:pPr marL="0" indent="0" algn="l">
              <a:spcBef>
                <a:spcPts val="0"/>
              </a:spcBef>
              <a:spcAft>
                <a:spcPts val="0"/>
              </a:spcAft>
              <a:buNone/>
            </a:pPr>
            <a:r>
              <a:rPr lang="en-US" sz="1600" b="1" i="0" dirty="0">
                <a:solidFill>
                  <a:srgbClr val="B3261E"/>
                </a:solidFill>
                <a:latin typeface="Times New Roman"/>
                <a:cs typeface="Times New Roman"/>
              </a:rPr>
              <a:t>Check: </a:t>
            </a:r>
            <a:r>
              <a:rPr lang="en-US" sz="1600" b="0" i="0" dirty="0">
                <a:solidFill>
                  <a:srgbClr val="1F1F1F"/>
                </a:solidFill>
                <a:latin typeface="Times New Roman"/>
                <a:cs typeface="Times New Roman"/>
              </a:rPr>
              <a:t>An unusual event can have an innocent explanation.</a:t>
            </a:r>
          </a:p>
        </p:txBody>
      </p:sp>
      <p:sp>
        <p:nvSpPr>
          <p:cNvPr id="341" name="App 341"/>
          <p:cNvSpPr/>
          <p:nvPr/>
        </p:nvSpPr>
        <p:spPr>
          <a:xfrm>
            <a:off x="548640" y="3611880"/>
            <a:ext cx="5440680" cy="22402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42" name="Num 342"/>
          <p:cNvSpPr/>
          <p:nvPr/>
        </p:nvSpPr>
        <p:spPr>
          <a:xfrm>
            <a:off x="731520" y="3794760"/>
            <a:ext cx="502920" cy="502920"/>
          </a:xfrm>
          <a:prstGeom prst="ellipse">
            <a:avLst/>
          </a:prstGeom>
          <a:solidFill>
            <a:srgbClr val="5A0886"/>
          </a:solidFill>
          <a:ln>
            <a:noFill/>
          </a:ln>
        </p:spPr>
        <p:txBody>
          <a:bodyPr wrap="square" lIns="0" tIns="0" rIns="0" bIns="0" anchor="ctr">
            <a:noAutofit/>
          </a:bodyPr>
          <a:lstStyle/>
          <a:p>
            <a:pPr marL="0" indent="0" algn="ctr">
              <a:spcBef>
                <a:spcPts val="0"/>
              </a:spcBef>
              <a:spcAft>
                <a:spcPts val="0"/>
              </a:spcAft>
              <a:buNone/>
            </a:pPr>
            <a:r>
              <a:rPr lang="en-US" sz="1800" b="1" i="0" dirty="0">
                <a:solidFill>
                  <a:srgbClr val="FFFFFF"/>
                </a:solidFill>
                <a:latin typeface="Times New Roman"/>
                <a:cs typeface="Times New Roman"/>
              </a:rPr>
              <a:t>3</a:t>
            </a:r>
          </a:p>
        </p:txBody>
      </p:sp>
      <p:sp>
        <p:nvSpPr>
          <p:cNvPr id="343" name="Text 343"/>
          <p:cNvSpPr txBox="1"/>
          <p:nvPr/>
        </p:nvSpPr>
        <p:spPr>
          <a:xfrm>
            <a:off x="1371600" y="3776472"/>
            <a:ext cx="4480560" cy="201168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Text and multimedia analysis</a:t>
            </a:r>
          </a:p>
          <a:p>
            <a:pPr marL="0" indent="0" algn="l">
              <a:spcBef>
                <a:spcPts val="0"/>
              </a:spcBef>
              <a:spcAft>
                <a:spcPts val="400"/>
              </a:spcAft>
              <a:buNone/>
            </a:pPr>
            <a:r>
              <a:rPr lang="en-US" sz="1600" b="1" i="0" dirty="0">
                <a:solidFill>
                  <a:srgbClr val="1F1F1F"/>
                </a:solidFill>
                <a:latin typeface="Times New Roman"/>
                <a:cs typeface="Times New Roman"/>
              </a:rPr>
              <a:t>Helps: </a:t>
            </a:r>
            <a:r>
              <a:rPr lang="en-US" sz="1600" b="0" i="0" dirty="0">
                <a:solidFill>
                  <a:srgbClr val="1F1F1F"/>
                </a:solidFill>
                <a:latin typeface="Times New Roman"/>
                <a:cs typeface="Times New Roman"/>
              </a:rPr>
              <a:t>Searches messages and documents; speech-to-text and image tools speed up review.</a:t>
            </a:r>
          </a:p>
          <a:p>
            <a:pPr marL="0" indent="0" algn="l">
              <a:spcBef>
                <a:spcPts val="0"/>
              </a:spcBef>
              <a:spcAft>
                <a:spcPts val="0"/>
              </a:spcAft>
              <a:buNone/>
            </a:pPr>
            <a:r>
              <a:rPr lang="en-US" sz="1600" b="1" i="0" dirty="0">
                <a:solidFill>
                  <a:srgbClr val="B3261E"/>
                </a:solidFill>
                <a:latin typeface="Times New Roman"/>
                <a:cs typeface="Times New Roman"/>
              </a:rPr>
              <a:t>Check: </a:t>
            </a:r>
            <a:r>
              <a:rPr lang="en-US" sz="1600" b="0" i="0" dirty="0">
                <a:solidFill>
                  <a:srgbClr val="1F1F1F"/>
                </a:solidFill>
                <a:latin typeface="Times New Roman"/>
                <a:cs typeface="Times New Roman"/>
              </a:rPr>
              <a:t>Unclear audio, slang or poor images cause errors. Compare with originals.</a:t>
            </a:r>
          </a:p>
        </p:txBody>
      </p:sp>
      <p:sp>
        <p:nvSpPr>
          <p:cNvPr id="344" name="App 344"/>
          <p:cNvSpPr/>
          <p:nvPr/>
        </p:nvSpPr>
        <p:spPr>
          <a:xfrm>
            <a:off x="6172200" y="3611880"/>
            <a:ext cx="5440680" cy="224028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45" name="Num 345"/>
          <p:cNvSpPr/>
          <p:nvPr/>
        </p:nvSpPr>
        <p:spPr>
          <a:xfrm>
            <a:off x="6355080" y="3794760"/>
            <a:ext cx="502920" cy="502920"/>
          </a:xfrm>
          <a:prstGeom prst="ellipse">
            <a:avLst/>
          </a:prstGeom>
          <a:solidFill>
            <a:srgbClr val="5A0886"/>
          </a:solidFill>
          <a:ln>
            <a:noFill/>
          </a:ln>
        </p:spPr>
        <p:txBody>
          <a:bodyPr wrap="square" lIns="0" tIns="0" rIns="0" bIns="0" anchor="ctr">
            <a:noAutofit/>
          </a:bodyPr>
          <a:lstStyle/>
          <a:p>
            <a:pPr marL="0" indent="0" algn="ctr">
              <a:spcBef>
                <a:spcPts val="0"/>
              </a:spcBef>
              <a:spcAft>
                <a:spcPts val="0"/>
              </a:spcAft>
              <a:buNone/>
            </a:pPr>
            <a:r>
              <a:rPr lang="en-US" sz="1800" b="1" i="0" dirty="0">
                <a:solidFill>
                  <a:srgbClr val="FFFFFF"/>
                </a:solidFill>
                <a:latin typeface="Times New Roman"/>
                <a:cs typeface="Times New Roman"/>
              </a:rPr>
              <a:t>4</a:t>
            </a:r>
          </a:p>
        </p:txBody>
      </p:sp>
      <p:sp>
        <p:nvSpPr>
          <p:cNvPr id="346" name="Text 346"/>
          <p:cNvSpPr txBox="1"/>
          <p:nvPr/>
        </p:nvSpPr>
        <p:spPr>
          <a:xfrm>
            <a:off x="6995160" y="3776472"/>
            <a:ext cx="4480560" cy="201168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800" b="1" i="0" dirty="0">
                <a:solidFill>
                  <a:srgbClr val="5A0886"/>
                </a:solidFill>
                <a:latin typeface="Times New Roman"/>
                <a:cs typeface="Times New Roman"/>
              </a:rPr>
              <a:t>Connecting evidence</a:t>
            </a:r>
          </a:p>
          <a:p>
            <a:pPr marL="0" indent="0" algn="l">
              <a:spcBef>
                <a:spcPts val="0"/>
              </a:spcBef>
              <a:spcAft>
                <a:spcPts val="400"/>
              </a:spcAft>
              <a:buNone/>
            </a:pPr>
            <a:r>
              <a:rPr lang="en-US" sz="1600" b="1" i="0" dirty="0">
                <a:solidFill>
                  <a:srgbClr val="1F1F1F"/>
                </a:solidFill>
                <a:latin typeface="Times New Roman"/>
                <a:cs typeface="Times New Roman"/>
              </a:rPr>
              <a:t>Helps: </a:t>
            </a:r>
            <a:r>
              <a:rPr lang="en-US" sz="1600" b="0" i="0" dirty="0">
                <a:solidFill>
                  <a:srgbClr val="1F1F1F"/>
                </a:solidFill>
                <a:latin typeface="Times New Roman"/>
                <a:cs typeface="Times New Roman"/>
              </a:rPr>
              <a:t>Relates timestamps, accounts and files across devices and logs to build a timeline.</a:t>
            </a:r>
          </a:p>
          <a:p>
            <a:pPr marL="0" indent="0" algn="l">
              <a:spcBef>
                <a:spcPts val="0"/>
              </a:spcBef>
              <a:spcAft>
                <a:spcPts val="0"/>
              </a:spcAft>
              <a:buNone/>
            </a:pPr>
            <a:r>
              <a:rPr lang="en-US" sz="1600" b="1" i="0" dirty="0">
                <a:solidFill>
                  <a:srgbClr val="B3261E"/>
                </a:solidFill>
                <a:latin typeface="Times New Roman"/>
                <a:cs typeface="Times New Roman"/>
              </a:rPr>
              <a:t>Check: </a:t>
            </a:r>
            <a:r>
              <a:rPr lang="en-US" sz="1600" b="0" i="0" dirty="0">
                <a:solidFill>
                  <a:srgbClr val="1F1F1F"/>
                </a:solidFill>
                <a:latin typeface="Times New Roman"/>
                <a:cs typeface="Times New Roman"/>
              </a:rPr>
              <a:t>Similar timestamps do not prove two events are linked.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Synthetic Login-Log Scenario</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47" name="Tag 347"/>
          <p:cNvSpPr/>
          <p:nvPr/>
        </p:nvSpPr>
        <p:spPr>
          <a:xfrm>
            <a:off x="548640" y="1097280"/>
            <a:ext cx="5120640" cy="365760"/>
          </a:xfrm>
          <a:prstGeom prst="roundRect">
            <a:avLst/>
          </a:prstGeom>
          <a:solidFill>
            <a:srgbClr val="FFF4D6"/>
          </a:solidFill>
          <a:ln>
            <a:noFill/>
          </a:ln>
        </p:spPr>
        <p:txBody>
          <a:bodyPr wrap="square" lIns="109728" tIns="73152" rIns="109728" bIns="73152" anchor="ctr">
            <a:noAutofit/>
          </a:bodyPr>
          <a:lstStyle/>
          <a:p>
            <a:pPr marL="0" indent="0" algn="ctr">
              <a:spcBef>
                <a:spcPts val="0"/>
              </a:spcBef>
              <a:spcAft>
                <a:spcPts val="0"/>
              </a:spcAft>
              <a:buNone/>
            </a:pPr>
            <a:r>
              <a:rPr lang="en-US" sz="1400" b="1" i="0" dirty="0">
                <a:solidFill>
                  <a:srgbClr val="7A5200"/>
                </a:solidFill>
                <a:latin typeface="Times New Roman"/>
                <a:cs typeface="Times New Roman"/>
              </a:rPr>
              <a:t>HYPOTHETICAL DATA: not a real case</a:t>
            </a:r>
          </a:p>
        </p:txBody>
      </p:sp>
      <p:graphicFrame>
        <p:nvGraphicFramePr>
          <p:cNvPr id="348" name="Table 348"/>
          <p:cNvGraphicFramePr>
            <a:graphicFrameLocks noGrp="1"/>
          </p:cNvGraphicFramePr>
          <p:nvPr/>
        </p:nvGraphicFramePr>
        <p:xfrm>
          <a:off x="548640" y="1600200"/>
          <a:ext cx="6675120" cy="4023360"/>
        </p:xfrm>
        <a:graphic>
          <a:graphicData uri="http://schemas.openxmlformats.org/drawingml/2006/table">
            <a:tbl>
              <a:tblPr firstRow="1"/>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65760">
                <a:tc>
                  <a:txBody>
                    <a:bodyPr/>
                    <a:lstStyle/>
                    <a:p>
                      <a:pPr marL="0" indent="0" algn="l">
                        <a:spcBef>
                          <a:spcPts val="0"/>
                        </a:spcBef>
                        <a:spcAft>
                          <a:spcPts val="0"/>
                        </a:spcAft>
                        <a:buNone/>
                      </a:pPr>
                      <a:r>
                        <a:rPr lang="en-US" sz="1400" b="1" i="0" dirty="0">
                          <a:solidFill>
                            <a:srgbClr val="FFFFFF"/>
                          </a:solidFill>
                          <a:latin typeface="Times New Roman"/>
                          <a:cs typeface="Times New Roman"/>
                        </a:rPr>
                        <a:t>Time</a:t>
                      </a:r>
                    </a:p>
                  </a:txBody>
                  <a:tcPr marT="36576" marB="36576" anchor="ctr">
                    <a:lnL w="0">
                      <a:noFill/>
                    </a:lnL>
                    <a:lnR w="0">
                      <a:noFill/>
                    </a:lnR>
                    <a:lnT w="0">
                      <a:noFill/>
                    </a:lnT>
                    <a:lnB w="9525">
                      <a:solidFill>
                        <a:srgbClr val="D5C5E3"/>
                      </a:solidFill>
                    </a:lnB>
                    <a:solidFill>
                      <a:srgbClr val="5A0886"/>
                    </a:solidFill>
                  </a:tcPr>
                </a:tc>
                <a:tc>
                  <a:txBody>
                    <a:bodyPr/>
                    <a:lstStyle/>
                    <a:p>
                      <a:pPr marL="0" indent="0" algn="l">
                        <a:spcBef>
                          <a:spcPts val="0"/>
                        </a:spcBef>
                        <a:spcAft>
                          <a:spcPts val="0"/>
                        </a:spcAft>
                        <a:buNone/>
                      </a:pPr>
                      <a:r>
                        <a:rPr lang="en-US" sz="1400" b="1" i="0" dirty="0">
                          <a:solidFill>
                            <a:srgbClr val="FFFFFF"/>
                          </a:solidFill>
                          <a:latin typeface="Times New Roman"/>
                          <a:cs typeface="Times New Roman"/>
                        </a:rPr>
                        <a:t>User</a:t>
                      </a:r>
                    </a:p>
                  </a:txBody>
                  <a:tcPr marT="36576" marB="36576" anchor="ctr">
                    <a:lnL w="0">
                      <a:noFill/>
                    </a:lnL>
                    <a:lnR w="0">
                      <a:noFill/>
                    </a:lnR>
                    <a:lnT w="0">
                      <a:noFill/>
                    </a:lnT>
                    <a:lnB w="9525">
                      <a:solidFill>
                        <a:srgbClr val="D5C5E3"/>
                      </a:solidFill>
                    </a:lnB>
                    <a:solidFill>
                      <a:srgbClr val="5A0886"/>
                    </a:solidFill>
                  </a:tcPr>
                </a:tc>
                <a:tc>
                  <a:txBody>
                    <a:bodyPr/>
                    <a:lstStyle/>
                    <a:p>
                      <a:pPr marL="0" indent="0" algn="l">
                        <a:spcBef>
                          <a:spcPts val="0"/>
                        </a:spcBef>
                        <a:spcAft>
                          <a:spcPts val="0"/>
                        </a:spcAft>
                        <a:buNone/>
                      </a:pPr>
                      <a:r>
                        <a:rPr lang="en-US" sz="1400" b="1" i="0" dirty="0">
                          <a:solidFill>
                            <a:srgbClr val="FFFFFF"/>
                          </a:solidFill>
                          <a:latin typeface="Times New Roman"/>
                          <a:cs typeface="Times New Roman"/>
                        </a:rPr>
                        <a:t>Source IP</a:t>
                      </a:r>
                    </a:p>
                  </a:txBody>
                  <a:tcPr marT="36576" marB="36576" anchor="ctr">
                    <a:lnL w="0">
                      <a:noFill/>
                    </a:lnL>
                    <a:lnR w="0">
                      <a:noFill/>
                    </a:lnR>
                    <a:lnT w="0">
                      <a:noFill/>
                    </a:lnT>
                    <a:lnB w="9525">
                      <a:solidFill>
                        <a:srgbClr val="D5C5E3"/>
                      </a:solidFill>
                    </a:lnB>
                    <a:solidFill>
                      <a:srgbClr val="5A0886"/>
                    </a:solidFill>
                  </a:tcPr>
                </a:tc>
                <a:tc>
                  <a:txBody>
                    <a:bodyPr/>
                    <a:lstStyle/>
                    <a:p>
                      <a:pPr marL="0" indent="0" algn="l">
                        <a:spcBef>
                          <a:spcPts val="0"/>
                        </a:spcBef>
                        <a:spcAft>
                          <a:spcPts val="0"/>
                        </a:spcAft>
                        <a:buNone/>
                      </a:pPr>
                      <a:r>
                        <a:rPr lang="en-US" sz="1400" b="1" i="0" dirty="0">
                          <a:solidFill>
                            <a:srgbClr val="FFFFFF"/>
                          </a:solidFill>
                          <a:latin typeface="Times New Roman"/>
                          <a:cs typeface="Times New Roman"/>
                        </a:rPr>
                        <a:t>Result</a:t>
                      </a:r>
                    </a:p>
                  </a:txBody>
                  <a:tcPr marT="36576" marB="36576" anchor="ctr">
                    <a:lnL w="0">
                      <a:noFill/>
                    </a:lnL>
                    <a:lnR w="0">
                      <a:noFill/>
                    </a:lnR>
                    <a:lnT w="0">
                      <a:noFill/>
                    </a:lnT>
                    <a:lnB w="9525">
                      <a:solidFill>
                        <a:srgbClr val="D5C5E3"/>
                      </a:solidFill>
                    </a:lnB>
                    <a:solidFill>
                      <a:srgbClr val="5A0886"/>
                    </a:solidFill>
                  </a:tcPr>
                </a:tc>
                <a:extLst>
                  <a:ext uri="{0D108BD9-81ED-4DB2-BD59-A6C34878D82A}">
                    <a16:rowId xmlns:a16="http://schemas.microsoft.com/office/drawing/2014/main" val="10000"/>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02:41:12</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198.51.100.7</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extLst>
                  <a:ext uri="{0D108BD9-81ED-4DB2-BD59-A6C34878D82A}">
                    <a16:rowId xmlns:a16="http://schemas.microsoft.com/office/drawing/2014/main" val="10001"/>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02:41:50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user_c</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203.0.113.5</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FAILED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extLst>
                  <a:ext uri="{0D108BD9-81ED-4DB2-BD59-A6C34878D82A}">
                    <a16:rowId xmlns:a16="http://schemas.microsoft.com/office/drawing/2014/main" val="10002"/>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02:42:03</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user_c</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203.0.113.5</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FAILED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extLst>
                  <a:ext uri="{0D108BD9-81ED-4DB2-BD59-A6C34878D82A}">
                    <a16:rowId xmlns:a16="http://schemas.microsoft.com/office/drawing/2014/main" val="10003"/>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02:42:17</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user_c</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203.0.113.5</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FAILED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DECEA"/>
                    </a:solidFill>
                  </a:tcPr>
                </a:tc>
                <a:extLst>
                  <a:ext uri="{0D108BD9-81ED-4DB2-BD59-A6C34878D82A}">
                    <a16:rowId xmlns:a16="http://schemas.microsoft.com/office/drawing/2014/main" val="10004"/>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09:12:05</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user_a</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5"/>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09:45:30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user_b</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192.0.2.11</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06"/>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10:03:18</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user_c</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192.0.2.12</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7"/>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11:20:44</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user_b</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192.0.2.11</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08"/>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14:05:09</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user_a</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9"/>
                  </a:ext>
                </a:extLst>
              </a:tr>
              <a:tr h="365760">
                <a:tc>
                  <a:txBody>
                    <a:bodyPr/>
                    <a:lstStyle/>
                    <a:p>
                      <a:pPr marL="0" indent="0" algn="l">
                        <a:spcBef>
                          <a:spcPts val="0"/>
                        </a:spcBef>
                        <a:spcAft>
                          <a:spcPts val="0"/>
                        </a:spcAft>
                        <a:buNone/>
                      </a:pPr>
                      <a:r>
                        <a:rPr lang="en-US" sz="1400" b="0" i="0" dirty="0">
                          <a:solidFill>
                            <a:srgbClr val="1F1F1F"/>
                          </a:solidFill>
                          <a:latin typeface="Courier New"/>
                          <a:cs typeface="Courier New"/>
                        </a:rPr>
                        <a:t>16:30:00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user_a</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192.0.2.10</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400" b="0" i="0" dirty="0">
                          <a:solidFill>
                            <a:srgbClr val="1F1F1F"/>
                          </a:solidFill>
                          <a:latin typeface="Courier New"/>
                          <a:cs typeface="Courier New"/>
                        </a:rPr>
                        <a:t>SUCCESS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10"/>
                  </a:ext>
                </a:extLst>
              </a:tr>
            </a:tbl>
          </a:graphicData>
        </a:graphic>
      </p:graphicFrame>
      <p:sp>
        <p:nvSpPr>
          <p:cNvPr id="349" name="Text 349"/>
          <p:cNvSpPr txBox="1"/>
          <p:nvPr/>
        </p:nvSpPr>
        <p:spPr>
          <a:xfrm>
            <a:off x="548640" y="5760720"/>
            <a:ext cx="6675120" cy="365760"/>
          </a:xfrm>
          <a:prstGeom prst="rect">
            <a:avLst/>
          </a:prstGeom>
          <a:noFill/>
          <a:ln>
            <a:noFill/>
          </a:ln>
        </p:spPr>
        <p:txBody>
          <a:bodyPr wrap="square" lIns="45720" tIns="27432" rIns="45720" bIns="27432" anchor="t">
            <a:noAutofit/>
          </a:bodyPr>
          <a:lstStyle/>
          <a:p>
            <a:pPr marL="0" indent="0" algn="l">
              <a:spcBef>
                <a:spcPts val="0"/>
              </a:spcBef>
              <a:spcAft>
                <a:spcPts val="0"/>
              </a:spcAft>
              <a:buNone/>
            </a:pPr>
            <a:r>
              <a:rPr lang="en-US" sz="1300" b="1" i="0" dirty="0">
                <a:solidFill>
                  <a:srgbClr val="B3261E"/>
                </a:solidFill>
                <a:latin typeface="Times New Roman"/>
                <a:cs typeface="Times New Roman"/>
              </a:rPr>
              <a:t>Shaded rows</a:t>
            </a:r>
            <a:r>
              <a:rPr lang="en-US" sz="1300" b="0" i="0" dirty="0">
                <a:solidFill>
                  <a:srgbClr val="555555"/>
                </a:solidFill>
                <a:latin typeface="Times New Roman"/>
                <a:cs typeface="Times New Roman"/>
              </a:rPr>
              <a:t> = flagged by the baseline rules on the next slide</a:t>
            </a:r>
          </a:p>
        </p:txBody>
      </p:sp>
      <p:sp>
        <p:nvSpPr>
          <p:cNvPr id="350" name="Rules 350"/>
          <p:cNvSpPr/>
          <p:nvPr/>
        </p:nvSpPr>
        <p:spPr>
          <a:xfrm>
            <a:off x="7680960" y="1097280"/>
            <a:ext cx="3931920" cy="233172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51" name="Text 351"/>
          <p:cNvSpPr txBox="1"/>
          <p:nvPr/>
        </p:nvSpPr>
        <p:spPr>
          <a:xfrm>
            <a:off x="7818120" y="1170432"/>
            <a:ext cx="3703320" cy="219456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2000" b="1" i="0" dirty="0">
                <a:solidFill>
                  <a:srgbClr val="5A0886"/>
                </a:solidFill>
                <a:latin typeface="Times New Roman"/>
                <a:cs typeface="Times New Roman"/>
              </a:rPr>
              <a:t>Baseline we defined</a:t>
            </a:r>
          </a:p>
          <a:p>
            <a:pPr marL="285750" indent="-285750" algn="l">
              <a:spcBef>
                <a:spcPts val="0"/>
              </a:spcBef>
              <a:spcAft>
                <a:spcPts val="400"/>
              </a:spcAft>
              <a:buClr>
                <a:srgbClr val="5A0886"/>
              </a:buClr>
              <a:buFont typeface="Arial"/>
              <a:buChar char="•"/>
            </a:pPr>
            <a:r>
              <a:rPr lang="en-US" sz="1500" b="0" i="0" dirty="0">
                <a:solidFill>
                  <a:srgbClr val="1F1F1F"/>
                </a:solidFill>
                <a:latin typeface="Times New Roman"/>
                <a:cs typeface="Times New Roman"/>
              </a:rPr>
              <a:t>Normal hours: 08:00 to 17:59</a:t>
            </a:r>
          </a:p>
          <a:p>
            <a:pPr marL="285750" indent="-285750" algn="l">
              <a:spcBef>
                <a:spcPts val="0"/>
              </a:spcBef>
              <a:spcAft>
                <a:spcPts val="400"/>
              </a:spcAft>
              <a:buClr>
                <a:srgbClr val="5A0886"/>
              </a:buClr>
              <a:buFont typeface="Arial"/>
              <a:buChar char="•"/>
            </a:pPr>
            <a:r>
              <a:rPr lang="en-US" sz="1500" b="0" i="0" dirty="0">
                <a:solidFill>
                  <a:srgbClr val="1F1F1F"/>
                </a:solidFill>
                <a:latin typeface="Times New Roman"/>
                <a:cs typeface="Times New Roman"/>
              </a:rPr>
              <a:t>Flag a failed login if the same user has 3 or more failures</a:t>
            </a:r>
          </a:p>
          <a:p>
            <a:pPr marL="285750" indent="-285750" algn="l">
              <a:spcBef>
                <a:spcPts val="0"/>
              </a:spcBef>
              <a:spcAft>
                <a:spcPts val="0"/>
              </a:spcAft>
              <a:buClr>
                <a:srgbClr val="5A0886"/>
              </a:buClr>
              <a:buFont typeface="Arial"/>
              <a:buChar char="•"/>
            </a:pPr>
            <a:r>
              <a:rPr lang="en-US" sz="1300" b="0" i="1" dirty="0">
                <a:solidFill>
                  <a:srgbClr val="555555"/>
                </a:solidFill>
                <a:latin typeface="Times New Roman"/>
                <a:cs typeface="Times New Roman"/>
              </a:rPr>
              <a:t>IPs are reserved documentation addresses</a:t>
            </a:r>
          </a:p>
        </p:txBody>
      </p:sp>
      <p:sp>
        <p:nvSpPr>
          <p:cNvPr id="352" name="Warning 352"/>
          <p:cNvSpPr/>
          <p:nvPr/>
        </p:nvSpPr>
        <p:spPr>
          <a:xfrm>
            <a:off x="7680960" y="3611880"/>
            <a:ext cx="3931920" cy="2148840"/>
          </a:xfrm>
          <a:prstGeom prst="roundRect">
            <a:avLst>
              <a:gd name="adj" fmla="val 6000"/>
            </a:avLst>
          </a:prstGeom>
          <a:solidFill>
            <a:srgbClr val="FFF4D6"/>
          </a:solidFill>
          <a:ln>
            <a:noFill/>
          </a:ln>
        </p:spPr>
        <p:txBody>
          <a:bodyPr wrap="square" lIns="109728" tIns="73152" rIns="109728" bIns="73152" anchor="t">
            <a:noAutofit/>
          </a:bodyPr>
          <a:lstStyle/>
          <a:p>
            <a:endParaRPr lang="en-US"/>
          </a:p>
        </p:txBody>
      </p:sp>
      <p:sp>
        <p:nvSpPr>
          <p:cNvPr id="353" name="Text 353"/>
          <p:cNvSpPr txBox="1"/>
          <p:nvPr/>
        </p:nvSpPr>
        <p:spPr>
          <a:xfrm>
            <a:off x="7879180" y="3840480"/>
            <a:ext cx="3703320" cy="2286000"/>
          </a:xfrm>
          <a:prstGeom prst="rect">
            <a:avLst/>
          </a:prstGeom>
          <a:noFill/>
          <a:ln>
            <a:noFill/>
          </a:ln>
        </p:spPr>
        <p:txBody>
          <a:bodyPr wrap="square" lIns="45720" tIns="27432" rIns="45720" bIns="27432" anchor="t">
            <a:noAutofit/>
          </a:bodyPr>
          <a:lstStyle/>
          <a:p>
            <a:pPr marL="0" indent="0">
              <a:spcBef>
                <a:spcPts val="0"/>
              </a:spcBef>
              <a:spcAft>
                <a:spcPts val="400"/>
              </a:spcAft>
              <a:buNone/>
            </a:pPr>
            <a:r>
              <a:rPr lang="en-US" sz="2000" b="1" i="0" dirty="0">
                <a:solidFill>
                  <a:srgbClr val="7A5200"/>
                </a:solidFill>
                <a:latin typeface="Times New Roman"/>
                <a:cs typeface="Times New Roman"/>
              </a:rPr>
              <a:t>Unusual is not unauthorised</a:t>
            </a:r>
          </a:p>
          <a:p>
            <a:pPr marL="0" indent="0">
              <a:spcBef>
                <a:spcPts val="0"/>
              </a:spcBef>
              <a:spcAft>
                <a:spcPts val="0"/>
              </a:spcAft>
              <a:buNone/>
            </a:pPr>
            <a:r>
              <a:rPr lang="en-US" sz="1500" b="0" i="0" dirty="0">
                <a:solidFill>
                  <a:srgbClr val="1F1F1F"/>
                </a:solidFill>
                <a:latin typeface="Times New Roman"/>
                <a:cs typeface="Times New Roman"/>
              </a:rPr>
              <a:t>A flag only says: look here first. A night-shift admin or a user in another time zone could produce the same pattern.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Rule-Based Flagging in Python</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54" name="Code 354"/>
          <p:cNvSpPr/>
          <p:nvPr/>
        </p:nvSpPr>
        <p:spPr>
          <a:xfrm>
            <a:off x="548640" y="1188720"/>
            <a:ext cx="7086600" cy="4846320"/>
          </a:xfrm>
          <a:prstGeom prst="roundRect">
            <a:avLst>
              <a:gd name="adj" fmla="val 3000"/>
            </a:avLst>
          </a:prstGeom>
          <a:solidFill>
            <a:srgbClr val="1E1B2E"/>
          </a:solidFill>
          <a:ln>
            <a:noFill/>
          </a:ln>
        </p:spPr>
        <p:txBody>
          <a:bodyPr wrap="square" lIns="182880" tIns="137160" rIns="91440" bIns="91440" anchor="t">
            <a:noAutofit/>
          </a:bodyPr>
          <a:lstStyle/>
          <a:p>
            <a:pPr marL="0" indent="0" algn="l">
              <a:lnSpc>
                <a:spcPct val="100000"/>
              </a:lnSpc>
              <a:spcBef>
                <a:spcPts val="0"/>
              </a:spcBef>
              <a:spcAft>
                <a:spcPts val="0"/>
              </a:spcAft>
              <a:buNone/>
            </a:pPr>
            <a:r>
              <a:rPr lang="en-US" sz="1300" b="0" i="0" dirty="0">
                <a:solidFill>
                  <a:srgbClr val="E8E4F0"/>
                </a:solidFill>
                <a:latin typeface="Courier New"/>
                <a:cs typeface="Courier New"/>
              </a:rPr>
              <a:t>from collections import Counter</a:t>
            </a:r>
          </a:p>
          <a:p>
            <a:pPr marL="0" indent="0" algn="l">
              <a:lnSpc>
                <a:spcPct val="100000"/>
              </a:lnSpc>
              <a:spcBef>
                <a:spcPts val="0"/>
              </a:spcBef>
              <a:spcAft>
                <a:spcPts val="0"/>
              </a:spcAft>
              <a:buNone/>
            </a:pPr>
            <a:r>
              <a:rPr lang="en-US" sz="1300" b="0" i="0" dirty="0">
                <a:solidFill>
                  <a:srgbClr val="E8E4F0"/>
                </a:solidFill>
                <a:latin typeface="Courier New"/>
                <a:cs typeface="Courier New"/>
              </a:rPr>
              <a:t> </a:t>
            </a:r>
          </a:p>
          <a:p>
            <a:pPr marL="0" indent="0" algn="l">
              <a:lnSpc>
                <a:spcPct val="100000"/>
              </a:lnSpc>
              <a:spcBef>
                <a:spcPts val="0"/>
              </a:spcBef>
              <a:spcAft>
                <a:spcPts val="0"/>
              </a:spcAft>
              <a:buNone/>
            </a:pPr>
            <a:r>
              <a:rPr lang="en-US" sz="1300" b="0" i="0" dirty="0">
                <a:solidFill>
                  <a:srgbClr val="E8E4F0"/>
                </a:solidFill>
                <a:latin typeface="Courier New"/>
                <a:cs typeface="Courier New"/>
              </a:rPr>
              <a:t># logs = the 10 records from the previous slide</a:t>
            </a:r>
          </a:p>
          <a:p>
            <a:pPr marL="0" indent="0" algn="l">
              <a:lnSpc>
                <a:spcPct val="100000"/>
              </a:lnSpc>
              <a:spcBef>
                <a:spcPts val="0"/>
              </a:spcBef>
              <a:spcAft>
                <a:spcPts val="0"/>
              </a:spcAft>
              <a:buNone/>
            </a:pPr>
            <a:r>
              <a:rPr lang="en-US" sz="1300" b="0" i="0" dirty="0">
                <a:solidFill>
                  <a:srgbClr val="E8E4F0"/>
                </a:solidFill>
                <a:latin typeface="Courier New"/>
                <a:cs typeface="Courier New"/>
              </a:rPr>
              <a:t>NORMAL_START, NORMAL_END = 8, 18</a:t>
            </a:r>
          </a:p>
          <a:p>
            <a:pPr marL="0" indent="0" algn="l">
              <a:lnSpc>
                <a:spcPct val="100000"/>
              </a:lnSpc>
              <a:spcBef>
                <a:spcPts val="0"/>
              </a:spcBef>
              <a:spcAft>
                <a:spcPts val="0"/>
              </a:spcAft>
              <a:buNone/>
            </a:pPr>
            <a:r>
              <a:rPr lang="en-US" sz="1300" b="0" i="0" dirty="0">
                <a:solidFill>
                  <a:srgbClr val="E8E4F0"/>
                </a:solidFill>
                <a:latin typeface="Courier New"/>
                <a:cs typeface="Courier New"/>
              </a:rPr>
              <a:t>MAX_FAILURES = 3</a:t>
            </a:r>
          </a:p>
          <a:p>
            <a:pPr marL="0" indent="0" algn="l">
              <a:lnSpc>
                <a:spcPct val="100000"/>
              </a:lnSpc>
              <a:spcBef>
                <a:spcPts val="0"/>
              </a:spcBef>
              <a:spcAft>
                <a:spcPts val="0"/>
              </a:spcAft>
              <a:buNone/>
            </a:pPr>
            <a:r>
              <a:rPr lang="en-US" sz="1300" b="0" i="0" dirty="0">
                <a:solidFill>
                  <a:srgbClr val="E8E4F0"/>
                </a:solidFill>
                <a:latin typeface="Courier New"/>
                <a:cs typeface="Courier New"/>
              </a:rPr>
              <a:t> </a:t>
            </a:r>
          </a:p>
          <a:p>
            <a:pPr marL="0" indent="0" algn="l">
              <a:lnSpc>
                <a:spcPct val="100000"/>
              </a:lnSpc>
              <a:spcBef>
                <a:spcPts val="0"/>
              </a:spcBef>
              <a:spcAft>
                <a:spcPts val="0"/>
              </a:spcAft>
              <a:buNone/>
            </a:pPr>
            <a:r>
              <a:rPr lang="en-US" sz="1300" b="0" i="0" dirty="0">
                <a:solidFill>
                  <a:srgbClr val="E8E4F0"/>
                </a:solidFill>
                <a:latin typeface="Courier New"/>
                <a:cs typeface="Courier New"/>
              </a:rPr>
              <a:t>failed = Counter(user for t, user, ip, result in logs</a:t>
            </a:r>
          </a:p>
          <a:p>
            <a:pPr marL="0" indent="0" algn="l">
              <a:lnSpc>
                <a:spcPct val="100000"/>
              </a:lnSpc>
              <a:spcBef>
                <a:spcPts val="0"/>
              </a:spcBef>
              <a:spcAft>
                <a:spcPts val="0"/>
              </a:spcAft>
              <a:buNone/>
            </a:pPr>
            <a:r>
              <a:rPr lang="en-US" sz="1300" b="0" i="0" dirty="0">
                <a:solidFill>
                  <a:srgbClr val="E8E4F0"/>
                </a:solidFill>
                <a:latin typeface="Courier New"/>
                <a:cs typeface="Courier New"/>
              </a:rPr>
              <a:t>                 if result == "FAILED")</a:t>
            </a:r>
          </a:p>
          <a:p>
            <a:pPr marL="0" indent="0" algn="l">
              <a:lnSpc>
                <a:spcPct val="100000"/>
              </a:lnSpc>
              <a:spcBef>
                <a:spcPts val="0"/>
              </a:spcBef>
              <a:spcAft>
                <a:spcPts val="0"/>
              </a:spcAft>
              <a:buNone/>
            </a:pPr>
            <a:r>
              <a:rPr lang="en-US" sz="1300" b="0" i="0" dirty="0">
                <a:solidFill>
                  <a:srgbClr val="E8E4F0"/>
                </a:solidFill>
                <a:latin typeface="Courier New"/>
                <a:cs typeface="Courier New"/>
              </a:rPr>
              <a:t> </a:t>
            </a:r>
          </a:p>
          <a:p>
            <a:pPr marL="0" indent="0" algn="l">
              <a:lnSpc>
                <a:spcPct val="100000"/>
              </a:lnSpc>
              <a:spcBef>
                <a:spcPts val="0"/>
              </a:spcBef>
              <a:spcAft>
                <a:spcPts val="0"/>
              </a:spcAft>
              <a:buNone/>
            </a:pPr>
            <a:r>
              <a:rPr lang="en-US" sz="1300" b="0" i="0" dirty="0">
                <a:solidFill>
                  <a:srgbClr val="E8E4F0"/>
                </a:solidFill>
                <a:latin typeface="Courier New"/>
                <a:cs typeface="Courier New"/>
              </a:rPr>
              <a:t>flagged = 0</a:t>
            </a:r>
          </a:p>
          <a:p>
            <a:pPr marL="0" indent="0" algn="l">
              <a:lnSpc>
                <a:spcPct val="100000"/>
              </a:lnSpc>
              <a:spcBef>
                <a:spcPts val="0"/>
              </a:spcBef>
              <a:spcAft>
                <a:spcPts val="0"/>
              </a:spcAft>
              <a:buNone/>
            </a:pPr>
            <a:r>
              <a:rPr lang="en-US" sz="1300" b="0" i="0" dirty="0">
                <a:solidFill>
                  <a:srgbClr val="E8E4F0"/>
                </a:solidFill>
                <a:latin typeface="Courier New"/>
                <a:cs typeface="Courier New"/>
              </a:rPr>
              <a:t>for t, user, ip, result in logs:</a:t>
            </a:r>
          </a:p>
          <a:p>
            <a:pPr marL="0" indent="0" algn="l">
              <a:lnSpc>
                <a:spcPct val="100000"/>
              </a:lnSpc>
              <a:spcBef>
                <a:spcPts val="0"/>
              </a:spcBef>
              <a:spcAft>
                <a:spcPts val="0"/>
              </a:spcAft>
              <a:buNone/>
            </a:pPr>
            <a:r>
              <a:rPr lang="en-US" sz="1300" b="0" i="0" dirty="0">
                <a:solidFill>
                  <a:srgbClr val="E8E4F0"/>
                </a:solidFill>
                <a:latin typeface="Courier New"/>
                <a:cs typeface="Courier New"/>
              </a:rPr>
              <a:t>    reasons = []</a:t>
            </a:r>
          </a:p>
          <a:p>
            <a:pPr marL="0" indent="0" algn="l">
              <a:lnSpc>
                <a:spcPct val="100000"/>
              </a:lnSpc>
              <a:spcBef>
                <a:spcPts val="0"/>
              </a:spcBef>
              <a:spcAft>
                <a:spcPts val="0"/>
              </a:spcAft>
              <a:buNone/>
            </a:pPr>
            <a:r>
              <a:rPr lang="en-US" sz="1300" b="0" i="0" dirty="0">
                <a:solidFill>
                  <a:srgbClr val="E8E4F0"/>
                </a:solidFill>
                <a:latin typeface="Courier New"/>
                <a:cs typeface="Courier New"/>
              </a:rPr>
              <a:t>    hour = int(t[:2])</a:t>
            </a:r>
          </a:p>
          <a:p>
            <a:pPr marL="0" indent="0" algn="l">
              <a:lnSpc>
                <a:spcPct val="100000"/>
              </a:lnSpc>
              <a:spcBef>
                <a:spcPts val="0"/>
              </a:spcBef>
              <a:spcAft>
                <a:spcPts val="0"/>
              </a:spcAft>
              <a:buNone/>
            </a:pPr>
            <a:r>
              <a:rPr lang="en-US" sz="1300" b="0" i="0" dirty="0">
                <a:solidFill>
                  <a:srgbClr val="E8E4F0"/>
                </a:solidFill>
                <a:latin typeface="Courier New"/>
                <a:cs typeface="Courier New"/>
              </a:rPr>
              <a:t>    if hour &lt; NORMAL_START or hour &gt;= NORMAL_END:</a:t>
            </a:r>
          </a:p>
          <a:p>
            <a:pPr marL="0" indent="0" algn="l">
              <a:lnSpc>
                <a:spcPct val="100000"/>
              </a:lnSpc>
              <a:spcBef>
                <a:spcPts val="0"/>
              </a:spcBef>
              <a:spcAft>
                <a:spcPts val="0"/>
              </a:spcAft>
              <a:buNone/>
            </a:pPr>
            <a:r>
              <a:rPr lang="en-US" sz="1300" b="0" i="0" dirty="0">
                <a:solidFill>
                  <a:srgbClr val="E8E4F0"/>
                </a:solidFill>
                <a:latin typeface="Courier New"/>
                <a:cs typeface="Courier New"/>
              </a:rPr>
              <a:t>        reasons.append("OFF_HOURS")</a:t>
            </a:r>
          </a:p>
          <a:p>
            <a:pPr marL="0" indent="0" algn="l">
              <a:lnSpc>
                <a:spcPct val="100000"/>
              </a:lnSpc>
              <a:spcBef>
                <a:spcPts val="0"/>
              </a:spcBef>
              <a:spcAft>
                <a:spcPts val="0"/>
              </a:spcAft>
              <a:buNone/>
            </a:pPr>
            <a:r>
              <a:rPr lang="en-US" sz="1300" b="0" i="0" dirty="0">
                <a:solidFill>
                  <a:srgbClr val="E8E4F0"/>
                </a:solidFill>
                <a:latin typeface="Courier New"/>
                <a:cs typeface="Courier New"/>
              </a:rPr>
              <a:t>    if result == "FAILED" and failed[user] &gt;= MAX_FAILURES:</a:t>
            </a:r>
          </a:p>
          <a:p>
            <a:pPr marL="0" indent="0" algn="l">
              <a:lnSpc>
                <a:spcPct val="100000"/>
              </a:lnSpc>
              <a:spcBef>
                <a:spcPts val="0"/>
              </a:spcBef>
              <a:spcAft>
                <a:spcPts val="0"/>
              </a:spcAft>
              <a:buNone/>
            </a:pPr>
            <a:r>
              <a:rPr lang="en-US" sz="1300" b="0" i="0" dirty="0">
                <a:solidFill>
                  <a:srgbClr val="E8E4F0"/>
                </a:solidFill>
                <a:latin typeface="Courier New"/>
                <a:cs typeface="Courier New"/>
              </a:rPr>
              <a:t>        reasons.append("REPEATED_FAILS")</a:t>
            </a:r>
          </a:p>
          <a:p>
            <a:pPr marL="0" indent="0" algn="l">
              <a:lnSpc>
                <a:spcPct val="100000"/>
              </a:lnSpc>
              <a:spcBef>
                <a:spcPts val="0"/>
              </a:spcBef>
              <a:spcAft>
                <a:spcPts val="0"/>
              </a:spcAft>
              <a:buNone/>
            </a:pPr>
            <a:r>
              <a:rPr lang="en-US" sz="1300" b="0" i="0" dirty="0">
                <a:solidFill>
                  <a:srgbClr val="E8E4F0"/>
                </a:solidFill>
                <a:latin typeface="Courier New"/>
                <a:cs typeface="Courier New"/>
              </a:rPr>
              <a:t>    if reasons:</a:t>
            </a:r>
          </a:p>
          <a:p>
            <a:pPr marL="0" indent="0" algn="l">
              <a:lnSpc>
                <a:spcPct val="100000"/>
              </a:lnSpc>
              <a:spcBef>
                <a:spcPts val="0"/>
              </a:spcBef>
              <a:spcAft>
                <a:spcPts val="0"/>
              </a:spcAft>
              <a:buNone/>
            </a:pPr>
            <a:r>
              <a:rPr lang="en-US" sz="1300" b="0" i="0" dirty="0">
                <a:solidFill>
                  <a:srgbClr val="E8E4F0"/>
                </a:solidFill>
                <a:latin typeface="Courier New"/>
                <a:cs typeface="Courier New"/>
              </a:rPr>
              <a:t>        flagged += 1</a:t>
            </a:r>
          </a:p>
          <a:p>
            <a:pPr marL="0" indent="0" algn="l">
              <a:lnSpc>
                <a:spcPct val="100000"/>
              </a:lnSpc>
              <a:spcBef>
                <a:spcPts val="0"/>
              </a:spcBef>
              <a:spcAft>
                <a:spcPts val="0"/>
              </a:spcAft>
              <a:buNone/>
            </a:pPr>
            <a:r>
              <a:rPr lang="en-US" sz="1300" b="0" i="0" dirty="0">
                <a:solidFill>
                  <a:srgbClr val="E8E4F0"/>
                </a:solidFill>
                <a:latin typeface="Courier New"/>
                <a:cs typeface="Courier New"/>
              </a:rPr>
              <a:t>        print(t, user, ip, result, "|", ", ".join(reasons))</a:t>
            </a:r>
          </a:p>
          <a:p>
            <a:pPr marL="0" indent="0" algn="l">
              <a:lnSpc>
                <a:spcPct val="100000"/>
              </a:lnSpc>
              <a:spcBef>
                <a:spcPts val="0"/>
              </a:spcBef>
              <a:spcAft>
                <a:spcPts val="0"/>
              </a:spcAft>
              <a:buNone/>
            </a:pPr>
            <a:r>
              <a:rPr lang="en-US" sz="1300" b="0" i="0" dirty="0">
                <a:solidFill>
                  <a:srgbClr val="E8E4F0"/>
                </a:solidFill>
                <a:latin typeface="Courier New"/>
                <a:cs typeface="Courier New"/>
              </a:rPr>
              <a:t> </a:t>
            </a:r>
          </a:p>
          <a:p>
            <a:pPr marL="0" indent="0" algn="l">
              <a:lnSpc>
                <a:spcPct val="100000"/>
              </a:lnSpc>
              <a:spcBef>
                <a:spcPts val="0"/>
              </a:spcBef>
              <a:spcAft>
                <a:spcPts val="0"/>
              </a:spcAft>
              <a:buNone/>
            </a:pPr>
            <a:r>
              <a:rPr lang="en-US" sz="1300" b="0" i="0" dirty="0">
                <a:solidFill>
                  <a:srgbClr val="E8E4F0"/>
                </a:solidFill>
                <a:latin typeface="Courier New"/>
                <a:cs typeface="Courier New"/>
              </a:rPr>
              <a:t>print(flagged, "of", len(logs), "events flagged for human review")</a:t>
            </a:r>
          </a:p>
        </p:txBody>
      </p:sp>
      <p:sp>
        <p:nvSpPr>
          <p:cNvPr id="355" name="Text 355"/>
          <p:cNvSpPr txBox="1"/>
          <p:nvPr/>
        </p:nvSpPr>
        <p:spPr>
          <a:xfrm>
            <a:off x="7863840" y="1143000"/>
            <a:ext cx="3749040" cy="365760"/>
          </a:xfrm>
          <a:prstGeom prst="rect">
            <a:avLst/>
          </a:prstGeom>
          <a:noFill/>
          <a:ln>
            <a:noFill/>
          </a:ln>
        </p:spPr>
        <p:txBody>
          <a:bodyPr wrap="square" lIns="45720" tIns="27432" rIns="45720" bIns="27432" anchor="t">
            <a:noAutofit/>
          </a:bodyPr>
          <a:lstStyle/>
          <a:p>
            <a:pPr marL="0" indent="0" algn="l">
              <a:spcBef>
                <a:spcPts val="0"/>
              </a:spcBef>
              <a:spcAft>
                <a:spcPts val="0"/>
              </a:spcAft>
              <a:buNone/>
            </a:pPr>
            <a:r>
              <a:rPr lang="en-US" sz="2000" b="1" i="0" dirty="0">
                <a:solidFill>
                  <a:srgbClr val="5A0886"/>
                </a:solidFill>
                <a:latin typeface="Times New Roman"/>
                <a:cs typeface="Times New Roman"/>
              </a:rPr>
              <a:t>In plain English</a:t>
            </a:r>
          </a:p>
        </p:txBody>
      </p:sp>
      <p:sp>
        <p:nvSpPr>
          <p:cNvPr id="356" name="Text 356"/>
          <p:cNvSpPr txBox="1"/>
          <p:nvPr/>
        </p:nvSpPr>
        <p:spPr>
          <a:xfrm>
            <a:off x="7863840" y="1554480"/>
            <a:ext cx="3749040" cy="3017520"/>
          </a:xfrm>
          <a:prstGeom prst="rect">
            <a:avLst/>
          </a:prstGeom>
          <a:noFill/>
          <a:ln>
            <a:noFill/>
          </a:ln>
        </p:spPr>
        <p:txBody>
          <a:bodyPr wrap="square" lIns="45720" tIns="27432" rIns="45720" bIns="27432" anchor="t">
            <a:noAutofit/>
          </a:bodyPr>
          <a:lstStyle/>
          <a:p>
            <a:pPr marL="0" indent="0" algn="l">
              <a:spcBef>
                <a:spcPts val="0"/>
              </a:spcBef>
              <a:spcAft>
                <a:spcPts val="700"/>
              </a:spcAft>
              <a:buNone/>
            </a:pPr>
            <a:r>
              <a:rPr lang="en-US" sz="1400" b="1" i="0" dirty="0">
                <a:solidFill>
                  <a:srgbClr val="5A0886"/>
                </a:solidFill>
                <a:latin typeface="Times New Roman"/>
                <a:cs typeface="Times New Roman"/>
              </a:rPr>
              <a:t>Baseline: </a:t>
            </a:r>
            <a:r>
              <a:rPr lang="en-US" sz="1400" b="0" i="0" dirty="0">
                <a:solidFill>
                  <a:srgbClr val="1F1F1F"/>
                </a:solidFill>
                <a:latin typeface="Times New Roman"/>
                <a:cs typeface="Times New Roman"/>
              </a:rPr>
              <a:t>NORMAL_START, NORMAL_END and MAX_FAILURES are the rules we set in advance.</a:t>
            </a:r>
          </a:p>
          <a:p>
            <a:pPr marL="0" indent="0" algn="l">
              <a:spcBef>
                <a:spcPts val="0"/>
              </a:spcBef>
              <a:spcAft>
                <a:spcPts val="700"/>
              </a:spcAft>
              <a:buNone/>
            </a:pPr>
            <a:r>
              <a:rPr lang="en-US" sz="1400" b="1" i="0" dirty="0">
                <a:solidFill>
                  <a:srgbClr val="5A0886"/>
                </a:solidFill>
                <a:latin typeface="Times New Roman"/>
                <a:cs typeface="Times New Roman"/>
              </a:rPr>
              <a:t>Counter: </a:t>
            </a:r>
            <a:r>
              <a:rPr lang="en-US" sz="1400" b="0" i="0" dirty="0">
                <a:solidFill>
                  <a:srgbClr val="1F1F1F"/>
                </a:solidFill>
                <a:latin typeface="Times New Roman"/>
                <a:cs typeface="Times New Roman"/>
              </a:rPr>
              <a:t>counts how many failed logins each user has.</a:t>
            </a:r>
          </a:p>
          <a:p>
            <a:pPr marL="0" indent="0" algn="l">
              <a:spcBef>
                <a:spcPts val="0"/>
              </a:spcBef>
              <a:spcAft>
                <a:spcPts val="700"/>
              </a:spcAft>
              <a:buNone/>
            </a:pPr>
            <a:r>
              <a:rPr lang="en-US" sz="1400" b="1" i="0" dirty="0">
                <a:solidFill>
                  <a:srgbClr val="5A0886"/>
                </a:solidFill>
                <a:latin typeface="Times New Roman"/>
                <a:cs typeface="Times New Roman"/>
              </a:rPr>
              <a:t>The loop: </a:t>
            </a:r>
            <a:r>
              <a:rPr lang="en-US" sz="1400" b="0" i="0" dirty="0">
                <a:solidFill>
                  <a:srgbClr val="1F1F1F"/>
                </a:solidFill>
                <a:latin typeface="Times New Roman"/>
                <a:cs typeface="Times New Roman"/>
              </a:rPr>
              <a:t>checks every record against both rules and collects the reasons.</a:t>
            </a:r>
          </a:p>
          <a:p>
            <a:pPr marL="0" indent="0" algn="l">
              <a:spcBef>
                <a:spcPts val="0"/>
              </a:spcBef>
              <a:spcAft>
                <a:spcPts val="700"/>
              </a:spcAft>
              <a:buNone/>
            </a:pPr>
            <a:r>
              <a:rPr lang="en-US" sz="1400" b="1" i="0" dirty="0">
                <a:solidFill>
                  <a:srgbClr val="5A0886"/>
                </a:solidFill>
                <a:latin typeface="Times New Roman"/>
                <a:cs typeface="Times New Roman"/>
              </a:rPr>
              <a:t>Output: </a:t>
            </a:r>
            <a:r>
              <a:rPr lang="en-US" sz="1400" b="0" i="0" dirty="0">
                <a:solidFill>
                  <a:srgbClr val="1F1F1F"/>
                </a:solidFill>
                <a:latin typeface="Times New Roman"/>
                <a:cs typeface="Times New Roman"/>
              </a:rPr>
              <a:t>only flagged rows are printed, for a person to review.</a:t>
            </a:r>
          </a:p>
        </p:txBody>
      </p:sp>
      <p:sp>
        <p:nvSpPr>
          <p:cNvPr id="357" name="Label 357"/>
          <p:cNvSpPr/>
          <p:nvPr/>
        </p:nvSpPr>
        <p:spPr>
          <a:xfrm>
            <a:off x="7863840" y="4572000"/>
            <a:ext cx="3749040" cy="1463040"/>
          </a:xfrm>
          <a:prstGeom prst="roundRect">
            <a:avLst>
              <a:gd name="adj" fmla="val 6000"/>
            </a:avLst>
          </a:prstGeom>
          <a:solidFill>
            <a:srgbClr val="FFF4D6"/>
          </a:solidFill>
          <a:ln>
            <a:noFill/>
          </a:ln>
        </p:spPr>
        <p:txBody>
          <a:bodyPr wrap="square" lIns="109728" tIns="73152" rIns="109728" bIns="73152" anchor="t">
            <a:noAutofit/>
          </a:bodyPr>
          <a:lstStyle/>
          <a:p>
            <a:endParaRPr lang="en-US"/>
          </a:p>
        </p:txBody>
      </p:sp>
      <p:sp>
        <p:nvSpPr>
          <p:cNvPr id="358" name="Text 358"/>
          <p:cNvSpPr txBox="1"/>
          <p:nvPr/>
        </p:nvSpPr>
        <p:spPr>
          <a:xfrm>
            <a:off x="7973568" y="4617720"/>
            <a:ext cx="3520440" cy="1371600"/>
          </a:xfrm>
          <a:prstGeom prst="rect">
            <a:avLst/>
          </a:prstGeom>
          <a:noFill/>
          <a:ln>
            <a:noFill/>
          </a:ln>
        </p:spPr>
        <p:txBody>
          <a:bodyPr wrap="square" lIns="45720" tIns="27432" rIns="45720" bIns="27432" anchor="ctr">
            <a:noAutofit/>
          </a:bodyPr>
          <a:lstStyle/>
          <a:p>
            <a:pPr marL="0" indent="0" algn="l">
              <a:spcBef>
                <a:spcPts val="0"/>
              </a:spcBef>
              <a:spcAft>
                <a:spcPts val="300"/>
              </a:spcAft>
              <a:buNone/>
            </a:pPr>
            <a:r>
              <a:rPr lang="en-US" sz="1400" b="1" i="0" dirty="0">
                <a:solidFill>
                  <a:srgbClr val="7A5200"/>
                </a:solidFill>
                <a:latin typeface="Times New Roman"/>
                <a:cs typeface="Times New Roman"/>
              </a:rPr>
              <a:t>Rule-based flagging, not machine learning.</a:t>
            </a:r>
          </a:p>
          <a:p>
            <a:pPr marL="0" indent="0" algn="l">
              <a:spcBef>
                <a:spcPts val="0"/>
              </a:spcBef>
              <a:spcAft>
                <a:spcPts val="0"/>
              </a:spcAft>
              <a:buNone/>
            </a:pPr>
            <a:r>
              <a:rPr lang="en-US" sz="1400" b="0" i="0" dirty="0">
                <a:solidFill>
                  <a:srgbClr val="7A5200"/>
                </a:solidFill>
                <a:latin typeface="Times New Roman"/>
                <a:cs typeface="Times New Roman"/>
              </a:rPr>
              <a:t>A teaching example, not a forensic tool.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From Alert to Conclusion</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59" name="Output 359"/>
          <p:cNvSpPr/>
          <p:nvPr/>
        </p:nvSpPr>
        <p:spPr>
          <a:xfrm>
            <a:off x="548640" y="1188720"/>
            <a:ext cx="6858000" cy="2103120"/>
          </a:xfrm>
          <a:prstGeom prst="roundRect">
            <a:avLst>
              <a:gd name="adj" fmla="val 4000"/>
            </a:avLst>
          </a:prstGeom>
          <a:solidFill>
            <a:srgbClr val="1E1B2E"/>
          </a:solidFill>
          <a:ln>
            <a:noFill/>
          </a:ln>
        </p:spPr>
        <p:txBody>
          <a:bodyPr wrap="square" lIns="182880" tIns="109728" rIns="91440" bIns="91440" anchor="t">
            <a:noAutofit/>
          </a:bodyPr>
          <a:lstStyle/>
          <a:p>
            <a:pPr marL="0" indent="0" algn="l">
              <a:spcBef>
                <a:spcPts val="0"/>
              </a:spcBef>
              <a:spcAft>
                <a:spcPts val="300"/>
              </a:spcAft>
              <a:buNone/>
            </a:pPr>
            <a:r>
              <a:rPr lang="en-US" sz="1200" b="0" i="1" dirty="0">
                <a:solidFill>
                  <a:srgbClr val="B9A8CC"/>
                </a:solidFill>
                <a:latin typeface="Times New Roman"/>
                <a:cs typeface="Times New Roman"/>
              </a:rPr>
              <a:t>Output (script run and checked)</a:t>
            </a:r>
          </a:p>
          <a:p>
            <a:pPr marL="0" indent="0" algn="l">
              <a:spcBef>
                <a:spcPts val="0"/>
              </a:spcBef>
              <a:spcAft>
                <a:spcPts val="300"/>
              </a:spcAft>
              <a:buNone/>
            </a:pPr>
            <a:r>
              <a:rPr lang="en-US" sz="1300" b="0" i="0" dirty="0">
                <a:solidFill>
                  <a:srgbClr val="E8E4F0"/>
                </a:solidFill>
                <a:latin typeface="Courier New"/>
                <a:cs typeface="Courier New"/>
              </a:rPr>
              <a:t>02:41:12 user_d 198.51.100.7 SUCCESS | OFF_HOURS</a:t>
            </a:r>
          </a:p>
          <a:p>
            <a:pPr marL="0" indent="0" algn="l">
              <a:spcBef>
                <a:spcPts val="0"/>
              </a:spcBef>
              <a:spcAft>
                <a:spcPts val="300"/>
              </a:spcAft>
              <a:buNone/>
            </a:pPr>
            <a:r>
              <a:rPr lang="en-US" sz="1300" b="0" i="0" dirty="0">
                <a:solidFill>
                  <a:srgbClr val="E8E4F0"/>
                </a:solidFill>
                <a:latin typeface="Courier New"/>
                <a:cs typeface="Courier New"/>
              </a:rPr>
              <a:t>02:41:50 user_c 203.0.113.5 FAILED | OFF_HOURS, REPEATED_FAILS</a:t>
            </a:r>
          </a:p>
          <a:p>
            <a:pPr marL="0" indent="0" algn="l">
              <a:spcBef>
                <a:spcPts val="0"/>
              </a:spcBef>
              <a:spcAft>
                <a:spcPts val="300"/>
              </a:spcAft>
              <a:buNone/>
            </a:pPr>
            <a:r>
              <a:rPr lang="en-US" sz="1300" b="0" i="0" dirty="0">
                <a:solidFill>
                  <a:srgbClr val="E8E4F0"/>
                </a:solidFill>
                <a:latin typeface="Courier New"/>
                <a:cs typeface="Courier New"/>
              </a:rPr>
              <a:t>02:42:03 user_c 203.0.113.5 FAILED | OFF_HOURS, REPEATED_FAILS</a:t>
            </a:r>
          </a:p>
          <a:p>
            <a:pPr marL="0" indent="0" algn="l">
              <a:spcBef>
                <a:spcPts val="0"/>
              </a:spcBef>
              <a:spcAft>
                <a:spcPts val="300"/>
              </a:spcAft>
              <a:buNone/>
            </a:pPr>
            <a:r>
              <a:rPr lang="en-US" sz="1300" b="0" i="0" dirty="0">
                <a:solidFill>
                  <a:srgbClr val="E8E4F0"/>
                </a:solidFill>
                <a:latin typeface="Courier New"/>
                <a:cs typeface="Courier New"/>
              </a:rPr>
              <a:t>02:42:17 user_c 203.0.113.5 FAILED | OFF_HOURS, REPEATED_FAILS</a:t>
            </a:r>
          </a:p>
          <a:p>
            <a:pPr marL="0" indent="0" algn="l">
              <a:spcBef>
                <a:spcPts val="0"/>
              </a:spcBef>
              <a:spcAft>
                <a:spcPts val="300"/>
              </a:spcAft>
              <a:buNone/>
            </a:pPr>
            <a:r>
              <a:rPr lang="en-US" sz="1300" b="0" i="0" dirty="0">
                <a:solidFill>
                  <a:srgbClr val="E8E4F0"/>
                </a:solidFill>
                <a:latin typeface="Courier New"/>
                <a:cs typeface="Courier New"/>
              </a:rPr>
              <a:t>4 of 10 events flagged for human review</a:t>
            </a:r>
          </a:p>
        </p:txBody>
      </p:sp>
      <p:sp>
        <p:nvSpPr>
          <p:cNvPr id="360" name="Innocent 360"/>
          <p:cNvSpPr/>
          <p:nvPr/>
        </p:nvSpPr>
        <p:spPr>
          <a:xfrm>
            <a:off x="548640" y="3520440"/>
            <a:ext cx="3337560" cy="2514600"/>
          </a:xfrm>
          <a:prstGeom prst="roundRect">
            <a:avLst>
              <a:gd name="adj" fmla="val 6000"/>
            </a:avLst>
          </a:prstGeom>
          <a:solidFill>
            <a:srgbClr val="E6F4EA"/>
          </a:solidFill>
          <a:ln>
            <a:noFill/>
          </a:ln>
        </p:spPr>
        <p:txBody>
          <a:bodyPr wrap="square" lIns="109728" tIns="73152" rIns="109728" bIns="73152" anchor="t">
            <a:noAutofit/>
          </a:bodyPr>
          <a:lstStyle/>
          <a:p>
            <a:endParaRPr lang="en-US"/>
          </a:p>
        </p:txBody>
      </p:sp>
      <p:sp>
        <p:nvSpPr>
          <p:cNvPr id="361" name="Text 361"/>
          <p:cNvSpPr txBox="1"/>
          <p:nvPr/>
        </p:nvSpPr>
        <p:spPr>
          <a:xfrm>
            <a:off x="658368" y="3584448"/>
            <a:ext cx="3154680" cy="237744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700" b="1" i="0" dirty="0">
                <a:solidFill>
                  <a:srgbClr val="1E7B34"/>
                </a:solidFill>
                <a:latin typeface="Times New Roman"/>
                <a:cs typeface="Times New Roman"/>
              </a:rPr>
              <a:t>Possible innocent reasons</a:t>
            </a:r>
          </a:p>
          <a:p>
            <a:pPr marL="285750" indent="-285750" algn="l">
              <a:spcBef>
                <a:spcPts val="0"/>
              </a:spcBef>
              <a:spcAft>
                <a:spcPts val="300"/>
              </a:spcAft>
              <a:buClr>
                <a:srgbClr val="5A0886"/>
              </a:buClr>
              <a:buFont typeface="Arial"/>
              <a:buChar char="•"/>
            </a:pPr>
            <a:r>
              <a:rPr lang="en-US" sz="1400" b="0" i="0" dirty="0">
                <a:solidFill>
                  <a:srgbClr val="1F1F1F"/>
                </a:solidFill>
                <a:latin typeface="Times New Roman"/>
                <a:cs typeface="Times New Roman"/>
              </a:rPr>
              <a:t>On-call or night-shift work</a:t>
            </a:r>
          </a:p>
          <a:p>
            <a:pPr marL="285750" indent="-285750" algn="l">
              <a:spcBef>
                <a:spcPts val="0"/>
              </a:spcBef>
              <a:spcAft>
                <a:spcPts val="300"/>
              </a:spcAft>
              <a:buClr>
                <a:srgbClr val="5A0886"/>
              </a:buClr>
              <a:buFont typeface="Arial"/>
              <a:buChar char="•"/>
            </a:pPr>
            <a:r>
              <a:rPr lang="en-US" sz="1400" b="0" i="0" dirty="0">
                <a:solidFill>
                  <a:srgbClr val="1F1F1F"/>
                </a:solidFill>
                <a:latin typeface="Times New Roman"/>
                <a:cs typeface="Times New Roman"/>
              </a:rPr>
              <a:t>Staff working from another location</a:t>
            </a:r>
          </a:p>
          <a:p>
            <a:pPr marL="285750" indent="-285750" algn="l">
              <a:spcBef>
                <a:spcPts val="0"/>
              </a:spcBef>
              <a:spcAft>
                <a:spcPts val="0"/>
              </a:spcAft>
              <a:buClr>
                <a:srgbClr val="5A0886"/>
              </a:buClr>
              <a:buFont typeface="Arial"/>
              <a:buChar char="•"/>
            </a:pPr>
            <a:r>
              <a:rPr lang="en-US" sz="1400" b="0" i="0" dirty="0">
                <a:solidFill>
                  <a:srgbClr val="1F1F1F"/>
                </a:solidFill>
                <a:latin typeface="Times New Roman"/>
                <a:cs typeface="Times New Roman"/>
              </a:rPr>
              <a:t>A user who forgot a password</a:t>
            </a:r>
          </a:p>
        </p:txBody>
      </p:sp>
      <p:sp>
        <p:nvSpPr>
          <p:cNvPr id="362" name="Concern 362"/>
          <p:cNvSpPr/>
          <p:nvPr/>
        </p:nvSpPr>
        <p:spPr>
          <a:xfrm>
            <a:off x="4069080" y="3520440"/>
            <a:ext cx="3337560" cy="2514600"/>
          </a:xfrm>
          <a:prstGeom prst="roundRect">
            <a:avLst>
              <a:gd name="adj" fmla="val 6000"/>
            </a:avLst>
          </a:prstGeom>
          <a:solidFill>
            <a:srgbClr val="FDECEA"/>
          </a:solidFill>
          <a:ln>
            <a:noFill/>
          </a:ln>
        </p:spPr>
        <p:txBody>
          <a:bodyPr wrap="square" lIns="109728" tIns="73152" rIns="109728" bIns="73152" anchor="t">
            <a:noAutofit/>
          </a:bodyPr>
          <a:lstStyle/>
          <a:p>
            <a:endParaRPr lang="en-US"/>
          </a:p>
        </p:txBody>
      </p:sp>
      <p:sp>
        <p:nvSpPr>
          <p:cNvPr id="363" name="Text 363"/>
          <p:cNvSpPr txBox="1"/>
          <p:nvPr/>
        </p:nvSpPr>
        <p:spPr>
          <a:xfrm>
            <a:off x="4178808" y="3584448"/>
            <a:ext cx="3154680" cy="237744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1700" b="1" i="0" dirty="0">
                <a:solidFill>
                  <a:srgbClr val="B3261E"/>
                </a:solidFill>
                <a:latin typeface="Times New Roman"/>
                <a:cs typeface="Times New Roman"/>
              </a:rPr>
              <a:t>What adds concern</a:t>
            </a:r>
          </a:p>
          <a:p>
            <a:pPr marL="285750" indent="-285750" algn="l">
              <a:spcBef>
                <a:spcPts val="0"/>
              </a:spcBef>
              <a:spcAft>
                <a:spcPts val="300"/>
              </a:spcAft>
              <a:buClr>
                <a:srgbClr val="5A0886"/>
              </a:buClr>
              <a:buFont typeface="Arial"/>
              <a:buChar char="•"/>
            </a:pPr>
            <a:r>
              <a:rPr lang="en-US" sz="1400" b="0" i="0" dirty="0">
                <a:solidFill>
                  <a:srgbClr val="1F1F1F"/>
                </a:solidFill>
                <a:latin typeface="Times New Roman"/>
                <a:cs typeface="Times New Roman"/>
              </a:rPr>
              <a:t>Three failures in about 30 seconds</a:t>
            </a:r>
          </a:p>
          <a:p>
            <a:pPr marL="285750" indent="-285750" algn="l">
              <a:spcBef>
                <a:spcPts val="0"/>
              </a:spcBef>
              <a:spcAft>
                <a:spcPts val="300"/>
              </a:spcAft>
              <a:buClr>
                <a:srgbClr val="5A0886"/>
              </a:buClr>
              <a:buFont typeface="Arial"/>
              <a:buChar char="•"/>
            </a:pPr>
            <a:r>
              <a:rPr lang="en-US" sz="1400" b="0" i="0" dirty="0">
                <a:solidFill>
                  <a:srgbClr val="1F1F1F"/>
                </a:solidFill>
                <a:latin typeface="Times New Roman"/>
                <a:cs typeface="Times New Roman"/>
              </a:rPr>
              <a:t>An IP not seen elsewhere in the log</a:t>
            </a:r>
          </a:p>
          <a:p>
            <a:pPr marL="285750" indent="-285750" algn="l">
              <a:spcBef>
                <a:spcPts val="0"/>
              </a:spcBef>
              <a:spcAft>
                <a:spcPts val="0"/>
              </a:spcAft>
              <a:buClr>
                <a:srgbClr val="5A0886"/>
              </a:buClr>
              <a:buFont typeface="Arial"/>
              <a:buChar char="•"/>
            </a:pPr>
            <a:r>
              <a:rPr lang="en-US" sz="1400" b="0" i="0" dirty="0">
                <a:solidFill>
                  <a:srgbClr val="1F1F1F"/>
                </a:solidFill>
                <a:latin typeface="Times New Roman"/>
                <a:cs typeface="Times New Roman"/>
              </a:rPr>
              <a:t>Needs checking: user_c logs in at 10:03 from a different IP</a:t>
            </a:r>
          </a:p>
        </p:txBody>
      </p:sp>
      <p:sp>
        <p:nvSpPr>
          <p:cNvPr id="364" name="Text 364"/>
          <p:cNvSpPr txBox="1"/>
          <p:nvPr/>
        </p:nvSpPr>
        <p:spPr>
          <a:xfrm>
            <a:off x="7772400" y="1143000"/>
            <a:ext cx="3840480" cy="365760"/>
          </a:xfrm>
          <a:prstGeom prst="rect">
            <a:avLst/>
          </a:prstGeom>
          <a:noFill/>
          <a:ln>
            <a:noFill/>
          </a:ln>
        </p:spPr>
        <p:txBody>
          <a:bodyPr wrap="square" lIns="45720" tIns="27432" rIns="45720" bIns="27432" anchor="t">
            <a:noAutofit/>
          </a:bodyPr>
          <a:lstStyle/>
          <a:p>
            <a:pPr marL="0" indent="0" algn="l">
              <a:spcBef>
                <a:spcPts val="0"/>
              </a:spcBef>
              <a:spcAft>
                <a:spcPts val="0"/>
              </a:spcAft>
              <a:buNone/>
            </a:pPr>
            <a:r>
              <a:rPr lang="en-US" sz="2000" b="1" i="0" dirty="0">
                <a:solidFill>
                  <a:srgbClr val="5A0886"/>
                </a:solidFill>
                <a:latin typeface="Times New Roman"/>
                <a:cs typeface="Times New Roman"/>
              </a:rPr>
              <a:t>From alert to conclusion</a:t>
            </a:r>
          </a:p>
        </p:txBody>
      </p:sp>
      <p:sp>
        <p:nvSpPr>
          <p:cNvPr id="365" name="Chain 365"/>
          <p:cNvSpPr/>
          <p:nvPr/>
        </p:nvSpPr>
        <p:spPr>
          <a:xfrm>
            <a:off x="7772400" y="1600200"/>
            <a:ext cx="3840480" cy="868680"/>
          </a:xfrm>
          <a:prstGeom prst="roundRect">
            <a:avLst>
              <a:gd name="adj" fmla="val 10000"/>
            </a:avLst>
          </a:prstGeom>
          <a:solidFill>
            <a:srgbClr val="EFE6F6"/>
          </a:solidFill>
          <a:ln w="12700">
            <a:solidFill>
              <a:srgbClr val="5A0886"/>
            </a:solid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5A0886"/>
                </a:solidFill>
                <a:latin typeface="Times New Roman"/>
                <a:cs typeface="Times New Roman"/>
              </a:rPr>
              <a:t>AI or rule alert</a:t>
            </a:r>
          </a:p>
          <a:p>
            <a:pPr marL="0" indent="0" algn="ctr">
              <a:spcBef>
                <a:spcPts val="0"/>
              </a:spcBef>
              <a:spcAft>
                <a:spcPts val="0"/>
              </a:spcAft>
              <a:buNone/>
            </a:pPr>
            <a:r>
              <a:rPr lang="en-US" sz="1300" b="0" i="0" dirty="0">
                <a:solidFill>
                  <a:srgbClr val="1F1F1F"/>
                </a:solidFill>
                <a:latin typeface="Times New Roman"/>
                <a:cs typeface="Times New Roman"/>
              </a:rPr>
              <a:t>What the tool flags</a:t>
            </a:r>
          </a:p>
        </p:txBody>
      </p:sp>
      <p:sp>
        <p:nvSpPr>
          <p:cNvPr id="366" name="Arrow 366"/>
          <p:cNvSpPr/>
          <p:nvPr/>
        </p:nvSpPr>
        <p:spPr>
          <a:xfrm>
            <a:off x="9509760" y="2496312"/>
            <a:ext cx="365760" cy="274320"/>
          </a:xfrm>
          <a:prstGeom prst="downArrow">
            <a:avLst/>
          </a:prstGeom>
          <a:solidFill>
            <a:srgbClr val="5A0886"/>
          </a:solidFill>
          <a:ln>
            <a:noFill/>
          </a:ln>
        </p:spPr>
        <p:txBody>
          <a:bodyPr wrap="square" lIns="109728" tIns="73152" rIns="109728" bIns="73152" anchor="t">
            <a:noAutofit/>
          </a:bodyPr>
          <a:lstStyle/>
          <a:p>
            <a:endParaRPr lang="en-US"/>
          </a:p>
        </p:txBody>
      </p:sp>
      <p:sp>
        <p:nvSpPr>
          <p:cNvPr id="367" name="Chain 367"/>
          <p:cNvSpPr/>
          <p:nvPr/>
        </p:nvSpPr>
        <p:spPr>
          <a:xfrm>
            <a:off x="7772400" y="2770632"/>
            <a:ext cx="3840480" cy="868680"/>
          </a:xfrm>
          <a:prstGeom prst="roundRect">
            <a:avLst>
              <a:gd name="adj" fmla="val 10000"/>
            </a:avLst>
          </a:prstGeom>
          <a:solidFill>
            <a:srgbClr val="EFE6F6"/>
          </a:solidFill>
          <a:ln w="12700">
            <a:solidFill>
              <a:srgbClr val="5A0886"/>
            </a:solid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5A0886"/>
                </a:solidFill>
                <a:latin typeface="Times New Roman"/>
                <a:cs typeface="Times New Roman"/>
              </a:rPr>
              <a:t>Investigative lead</a:t>
            </a:r>
          </a:p>
          <a:p>
            <a:pPr marL="0" indent="0" algn="ctr">
              <a:spcBef>
                <a:spcPts val="0"/>
              </a:spcBef>
              <a:spcAft>
                <a:spcPts val="0"/>
              </a:spcAft>
              <a:buNone/>
            </a:pPr>
            <a:r>
              <a:rPr lang="en-US" sz="1300" b="0" i="0" dirty="0">
                <a:solidFill>
                  <a:srgbClr val="1F1F1F"/>
                </a:solidFill>
                <a:latin typeface="Times New Roman"/>
                <a:cs typeface="Times New Roman"/>
              </a:rPr>
              <a:t>Worth a closer look</a:t>
            </a:r>
          </a:p>
        </p:txBody>
      </p:sp>
      <p:sp>
        <p:nvSpPr>
          <p:cNvPr id="368" name="Arrow 368"/>
          <p:cNvSpPr/>
          <p:nvPr/>
        </p:nvSpPr>
        <p:spPr>
          <a:xfrm>
            <a:off x="9509760" y="3666744"/>
            <a:ext cx="365760" cy="274320"/>
          </a:xfrm>
          <a:prstGeom prst="downArrow">
            <a:avLst/>
          </a:prstGeom>
          <a:solidFill>
            <a:srgbClr val="5A0886"/>
          </a:solidFill>
          <a:ln>
            <a:noFill/>
          </a:ln>
        </p:spPr>
        <p:txBody>
          <a:bodyPr wrap="square" lIns="109728" tIns="73152" rIns="109728" bIns="73152" anchor="t">
            <a:noAutofit/>
          </a:bodyPr>
          <a:lstStyle/>
          <a:p>
            <a:endParaRPr lang="en-US"/>
          </a:p>
        </p:txBody>
      </p:sp>
      <p:sp>
        <p:nvSpPr>
          <p:cNvPr id="369" name="Chain 369"/>
          <p:cNvSpPr/>
          <p:nvPr/>
        </p:nvSpPr>
        <p:spPr>
          <a:xfrm>
            <a:off x="7772400" y="3941064"/>
            <a:ext cx="3840480" cy="868680"/>
          </a:xfrm>
          <a:prstGeom prst="roundRect">
            <a:avLst>
              <a:gd name="adj" fmla="val 10000"/>
            </a:avLst>
          </a:prstGeom>
          <a:solidFill>
            <a:srgbClr val="E6F4EA"/>
          </a:solidFill>
          <a:ln w="12700">
            <a:solidFill>
              <a:srgbClr val="1E7B34"/>
            </a:solid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1E7B34"/>
                </a:solidFill>
                <a:latin typeface="Times New Roman"/>
                <a:cs typeface="Times New Roman"/>
              </a:rPr>
              <a:t>Verify</a:t>
            </a:r>
          </a:p>
          <a:p>
            <a:pPr marL="0" indent="0" algn="ctr">
              <a:spcBef>
                <a:spcPts val="0"/>
              </a:spcBef>
              <a:spcAft>
                <a:spcPts val="0"/>
              </a:spcAft>
              <a:buNone/>
            </a:pPr>
            <a:r>
              <a:rPr lang="en-US" sz="1300" b="0" i="0" dirty="0">
                <a:solidFill>
                  <a:srgbClr val="1F1F1F"/>
                </a:solidFill>
                <a:latin typeface="Times New Roman"/>
                <a:cs typeface="Times New Roman"/>
              </a:rPr>
              <a:t>Check original evidence and context</a:t>
            </a:r>
          </a:p>
        </p:txBody>
      </p:sp>
      <p:sp>
        <p:nvSpPr>
          <p:cNvPr id="370" name="Arrow 370"/>
          <p:cNvSpPr/>
          <p:nvPr/>
        </p:nvSpPr>
        <p:spPr>
          <a:xfrm>
            <a:off x="9509760" y="4837176"/>
            <a:ext cx="365760" cy="274320"/>
          </a:xfrm>
          <a:prstGeom prst="downArrow">
            <a:avLst/>
          </a:prstGeom>
          <a:solidFill>
            <a:srgbClr val="5A0886"/>
          </a:solidFill>
          <a:ln>
            <a:noFill/>
          </a:ln>
        </p:spPr>
        <p:txBody>
          <a:bodyPr wrap="square" lIns="109728" tIns="73152" rIns="109728" bIns="73152" anchor="t">
            <a:noAutofit/>
          </a:bodyPr>
          <a:lstStyle/>
          <a:p>
            <a:endParaRPr lang="en-US"/>
          </a:p>
        </p:txBody>
      </p:sp>
      <p:sp>
        <p:nvSpPr>
          <p:cNvPr id="371" name="Chain 371"/>
          <p:cNvSpPr/>
          <p:nvPr/>
        </p:nvSpPr>
        <p:spPr>
          <a:xfrm>
            <a:off x="7772400" y="5111496"/>
            <a:ext cx="3840480" cy="868680"/>
          </a:xfrm>
          <a:prstGeom prst="roundRect">
            <a:avLst>
              <a:gd name="adj" fmla="val 10000"/>
            </a:avLst>
          </a:prstGeom>
          <a:solidFill>
            <a:srgbClr val="E6F4EA"/>
          </a:solidFill>
          <a:ln w="12700">
            <a:solidFill>
              <a:srgbClr val="1E7B34"/>
            </a:solid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1E7B34"/>
                </a:solidFill>
                <a:latin typeface="Times New Roman"/>
                <a:cs typeface="Times New Roman"/>
              </a:rPr>
              <a:t>Documented conclusion</a:t>
            </a:r>
          </a:p>
          <a:p>
            <a:pPr marL="0" indent="0" algn="ctr">
              <a:spcBef>
                <a:spcPts val="0"/>
              </a:spcBef>
              <a:spcAft>
                <a:spcPts val="0"/>
              </a:spcAft>
              <a:buNone/>
            </a:pPr>
            <a:r>
              <a:rPr lang="en-US" sz="1300" b="0" i="0" dirty="0">
                <a:solidFill>
                  <a:srgbClr val="1F1F1F"/>
                </a:solidFill>
                <a:latin typeface="Times New Roman"/>
                <a:cs typeface="Times New Roman"/>
              </a:rPr>
              <a:t>Written, explained, reviewable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Evidence Integrity: Hash Check</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72" name="File 372"/>
          <p:cNvSpPr/>
          <p:nvPr/>
        </p:nvSpPr>
        <p:spPr>
          <a:xfrm>
            <a:off x="548640" y="1188720"/>
            <a:ext cx="2834640" cy="1005840"/>
          </a:xfrm>
          <a:prstGeom prst="roundRect">
            <a:avLst>
              <a:gd name="adj" fmla="val 1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5A0886"/>
                </a:solidFill>
                <a:latin typeface="Times New Roman"/>
                <a:cs typeface="Times New Roman"/>
              </a:rPr>
              <a:t>Original evidence</a:t>
            </a:r>
          </a:p>
          <a:p>
            <a:pPr marL="0" indent="0" algn="ctr">
              <a:spcBef>
                <a:spcPts val="0"/>
              </a:spcBef>
              <a:spcAft>
                <a:spcPts val="0"/>
              </a:spcAft>
              <a:buNone/>
            </a:pPr>
            <a:r>
              <a:rPr lang="en-US" sz="1300" b="0" i="0" dirty="0">
                <a:solidFill>
                  <a:srgbClr val="1F1F1F"/>
                </a:solidFill>
                <a:latin typeface="Courier New"/>
                <a:cs typeface="Courier New"/>
              </a:rPr>
              <a:t>login_log_v1</a:t>
            </a:r>
          </a:p>
        </p:txBody>
      </p:sp>
      <p:sp>
        <p:nvSpPr>
          <p:cNvPr id="373" name="Arrow 373"/>
          <p:cNvSpPr/>
          <p:nvPr/>
        </p:nvSpPr>
        <p:spPr>
          <a:xfrm>
            <a:off x="3474720" y="1490472"/>
            <a:ext cx="1005840" cy="40233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74" name="Text 374"/>
          <p:cNvSpPr txBox="1"/>
          <p:nvPr/>
        </p:nvSpPr>
        <p:spPr>
          <a:xfrm>
            <a:off x="3474720" y="1901952"/>
            <a:ext cx="1005840" cy="27432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100" b="1" i="0" dirty="0">
                <a:solidFill>
                  <a:srgbClr val="5A0886"/>
                </a:solidFill>
                <a:latin typeface="Times New Roman"/>
                <a:cs typeface="Times New Roman"/>
              </a:rPr>
              <a:t>SHA-256</a:t>
            </a:r>
          </a:p>
        </p:txBody>
      </p:sp>
      <p:sp>
        <p:nvSpPr>
          <p:cNvPr id="375" name="Hash 375"/>
          <p:cNvSpPr/>
          <p:nvPr/>
        </p:nvSpPr>
        <p:spPr>
          <a:xfrm>
            <a:off x="4572000" y="1188720"/>
            <a:ext cx="2926080" cy="1005840"/>
          </a:xfrm>
          <a:prstGeom prst="roundRect">
            <a:avLst>
              <a:gd name="adj" fmla="val 10000"/>
            </a:avLst>
          </a:prstGeom>
          <a:solidFill>
            <a:srgbClr val="FFFFFF"/>
          </a:solidFill>
          <a:ln w="12700">
            <a:solidFill>
              <a:srgbClr val="5A0886"/>
            </a:solid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1F1F1F"/>
                </a:solidFill>
                <a:latin typeface="Courier New"/>
                <a:cs typeface="Courier New"/>
              </a:rPr>
              <a:t>1b7db09ec731cc83…</a:t>
            </a:r>
          </a:p>
        </p:txBody>
      </p:sp>
      <p:sp>
        <p:nvSpPr>
          <p:cNvPr id="376" name="Result 376"/>
          <p:cNvSpPr/>
          <p:nvPr/>
        </p:nvSpPr>
        <p:spPr>
          <a:xfrm>
            <a:off x="7726680" y="1188720"/>
            <a:ext cx="3886200" cy="1005840"/>
          </a:xfrm>
          <a:prstGeom prst="roundRect">
            <a:avLst>
              <a:gd name="adj" fmla="val 10000"/>
            </a:avLst>
          </a:prstGeom>
          <a:solidFill>
            <a:srgbClr val="EFE6F6"/>
          </a:solidFill>
          <a:ln>
            <a:noFill/>
          </a:ln>
        </p:spPr>
        <p:txBody>
          <a:bodyPr wrap="square" lIns="182880" tIns="73152" rIns="137160" bIns="73152" anchor="ctr">
            <a:noAutofit/>
          </a:bodyPr>
          <a:lstStyle/>
          <a:p>
            <a:pPr marL="0" indent="0" algn="l">
              <a:spcBef>
                <a:spcPts val="0"/>
              </a:spcBef>
              <a:spcAft>
                <a:spcPts val="0"/>
              </a:spcAft>
              <a:buNone/>
            </a:pPr>
            <a:r>
              <a:rPr lang="en-US" sz="1500" b="1" i="0" dirty="0">
                <a:solidFill>
                  <a:srgbClr val="5A0886"/>
                </a:solidFill>
                <a:latin typeface="Times New Roman"/>
                <a:cs typeface="Times New Roman"/>
              </a:rPr>
              <a:t>Reference value, recorded at acquisition</a:t>
            </a:r>
          </a:p>
        </p:txBody>
      </p:sp>
      <p:sp>
        <p:nvSpPr>
          <p:cNvPr id="377" name="File 377"/>
          <p:cNvSpPr/>
          <p:nvPr/>
        </p:nvSpPr>
        <p:spPr>
          <a:xfrm>
            <a:off x="548640" y="2514600"/>
            <a:ext cx="2834640" cy="1005840"/>
          </a:xfrm>
          <a:prstGeom prst="roundRect">
            <a:avLst>
              <a:gd name="adj" fmla="val 1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5A0886"/>
                </a:solidFill>
                <a:latin typeface="Times New Roman"/>
                <a:cs typeface="Times New Roman"/>
              </a:rPr>
              <a:t>Working copy A</a:t>
            </a:r>
          </a:p>
          <a:p>
            <a:pPr marL="0" indent="0" algn="ctr">
              <a:spcBef>
                <a:spcPts val="0"/>
              </a:spcBef>
              <a:spcAft>
                <a:spcPts val="0"/>
              </a:spcAft>
              <a:buNone/>
            </a:pPr>
            <a:r>
              <a:rPr lang="en-US" sz="1300" b="0" i="0" dirty="0">
                <a:solidFill>
                  <a:srgbClr val="1F1F1F"/>
                </a:solidFill>
                <a:latin typeface="Courier New"/>
                <a:cs typeface="Courier New"/>
              </a:rPr>
              <a:t>login_log_v1</a:t>
            </a:r>
          </a:p>
        </p:txBody>
      </p:sp>
      <p:sp>
        <p:nvSpPr>
          <p:cNvPr id="378" name="Arrow 378"/>
          <p:cNvSpPr/>
          <p:nvPr/>
        </p:nvSpPr>
        <p:spPr>
          <a:xfrm>
            <a:off x="3474720" y="2816352"/>
            <a:ext cx="1005840" cy="40233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79" name="Text 379"/>
          <p:cNvSpPr txBox="1"/>
          <p:nvPr/>
        </p:nvSpPr>
        <p:spPr>
          <a:xfrm>
            <a:off x="3474720" y="3227832"/>
            <a:ext cx="1005840" cy="27432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100" b="1" i="0" dirty="0">
                <a:solidFill>
                  <a:srgbClr val="5A0886"/>
                </a:solidFill>
                <a:latin typeface="Times New Roman"/>
                <a:cs typeface="Times New Roman"/>
              </a:rPr>
              <a:t>SHA-256</a:t>
            </a:r>
          </a:p>
        </p:txBody>
      </p:sp>
      <p:sp>
        <p:nvSpPr>
          <p:cNvPr id="380" name="Hash 380"/>
          <p:cNvSpPr/>
          <p:nvPr/>
        </p:nvSpPr>
        <p:spPr>
          <a:xfrm>
            <a:off x="4572000" y="2514600"/>
            <a:ext cx="2926080" cy="1005840"/>
          </a:xfrm>
          <a:prstGeom prst="roundRect">
            <a:avLst>
              <a:gd name="adj" fmla="val 10000"/>
            </a:avLst>
          </a:prstGeom>
          <a:solidFill>
            <a:srgbClr val="FFFFFF"/>
          </a:solidFill>
          <a:ln w="12700">
            <a:solidFill>
              <a:srgbClr val="5A0886"/>
            </a:solid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1F1F1F"/>
                </a:solidFill>
                <a:latin typeface="Courier New"/>
                <a:cs typeface="Courier New"/>
              </a:rPr>
              <a:t>1b7db09ec731cc83…</a:t>
            </a:r>
          </a:p>
        </p:txBody>
      </p:sp>
      <p:sp>
        <p:nvSpPr>
          <p:cNvPr id="381" name="Result 381"/>
          <p:cNvSpPr/>
          <p:nvPr/>
        </p:nvSpPr>
        <p:spPr>
          <a:xfrm>
            <a:off x="7726680" y="2514600"/>
            <a:ext cx="3886200" cy="1005840"/>
          </a:xfrm>
          <a:prstGeom prst="roundRect">
            <a:avLst>
              <a:gd name="adj" fmla="val 10000"/>
            </a:avLst>
          </a:prstGeom>
          <a:solidFill>
            <a:srgbClr val="E6F4EA"/>
          </a:solidFill>
          <a:ln>
            <a:noFill/>
          </a:ln>
        </p:spPr>
        <p:txBody>
          <a:bodyPr wrap="square" lIns="182880" tIns="73152" rIns="137160" bIns="73152" anchor="ctr">
            <a:noAutofit/>
          </a:bodyPr>
          <a:lstStyle/>
          <a:p>
            <a:pPr marL="0" indent="0" algn="l">
              <a:spcBef>
                <a:spcPts val="0"/>
              </a:spcBef>
              <a:spcAft>
                <a:spcPts val="0"/>
              </a:spcAft>
              <a:buNone/>
            </a:pPr>
            <a:r>
              <a:rPr lang="en-US" sz="1500" b="1" i="0" dirty="0">
                <a:solidFill>
                  <a:srgbClr val="1E7B34"/>
                </a:solidFill>
                <a:latin typeface="Times New Roman"/>
                <a:cs typeface="Times New Roman"/>
              </a:rPr>
              <a:t>MATCH: contents identical to the reference</a:t>
            </a:r>
          </a:p>
        </p:txBody>
      </p:sp>
      <p:sp>
        <p:nvSpPr>
          <p:cNvPr id="382" name="File 382"/>
          <p:cNvSpPr/>
          <p:nvPr/>
        </p:nvSpPr>
        <p:spPr>
          <a:xfrm>
            <a:off x="548640" y="3840480"/>
            <a:ext cx="2834640" cy="1005840"/>
          </a:xfrm>
          <a:prstGeom prst="roundRect">
            <a:avLst>
              <a:gd name="adj" fmla="val 1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600" b="1" i="0" dirty="0">
                <a:solidFill>
                  <a:srgbClr val="5A0886"/>
                </a:solidFill>
                <a:latin typeface="Times New Roman"/>
                <a:cs typeface="Times New Roman"/>
              </a:rPr>
              <a:t>Working copy B</a:t>
            </a:r>
          </a:p>
          <a:p>
            <a:pPr marL="0" indent="0" algn="ctr">
              <a:spcBef>
                <a:spcPts val="0"/>
              </a:spcBef>
              <a:spcAft>
                <a:spcPts val="0"/>
              </a:spcAft>
              <a:buNone/>
            </a:pPr>
            <a:r>
              <a:rPr lang="en-US" sz="1300" b="0" i="0" dirty="0">
                <a:solidFill>
                  <a:srgbClr val="1F1F1F"/>
                </a:solidFill>
                <a:latin typeface="Courier New"/>
                <a:cs typeface="Courier New"/>
              </a:rPr>
              <a:t>login_log_v2</a:t>
            </a:r>
          </a:p>
        </p:txBody>
      </p:sp>
      <p:sp>
        <p:nvSpPr>
          <p:cNvPr id="383" name="Arrow 383"/>
          <p:cNvSpPr/>
          <p:nvPr/>
        </p:nvSpPr>
        <p:spPr>
          <a:xfrm>
            <a:off x="3474720" y="4142232"/>
            <a:ext cx="1005840" cy="402336"/>
          </a:xfrm>
          <a:prstGeom prst="rightArrow">
            <a:avLst/>
          </a:prstGeom>
          <a:solidFill>
            <a:srgbClr val="5A0886"/>
          </a:solidFill>
          <a:ln>
            <a:noFill/>
          </a:ln>
        </p:spPr>
        <p:txBody>
          <a:bodyPr wrap="square" lIns="109728" tIns="73152" rIns="109728" bIns="73152" anchor="t">
            <a:noAutofit/>
          </a:bodyPr>
          <a:lstStyle/>
          <a:p>
            <a:endParaRPr lang="en-US"/>
          </a:p>
        </p:txBody>
      </p:sp>
      <p:sp>
        <p:nvSpPr>
          <p:cNvPr id="384" name="Text 384"/>
          <p:cNvSpPr txBox="1"/>
          <p:nvPr/>
        </p:nvSpPr>
        <p:spPr>
          <a:xfrm>
            <a:off x="3474720" y="4553712"/>
            <a:ext cx="1005840" cy="274320"/>
          </a:xfrm>
          <a:prstGeom prst="rect">
            <a:avLst/>
          </a:prstGeom>
          <a:noFill/>
          <a:ln>
            <a:noFill/>
          </a:ln>
        </p:spPr>
        <p:txBody>
          <a:bodyPr wrap="square" lIns="45720" tIns="27432" rIns="45720" bIns="27432" anchor="t">
            <a:noAutofit/>
          </a:bodyPr>
          <a:lstStyle/>
          <a:p>
            <a:pPr marL="0" indent="0" algn="ctr">
              <a:spcBef>
                <a:spcPts val="0"/>
              </a:spcBef>
              <a:spcAft>
                <a:spcPts val="0"/>
              </a:spcAft>
              <a:buNone/>
            </a:pPr>
            <a:r>
              <a:rPr lang="en-US" sz="1100" b="1" i="0" dirty="0">
                <a:solidFill>
                  <a:srgbClr val="5A0886"/>
                </a:solidFill>
                <a:latin typeface="Times New Roman"/>
                <a:cs typeface="Times New Roman"/>
              </a:rPr>
              <a:t>SHA-256</a:t>
            </a:r>
          </a:p>
        </p:txBody>
      </p:sp>
      <p:sp>
        <p:nvSpPr>
          <p:cNvPr id="385" name="Hash 385"/>
          <p:cNvSpPr/>
          <p:nvPr/>
        </p:nvSpPr>
        <p:spPr>
          <a:xfrm>
            <a:off x="4572000" y="3840480"/>
            <a:ext cx="2926080" cy="1005840"/>
          </a:xfrm>
          <a:prstGeom prst="roundRect">
            <a:avLst>
              <a:gd name="adj" fmla="val 10000"/>
            </a:avLst>
          </a:prstGeom>
          <a:solidFill>
            <a:srgbClr val="FFFFFF"/>
          </a:solidFill>
          <a:ln w="12700">
            <a:solidFill>
              <a:srgbClr val="5A0886"/>
            </a:solid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1F1F1F"/>
                </a:solidFill>
                <a:latin typeface="Courier New"/>
                <a:cs typeface="Courier New"/>
              </a:rPr>
              <a:t>b83c2b08ff4b5af2…</a:t>
            </a:r>
          </a:p>
        </p:txBody>
      </p:sp>
      <p:sp>
        <p:nvSpPr>
          <p:cNvPr id="386" name="Result 386"/>
          <p:cNvSpPr/>
          <p:nvPr/>
        </p:nvSpPr>
        <p:spPr>
          <a:xfrm>
            <a:off x="7726680" y="3840480"/>
            <a:ext cx="3886200" cy="1005840"/>
          </a:xfrm>
          <a:prstGeom prst="roundRect">
            <a:avLst>
              <a:gd name="adj" fmla="val 10000"/>
            </a:avLst>
          </a:prstGeom>
          <a:solidFill>
            <a:srgbClr val="FDECEA"/>
          </a:solidFill>
          <a:ln>
            <a:noFill/>
          </a:ln>
        </p:spPr>
        <p:txBody>
          <a:bodyPr wrap="square" lIns="182880" tIns="73152" rIns="137160" bIns="73152" anchor="ctr">
            <a:noAutofit/>
          </a:bodyPr>
          <a:lstStyle/>
          <a:p>
            <a:pPr marL="0" indent="0" algn="l">
              <a:spcBef>
                <a:spcPts val="0"/>
              </a:spcBef>
              <a:spcAft>
                <a:spcPts val="0"/>
              </a:spcAft>
              <a:buNone/>
            </a:pPr>
            <a:r>
              <a:rPr lang="en-US" sz="1500" b="1" i="0" dirty="0">
                <a:solidFill>
                  <a:srgbClr val="B3261E"/>
                </a:solidFill>
                <a:latin typeface="Times New Roman"/>
                <a:cs typeface="Times New Roman"/>
              </a:rPr>
              <a:t>MISMATCH: investigate before using</a:t>
            </a:r>
          </a:p>
        </p:txBody>
      </p:sp>
      <p:sp>
        <p:nvSpPr>
          <p:cNvPr id="387" name="Text 387"/>
          <p:cNvSpPr txBox="1"/>
          <p:nvPr/>
        </p:nvSpPr>
        <p:spPr>
          <a:xfrm>
            <a:off x="548640" y="5138928"/>
            <a:ext cx="11064240" cy="320040"/>
          </a:xfrm>
          <a:prstGeom prst="rect">
            <a:avLst/>
          </a:prstGeom>
          <a:noFill/>
          <a:ln>
            <a:noFill/>
          </a:ln>
        </p:spPr>
        <p:txBody>
          <a:bodyPr wrap="square" lIns="45720" tIns="27432" rIns="45720" bIns="27432" anchor="t">
            <a:noAutofit/>
          </a:bodyPr>
          <a:lstStyle/>
          <a:p>
            <a:pPr marL="0" indent="0" algn="l">
              <a:spcBef>
                <a:spcPts val="0"/>
              </a:spcBef>
              <a:spcAft>
                <a:spcPts val="0"/>
              </a:spcAft>
              <a:buNone/>
            </a:pPr>
            <a:r>
              <a:rPr lang="en-US" sz="1300" b="0" i="1" dirty="0">
                <a:solidFill>
                  <a:srgbClr val="555555"/>
                </a:solidFill>
                <a:latin typeface="Times New Roman"/>
                <a:cs typeface="Times New Roman"/>
              </a:rPr>
              <a:t>Changing one character gives a completely different hash. Only the first 16 of 64 hex characters are shown.</a:t>
            </a:r>
          </a:p>
        </p:txBody>
      </p:sp>
      <p:sp>
        <p:nvSpPr>
          <p:cNvPr id="388" name="Caveat 388"/>
          <p:cNvSpPr/>
          <p:nvPr/>
        </p:nvSpPr>
        <p:spPr>
          <a:xfrm>
            <a:off x="548640" y="5486400"/>
            <a:ext cx="11064240" cy="640080"/>
          </a:xfrm>
          <a:prstGeom prst="roundRect">
            <a:avLst>
              <a:gd name="adj" fmla="val 12000"/>
            </a:avLst>
          </a:prstGeom>
          <a:solidFill>
            <a:srgbClr val="FFF4D6"/>
          </a:solidFill>
          <a:ln>
            <a:noFill/>
          </a:ln>
        </p:spPr>
        <p:txBody>
          <a:bodyPr wrap="square" lIns="182880" tIns="45720" rIns="182880" bIns="45720" anchor="ctr">
            <a:noAutofit/>
          </a:bodyPr>
          <a:lstStyle/>
          <a:p>
            <a:pPr marL="0" indent="0" algn="l">
              <a:spcBef>
                <a:spcPts val="0"/>
              </a:spcBef>
              <a:spcAft>
                <a:spcPts val="0"/>
              </a:spcAft>
              <a:buNone/>
            </a:pPr>
            <a:r>
              <a:rPr lang="en-US" sz="1400" b="1" i="0" dirty="0">
                <a:solidFill>
                  <a:srgbClr val="7A5200"/>
                </a:solidFill>
                <a:latin typeface="Times New Roman"/>
                <a:cs typeface="Times New Roman"/>
              </a:rPr>
              <a:t>A matching hash shows the contents are unchanged. It does not prove the original was authentic or that chain of custody was kept.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Benefits, Risks &amp; Safeguards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89" name="Benefit 389"/>
          <p:cNvSpPr/>
          <p:nvPr/>
        </p:nvSpPr>
        <p:spPr>
          <a:xfrm>
            <a:off x="548640" y="1143000"/>
            <a:ext cx="3611880" cy="594360"/>
          </a:xfrm>
          <a:prstGeom prst="roundRect">
            <a:avLst>
              <a:gd name="adj" fmla="val 2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5A0886"/>
                </a:solidFill>
                <a:latin typeface="Times New Roman"/>
                <a:cs typeface="Times New Roman"/>
              </a:rPr>
              <a:t>Manages large data volumes</a:t>
            </a:r>
          </a:p>
        </p:txBody>
      </p:sp>
      <p:sp>
        <p:nvSpPr>
          <p:cNvPr id="390" name="Benefit 390"/>
          <p:cNvSpPr/>
          <p:nvPr/>
        </p:nvSpPr>
        <p:spPr>
          <a:xfrm>
            <a:off x="4297680" y="1143000"/>
            <a:ext cx="3611880" cy="594360"/>
          </a:xfrm>
          <a:prstGeom prst="roundRect">
            <a:avLst>
              <a:gd name="adj" fmla="val 2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5A0886"/>
                </a:solidFill>
                <a:latin typeface="Times New Roman"/>
                <a:cs typeface="Times New Roman"/>
              </a:rPr>
              <a:t>Surfaces patterns that are easy to miss</a:t>
            </a:r>
          </a:p>
        </p:txBody>
      </p:sp>
      <p:sp>
        <p:nvSpPr>
          <p:cNvPr id="391" name="Benefit 391"/>
          <p:cNvSpPr/>
          <p:nvPr/>
        </p:nvSpPr>
        <p:spPr>
          <a:xfrm>
            <a:off x="8046720" y="1143000"/>
            <a:ext cx="3611880" cy="594360"/>
          </a:xfrm>
          <a:prstGeom prst="roundRect">
            <a:avLst>
              <a:gd name="adj" fmla="val 20000"/>
            </a:avLst>
          </a:prstGeom>
          <a:solidFill>
            <a:srgbClr val="EFE6F6"/>
          </a:solidFill>
          <a:ln>
            <a:noFill/>
          </a:ln>
        </p:spPr>
        <p:txBody>
          <a:bodyPr wrap="square" lIns="109728" tIns="73152" rIns="109728" bIns="73152" anchor="ctr">
            <a:noAutofit/>
          </a:bodyPr>
          <a:lstStyle/>
          <a:p>
            <a:pPr marL="0" indent="0" algn="ctr">
              <a:spcBef>
                <a:spcPts val="0"/>
              </a:spcBef>
              <a:spcAft>
                <a:spcPts val="0"/>
              </a:spcAft>
              <a:buNone/>
            </a:pPr>
            <a:r>
              <a:rPr lang="en-US" sz="1500" b="1" i="0" dirty="0">
                <a:solidFill>
                  <a:srgbClr val="5A0886"/>
                </a:solidFill>
                <a:latin typeface="Times New Roman"/>
                <a:cs typeface="Times New Roman"/>
              </a:rPr>
              <a:t>Applies the same process consistently</a:t>
            </a:r>
          </a:p>
        </p:txBody>
      </p:sp>
      <p:graphicFrame>
        <p:nvGraphicFramePr>
          <p:cNvPr id="392" name="Table 392"/>
          <p:cNvGraphicFramePr>
            <a:graphicFrameLocks noGrp="1"/>
          </p:cNvGraphicFramePr>
          <p:nvPr>
            <p:extLst>
              <p:ext uri="{D42A27DB-BD31-4B8C-83A1-F6EECF244321}">
                <p14:modId xmlns:p14="http://schemas.microsoft.com/office/powerpoint/2010/main" val="4168584548"/>
              </p:ext>
            </p:extLst>
          </p:nvPr>
        </p:nvGraphicFramePr>
        <p:xfrm>
          <a:off x="548640" y="1965960"/>
          <a:ext cx="11064240" cy="4032504"/>
        </p:xfrm>
        <a:graphic>
          <a:graphicData uri="http://schemas.openxmlformats.org/drawingml/2006/table">
            <a:tbl>
              <a:tblPr firstRow="1"/>
              <a:tblGrid>
                <a:gridCol w="234696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31030">
                  <a:extLst>
                    <a:ext uri="{9D8B030D-6E8A-4147-A177-3AD203B41FA5}">
                      <a16:colId xmlns:a16="http://schemas.microsoft.com/office/drawing/2014/main" val="20002"/>
                    </a:ext>
                  </a:extLst>
                </a:gridCol>
              </a:tblGrid>
              <a:tr h="576072">
                <a:tc>
                  <a:txBody>
                    <a:bodyPr/>
                    <a:lstStyle/>
                    <a:p>
                      <a:pPr marL="0" indent="0" algn="ctr">
                        <a:spcBef>
                          <a:spcPts val="0"/>
                        </a:spcBef>
                        <a:spcAft>
                          <a:spcPts val="0"/>
                        </a:spcAft>
                        <a:buNone/>
                      </a:pPr>
                      <a:r>
                        <a:rPr lang="en-US" sz="1500" b="1" i="0" dirty="0">
                          <a:solidFill>
                            <a:srgbClr val="FFFFFF"/>
                          </a:solidFill>
                          <a:latin typeface="Times New Roman"/>
                          <a:cs typeface="Times New Roman"/>
                        </a:rPr>
                        <a:t>Concern</a:t>
                      </a:r>
                    </a:p>
                  </a:txBody>
                  <a:tcPr marT="36576" marB="36576" anchor="ctr">
                    <a:lnL w="0">
                      <a:noFill/>
                    </a:lnL>
                    <a:lnR w="0">
                      <a:noFill/>
                    </a:lnR>
                    <a:lnT w="0">
                      <a:noFill/>
                    </a:lnT>
                    <a:lnB w="9525">
                      <a:solidFill>
                        <a:srgbClr val="D5C5E3"/>
                      </a:solidFill>
                    </a:lnB>
                    <a:solidFill>
                      <a:srgbClr val="5A0886"/>
                    </a:solidFill>
                  </a:tcPr>
                </a:tc>
                <a:tc>
                  <a:txBody>
                    <a:bodyPr/>
                    <a:lstStyle/>
                    <a:p>
                      <a:pPr marL="0" indent="0" algn="ctr">
                        <a:spcBef>
                          <a:spcPts val="0"/>
                        </a:spcBef>
                        <a:spcAft>
                          <a:spcPts val="0"/>
                        </a:spcAft>
                        <a:buNone/>
                      </a:pPr>
                      <a:r>
                        <a:rPr lang="en-US" sz="1500" b="1" i="0" dirty="0">
                          <a:solidFill>
                            <a:srgbClr val="FFFFFF"/>
                          </a:solidFill>
                          <a:latin typeface="Times New Roman"/>
                          <a:cs typeface="Times New Roman"/>
                        </a:rPr>
                        <a:t>Why it matters</a:t>
                      </a:r>
                    </a:p>
                  </a:txBody>
                  <a:tcPr marT="36576" marB="36576" anchor="ctr">
                    <a:lnL w="0">
                      <a:noFill/>
                    </a:lnL>
                    <a:lnR w="0">
                      <a:noFill/>
                    </a:lnR>
                    <a:lnT w="0">
                      <a:noFill/>
                    </a:lnT>
                    <a:lnB w="9525">
                      <a:solidFill>
                        <a:srgbClr val="D5C5E3"/>
                      </a:solidFill>
                    </a:lnB>
                    <a:solidFill>
                      <a:srgbClr val="5A0886"/>
                    </a:solidFill>
                  </a:tcPr>
                </a:tc>
                <a:tc>
                  <a:txBody>
                    <a:bodyPr/>
                    <a:lstStyle/>
                    <a:p>
                      <a:pPr marL="0" indent="0" algn="ctr">
                        <a:spcBef>
                          <a:spcPts val="0"/>
                        </a:spcBef>
                        <a:spcAft>
                          <a:spcPts val="0"/>
                        </a:spcAft>
                        <a:buNone/>
                      </a:pPr>
                      <a:r>
                        <a:rPr lang="en-US" sz="1500" b="1" i="0" dirty="0">
                          <a:solidFill>
                            <a:srgbClr val="FFFFFF"/>
                          </a:solidFill>
                          <a:latin typeface="Times New Roman"/>
                          <a:cs typeface="Times New Roman"/>
                        </a:rPr>
                        <a:t>Safeguard</a:t>
                      </a:r>
                    </a:p>
                  </a:txBody>
                  <a:tcPr marT="36576" marB="36576" anchor="ctr">
                    <a:lnL w="0">
                      <a:noFill/>
                    </a:lnL>
                    <a:lnR w="0">
                      <a:noFill/>
                    </a:lnR>
                    <a:lnT w="0">
                      <a:noFill/>
                    </a:lnT>
                    <a:lnB w="9525">
                      <a:solidFill>
                        <a:srgbClr val="D5C5E3"/>
                      </a:solidFill>
                    </a:lnB>
                    <a:solidFill>
                      <a:srgbClr val="5A0886"/>
                    </a:solidFill>
                  </a:tcPr>
                </a:tc>
                <a:extLst>
                  <a:ext uri="{0D108BD9-81ED-4DB2-BD59-A6C34878D82A}">
                    <a16:rowId xmlns:a16="http://schemas.microsoft.com/office/drawing/2014/main" val="10000"/>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False positives / negatives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Harmless events get flagged; relevant evidence can be missed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Verify key findings against source evidence; use a second method where practical</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1"/>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Privacy</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Devices hold personal data unrelated to the case</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Stay within legal authorisation; limit access to sensitive data</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02"/>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Explainability</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Some tools cannot show why they flagged an item</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Use tools that log operations; explain the method in the report</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3"/>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Evidence integrity</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Careless analysis could alter or weaken evidence</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Work on verified copies; keep hashes and custody records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04"/>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Bias and manipulation</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Weak results on unfamiliar data; misleading inputs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Test and validate tools; keep human review</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FFFFF"/>
                    </a:solidFill>
                  </a:tcPr>
                </a:tc>
                <a:extLst>
                  <a:ext uri="{0D108BD9-81ED-4DB2-BD59-A6C34878D82A}">
                    <a16:rowId xmlns:a16="http://schemas.microsoft.com/office/drawing/2014/main" val="10005"/>
                  </a:ext>
                </a:extLst>
              </a:tr>
              <a:tr h="576072">
                <a:tc>
                  <a:txBody>
                    <a:bodyPr/>
                    <a:lstStyle/>
                    <a:p>
                      <a:pPr marL="0" indent="0" algn="l">
                        <a:spcBef>
                          <a:spcPts val="0"/>
                        </a:spcBef>
                        <a:spcAft>
                          <a:spcPts val="0"/>
                        </a:spcAft>
                        <a:buNone/>
                      </a:pPr>
                      <a:r>
                        <a:rPr lang="en-US" sz="1300" b="1" i="0" dirty="0">
                          <a:solidFill>
                            <a:srgbClr val="1F1F1F"/>
                          </a:solidFill>
                          <a:latin typeface="Times New Roman"/>
                          <a:cs typeface="Times New Roman"/>
                        </a:rPr>
                        <a:t>Human oversight</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AI cannot establish that a crime occurred</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tc>
                  <a:txBody>
                    <a:bodyPr/>
                    <a:lstStyle/>
                    <a:p>
                      <a:pPr marL="0" indent="0" algn="l">
                        <a:spcBef>
                          <a:spcPts val="0"/>
                        </a:spcBef>
                        <a:spcAft>
                          <a:spcPts val="0"/>
                        </a:spcAft>
                        <a:buNone/>
                      </a:pPr>
                      <a:r>
                        <a:rPr lang="en-US" sz="1300" b="0" i="0" dirty="0">
                          <a:solidFill>
                            <a:srgbClr val="1F1F1F"/>
                          </a:solidFill>
                          <a:latin typeface="Times New Roman"/>
                          <a:cs typeface="Times New Roman"/>
                        </a:rPr>
                        <a:t>Investigator interprets, decides and documents tool, settings and steps</a:t>
                      </a:r>
                    </a:p>
                  </a:txBody>
                  <a:tcPr marT="36576" marB="36576" anchor="ctr">
                    <a:lnL w="0">
                      <a:noFill/>
                    </a:lnL>
                    <a:lnR w="0">
                      <a:noFill/>
                    </a:lnR>
                    <a:lnT w="9525" cap="flat" cmpd="sng" algn="ctr">
                      <a:solidFill>
                        <a:srgbClr val="D5C5E3"/>
                      </a:solidFill>
                      <a:prstDash val="solid"/>
                      <a:round/>
                      <a:headEnd type="none" w="med" len="med"/>
                      <a:tailEnd type="none" w="med" len="med"/>
                    </a:lnT>
                    <a:lnB w="9525">
                      <a:solidFill>
                        <a:srgbClr val="D5C5E3"/>
                      </a:solidFill>
                    </a:lnB>
                    <a:solidFill>
                      <a:srgbClr val="F7F3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Future Scope &amp; Conclusion</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93" name="Future 393"/>
          <p:cNvSpPr/>
          <p:nvPr/>
        </p:nvSpPr>
        <p:spPr>
          <a:xfrm>
            <a:off x="548640" y="1188720"/>
            <a:ext cx="5120640" cy="484632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94" name="Text 394"/>
          <p:cNvSpPr txBox="1"/>
          <p:nvPr/>
        </p:nvSpPr>
        <p:spPr>
          <a:xfrm>
            <a:off x="731520" y="1280160"/>
            <a:ext cx="4754880" cy="4663440"/>
          </a:xfrm>
          <a:prstGeom prst="rect">
            <a:avLst/>
          </a:prstGeom>
          <a:noFill/>
          <a:ln>
            <a:noFill/>
          </a:ln>
        </p:spPr>
        <p:txBody>
          <a:bodyPr wrap="square" lIns="45720" tIns="27432" rIns="45720" bIns="27432" anchor="t">
            <a:noAutofit/>
          </a:bodyPr>
          <a:lstStyle/>
          <a:p>
            <a:pPr marL="0" indent="0" algn="l">
              <a:spcBef>
                <a:spcPts val="0"/>
              </a:spcBef>
              <a:spcAft>
                <a:spcPts val="400"/>
              </a:spcAft>
              <a:buNone/>
            </a:pPr>
            <a:r>
              <a:rPr lang="en-US" sz="2000" b="1" i="0" dirty="0">
                <a:solidFill>
                  <a:srgbClr val="5A0886"/>
                </a:solidFill>
                <a:latin typeface="Times New Roman"/>
                <a:cs typeface="Times New Roman"/>
              </a:rPr>
              <a:t>Future scope</a:t>
            </a:r>
          </a:p>
          <a:p>
            <a:pPr marL="285750" indent="-285750" algn="l">
              <a:spcBef>
                <a:spcPts val="0"/>
              </a:spcBef>
              <a:spcAft>
                <a:spcPts val="1200"/>
              </a:spcAft>
              <a:buClr>
                <a:srgbClr val="5A0886"/>
              </a:buClr>
              <a:buFont typeface="Arial"/>
              <a:buChar char="•"/>
            </a:pPr>
            <a:r>
              <a:rPr lang="en-US" sz="1800" b="0" i="0" dirty="0">
                <a:solidFill>
                  <a:srgbClr val="1F1F1F"/>
                </a:solidFill>
                <a:latin typeface="Times New Roman"/>
                <a:cs typeface="Times New Roman"/>
              </a:rPr>
              <a:t>Evidence is spreading across phones, cloud services, connected devices and networks, so AI will help compare sources.</a:t>
            </a:r>
          </a:p>
          <a:p>
            <a:pPr marL="285750" indent="-285750" algn="l">
              <a:spcBef>
                <a:spcPts val="0"/>
              </a:spcBef>
              <a:spcAft>
                <a:spcPts val="1200"/>
              </a:spcAft>
              <a:buClr>
                <a:srgbClr val="5A0886"/>
              </a:buClr>
              <a:buFont typeface="Arial"/>
              <a:buChar char="•"/>
            </a:pPr>
            <a:r>
              <a:rPr lang="en-US" sz="1800" b="0" i="0" dirty="0">
                <a:solidFill>
                  <a:srgbClr val="1F1F1F"/>
                </a:solidFill>
                <a:latin typeface="Times New Roman"/>
                <a:cs typeface="Times New Roman"/>
              </a:rPr>
              <a:t>More automation means transparent methods, independent validation and careful data handling matter more.</a:t>
            </a:r>
          </a:p>
          <a:p>
            <a:pPr marL="285750" indent="-285750" algn="l">
              <a:spcBef>
                <a:spcPts val="0"/>
              </a:spcBef>
              <a:spcAft>
                <a:spcPts val="0"/>
              </a:spcAft>
              <a:buClr>
                <a:srgbClr val="5A0886"/>
              </a:buClr>
              <a:buFont typeface="Arial"/>
              <a:buChar char="•"/>
            </a:pPr>
            <a:r>
              <a:rPr lang="en-US" sz="1800" b="0" i="0" dirty="0">
                <a:solidFill>
                  <a:srgbClr val="1F1F1F"/>
                </a:solidFill>
                <a:latin typeface="Times New Roman"/>
                <a:cs typeface="Times New Roman"/>
              </a:rPr>
              <a:t>Investigators still need technical knowledge, critical thinking and judgement.</a:t>
            </a:r>
          </a:p>
        </p:txBody>
      </p:sp>
      <p:sp>
        <p:nvSpPr>
          <p:cNvPr id="395" name="Conclusion 395"/>
          <p:cNvSpPr/>
          <p:nvPr/>
        </p:nvSpPr>
        <p:spPr>
          <a:xfrm>
            <a:off x="5943600" y="1188720"/>
            <a:ext cx="5669280" cy="4846320"/>
          </a:xfrm>
          <a:prstGeom prst="roundRect">
            <a:avLst>
              <a:gd name="adj" fmla="val 4000"/>
            </a:avLst>
          </a:prstGeom>
          <a:solidFill>
            <a:srgbClr val="5A0886"/>
          </a:solidFill>
          <a:ln>
            <a:noFill/>
          </a:ln>
        </p:spPr>
        <p:txBody>
          <a:bodyPr wrap="square" lIns="320040" tIns="228600" rIns="320040" bIns="182880" anchor="t">
            <a:noAutofit/>
          </a:bodyPr>
          <a:lstStyle/>
          <a:p>
            <a:pPr marL="0" indent="0" algn="l">
              <a:spcBef>
                <a:spcPts val="0"/>
              </a:spcBef>
              <a:spcAft>
                <a:spcPts val="800"/>
              </a:spcAft>
              <a:buNone/>
            </a:pPr>
            <a:r>
              <a:rPr lang="en-US" sz="2000" b="1" i="0" dirty="0">
                <a:solidFill>
                  <a:srgbClr val="FFFFFF"/>
                </a:solidFill>
                <a:latin typeface="Times New Roman"/>
                <a:cs typeface="Times New Roman"/>
              </a:rPr>
              <a:t>Conclusion</a:t>
            </a:r>
          </a:p>
          <a:p>
            <a:pPr marL="285750" indent="-285750" algn="l">
              <a:spcBef>
                <a:spcPts val="0"/>
              </a:spcBef>
              <a:spcAft>
                <a:spcPts val="1000"/>
              </a:spcAft>
              <a:buClr>
                <a:srgbClr val="FFFFFF"/>
              </a:buClr>
              <a:buFont typeface="Arial"/>
              <a:buChar char="•"/>
            </a:pPr>
            <a:r>
              <a:rPr lang="en-US" sz="1800" b="0" i="0" dirty="0">
                <a:solidFill>
                  <a:srgbClr val="FFFFFF"/>
                </a:solidFill>
                <a:latin typeface="Times New Roman"/>
                <a:cs typeface="Times New Roman"/>
              </a:rPr>
              <a:t>AI helps organise data, flag unusual activity, analyse text and media, and suggest links between events.</a:t>
            </a:r>
          </a:p>
          <a:p>
            <a:pPr marL="285750" indent="-285750" algn="l">
              <a:spcBef>
                <a:spcPts val="0"/>
              </a:spcBef>
              <a:spcAft>
                <a:spcPts val="2000"/>
              </a:spcAft>
              <a:buClr>
                <a:srgbClr val="FFFFFF"/>
              </a:buClr>
              <a:buFont typeface="Arial"/>
              <a:buChar char="•"/>
            </a:pPr>
            <a:r>
              <a:rPr lang="en-US" sz="1800" b="0" i="0" dirty="0">
                <a:solidFill>
                  <a:srgbClr val="FFFFFF"/>
                </a:solidFill>
                <a:latin typeface="Times New Roman"/>
                <a:cs typeface="Times New Roman"/>
              </a:rPr>
              <a:t>Its output must be verified, and evidence must be preserved and documented.</a:t>
            </a:r>
          </a:p>
          <a:p>
            <a:pPr marL="0" indent="0" algn="l">
              <a:lnSpc>
                <a:spcPct val="110000"/>
              </a:lnSpc>
              <a:spcBef>
                <a:spcPts val="0"/>
              </a:spcBef>
              <a:spcAft>
                <a:spcPts val="0"/>
              </a:spcAft>
              <a:buNone/>
            </a:pPr>
            <a:r>
              <a:rPr lang="en-US" sz="2800" b="1" i="1" dirty="0">
                <a:solidFill>
                  <a:srgbClr val="FFFFFF"/>
                </a:solidFill>
                <a:latin typeface="Times New Roman"/>
                <a:cs typeface="Times New Roman"/>
              </a:rPr>
              <a:t>An AI alert is a lead, not a conclusion.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200" b="1">
                <a:latin typeface="Bodoni"/>
                <a:ea typeface="Bodoni"/>
                <a:cs typeface="Bodoni"/>
                <a:sym typeface="Bodoni"/>
              </a:rPr>
              <a:t>References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endParaRPr dirty="0"/>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96" name="Text 396"/>
          <p:cNvSpPr txBox="1"/>
          <p:nvPr/>
        </p:nvSpPr>
        <p:spPr>
          <a:xfrm>
            <a:off x="548640" y="1188720"/>
            <a:ext cx="11064240" cy="3931920"/>
          </a:xfrm>
          <a:prstGeom prst="rect">
            <a:avLst/>
          </a:prstGeom>
          <a:noFill/>
          <a:ln>
            <a:noFill/>
          </a:ln>
        </p:spPr>
        <p:txBody>
          <a:bodyPr wrap="square" lIns="45720" tIns="27432" rIns="45720" bIns="27432" anchor="t">
            <a:noAutofit/>
          </a:bodyPr>
          <a:lstStyle/>
          <a:p>
            <a:pPr marL="0" indent="0" algn="l">
              <a:spcBef>
                <a:spcPts val="0"/>
              </a:spcBef>
              <a:spcAft>
                <a:spcPts val="800"/>
              </a:spcAft>
              <a:buNone/>
            </a:pPr>
            <a:r>
              <a:rPr lang="en-US" sz="1500" b="1" i="0" dirty="0">
                <a:solidFill>
                  <a:srgbClr val="5A0886"/>
                </a:solidFill>
                <a:latin typeface="Times New Roman"/>
                <a:cs typeface="Times New Roman"/>
              </a:rPr>
              <a:t>[1]  </a:t>
            </a:r>
            <a:r>
              <a:rPr lang="en-US" sz="1500" dirty="0">
                <a:solidFill>
                  <a:srgbClr val="1F1F1F"/>
                </a:solidFill>
                <a:latin typeface="Times New Roman"/>
                <a:cs typeface="Times New Roman"/>
              </a:rPr>
              <a:t>Priya</a:t>
            </a:r>
            <a:r>
              <a:rPr lang="en-US" sz="1500" b="0" i="0" dirty="0">
                <a:solidFill>
                  <a:srgbClr val="1F1F1F"/>
                </a:solidFill>
                <a:latin typeface="Times New Roman"/>
                <a:cs typeface="Times New Roman"/>
              </a:rPr>
              <a:t>. Gaglani, “The Role of Artificial Intelligence in Advanced Digital Forensics,” ADF SLA </a:t>
            </a:r>
            <a:r>
              <a:rPr lang="en-US" sz="1500" b="0" i="0">
                <a:solidFill>
                  <a:srgbClr val="1F1F1F"/>
                </a:solidFill>
                <a:latin typeface="Times New Roman"/>
                <a:cs typeface="Times New Roman"/>
              </a:rPr>
              <a:t>1 article. (</a:t>
            </a:r>
            <a:r>
              <a:rPr lang="en-US" sz="1500" b="0" i="0" dirty="0">
                <a:solidFill>
                  <a:srgbClr val="1F1F1F"/>
                </a:solidFill>
                <a:latin typeface="Times New Roman"/>
                <a:cs typeface="Times New Roman"/>
              </a:rPr>
              <a:t>primary source).</a:t>
            </a:r>
          </a:p>
          <a:p>
            <a:pPr marL="0" indent="0" algn="l">
              <a:spcBef>
                <a:spcPts val="0"/>
              </a:spcBef>
              <a:spcAft>
                <a:spcPts val="800"/>
              </a:spcAft>
              <a:buNone/>
            </a:pPr>
            <a:r>
              <a:rPr lang="en-US" sz="1500" b="1" i="0" dirty="0">
                <a:solidFill>
                  <a:srgbClr val="5A0886"/>
                </a:solidFill>
                <a:latin typeface="Times New Roman"/>
                <a:cs typeface="Times New Roman"/>
              </a:rPr>
              <a:t>[2]  </a:t>
            </a:r>
            <a:r>
              <a:rPr lang="en-US" sz="1500" b="0" i="0" dirty="0">
                <a:solidFill>
                  <a:srgbClr val="1F1F1F"/>
                </a:solidFill>
                <a:latin typeface="Times New Roman"/>
                <a:cs typeface="Times New Roman"/>
              </a:rPr>
              <a:t>K. Kent, S. Chevalier, T. Grance and H. Dang, Guide to Integrating Forensic Techniques into Incident Response, NIST SP 800-86, Aug. 2006. https://doi.org/10.6028/NIST.SP.800-86</a:t>
            </a:r>
          </a:p>
          <a:p>
            <a:pPr marL="0" indent="0" algn="l">
              <a:spcBef>
                <a:spcPts val="0"/>
              </a:spcBef>
              <a:spcAft>
                <a:spcPts val="800"/>
              </a:spcAft>
              <a:buNone/>
            </a:pPr>
            <a:r>
              <a:rPr lang="en-US" sz="1500" b="1" i="0" dirty="0">
                <a:solidFill>
                  <a:srgbClr val="5A0886"/>
                </a:solidFill>
                <a:latin typeface="Times New Roman"/>
                <a:cs typeface="Times New Roman"/>
              </a:rPr>
              <a:t>[3]  </a:t>
            </a:r>
            <a:r>
              <a:rPr lang="en-US" sz="1500" b="0" i="0" dirty="0">
                <a:solidFill>
                  <a:srgbClr val="1F1F1F"/>
                </a:solidFill>
                <a:latin typeface="Times New Roman"/>
                <a:cs typeface="Times New Roman"/>
              </a:rPr>
              <a:t>B. Guttman, D. R. White, S. Williams and T. Walraven, Digital Evidence Preservation: Considerations for Evidence Handlers, NIST IR 8387, Sep. 2022. https://doi.org/10.6028/NIST.IR.8387</a:t>
            </a:r>
          </a:p>
          <a:p>
            <a:pPr marL="0" indent="0" algn="l">
              <a:spcBef>
                <a:spcPts val="0"/>
              </a:spcBef>
              <a:spcAft>
                <a:spcPts val="800"/>
              </a:spcAft>
              <a:buNone/>
            </a:pPr>
            <a:r>
              <a:rPr lang="en-US" sz="1500" b="1" i="0" dirty="0">
                <a:solidFill>
                  <a:srgbClr val="5A0886"/>
                </a:solidFill>
                <a:latin typeface="Times New Roman"/>
                <a:cs typeface="Times New Roman"/>
              </a:rPr>
              <a:t>[4]  </a:t>
            </a:r>
            <a:r>
              <a:rPr lang="en-US" sz="1500" b="0" i="0" dirty="0">
                <a:solidFill>
                  <a:srgbClr val="1F1F1F"/>
                </a:solidFill>
                <a:latin typeface="Times New Roman"/>
                <a:cs typeface="Times New Roman"/>
              </a:rPr>
              <a:t>NIST, Secure Hash Standard (SHS), FIPS 180-4, Aug. 2015. https://doi.org/10.6028/NIST.FIPS.180-4</a:t>
            </a:r>
          </a:p>
          <a:p>
            <a:pPr marL="0" indent="0" algn="l">
              <a:spcBef>
                <a:spcPts val="0"/>
              </a:spcBef>
              <a:spcAft>
                <a:spcPts val="800"/>
              </a:spcAft>
              <a:buNone/>
            </a:pPr>
            <a:r>
              <a:rPr lang="en-US" sz="1500" b="1" i="0" dirty="0">
                <a:solidFill>
                  <a:srgbClr val="5A0886"/>
                </a:solidFill>
                <a:latin typeface="Times New Roman"/>
                <a:cs typeface="Times New Roman"/>
              </a:rPr>
              <a:t>[5]  </a:t>
            </a:r>
            <a:r>
              <a:rPr lang="en-US" sz="1500" b="0" i="0" dirty="0">
                <a:solidFill>
                  <a:srgbClr val="1F1F1F"/>
                </a:solidFill>
                <a:latin typeface="Times New Roman"/>
                <a:cs typeface="Times New Roman"/>
              </a:rPr>
              <a:t>Python Software Foundation, “hashlib” and “collections.Counter,” Python 3 documentation. https://docs.python.org/3/library/hashlib.html</a:t>
            </a:r>
          </a:p>
          <a:p>
            <a:pPr marL="0" indent="0" algn="l">
              <a:spcBef>
                <a:spcPts val="0"/>
              </a:spcBef>
              <a:spcAft>
                <a:spcPts val="800"/>
              </a:spcAft>
              <a:buNone/>
            </a:pPr>
            <a:r>
              <a:rPr lang="en-US" sz="1500" b="1" i="0" dirty="0">
                <a:solidFill>
                  <a:srgbClr val="5A0886"/>
                </a:solidFill>
                <a:latin typeface="Times New Roman"/>
                <a:cs typeface="Times New Roman"/>
              </a:rPr>
              <a:t>[6]  </a:t>
            </a:r>
            <a:r>
              <a:rPr lang="en-US" sz="1500" b="0" i="0" dirty="0">
                <a:solidFill>
                  <a:srgbClr val="1F1F1F"/>
                </a:solidFill>
                <a:latin typeface="Times New Roman"/>
                <a:cs typeface="Times New Roman"/>
              </a:rPr>
              <a:t>J. Arkko, M. Cotton and L. Vegoda, IPv4 Address Blocks Reserved for Documentation, RFC 5737, Jan. 2010. https://www.rfc-editor.org/rfc/rfc5737</a:t>
            </a:r>
          </a:p>
        </p:txBody>
      </p:sp>
      <p:sp>
        <p:nvSpPr>
          <p:cNvPr id="397" name="Note 397"/>
          <p:cNvSpPr/>
          <p:nvPr/>
        </p:nvSpPr>
        <p:spPr>
          <a:xfrm>
            <a:off x="548640" y="5074920"/>
            <a:ext cx="11064240" cy="960120"/>
          </a:xfrm>
          <a:prstGeom prst="roundRect">
            <a:avLst>
              <a:gd name="adj" fmla="val 6000"/>
            </a:avLst>
          </a:prstGeom>
          <a:solidFill>
            <a:srgbClr val="EFE6F6"/>
          </a:solidFill>
          <a:ln>
            <a:noFill/>
          </a:ln>
        </p:spPr>
        <p:txBody>
          <a:bodyPr wrap="square" lIns="109728" tIns="73152" rIns="109728" bIns="73152" anchor="t">
            <a:noAutofit/>
          </a:bodyPr>
          <a:lstStyle/>
          <a:p>
            <a:endParaRPr lang="en-US"/>
          </a:p>
        </p:txBody>
      </p:sp>
      <p:sp>
        <p:nvSpPr>
          <p:cNvPr id="398" name="Text 398"/>
          <p:cNvSpPr txBox="1"/>
          <p:nvPr/>
        </p:nvSpPr>
        <p:spPr>
          <a:xfrm>
            <a:off x="685800" y="5120640"/>
            <a:ext cx="10789920" cy="868680"/>
          </a:xfrm>
          <a:prstGeom prst="rect">
            <a:avLst/>
          </a:prstGeom>
          <a:noFill/>
          <a:ln>
            <a:noFill/>
          </a:ln>
        </p:spPr>
        <p:txBody>
          <a:bodyPr wrap="square" lIns="45720" tIns="27432" rIns="45720" bIns="27432" anchor="ctr">
            <a:noAutofit/>
          </a:bodyPr>
          <a:lstStyle/>
          <a:p>
            <a:pPr marL="0" indent="0" algn="l">
              <a:spcBef>
                <a:spcPts val="0"/>
              </a:spcBef>
              <a:spcAft>
                <a:spcPts val="0"/>
              </a:spcAft>
              <a:buNone/>
            </a:pPr>
            <a:r>
              <a:rPr lang="en-US" sz="1400" b="0" i="1" dirty="0">
                <a:solidFill>
                  <a:srgbClr val="5A0886"/>
                </a:solidFill>
                <a:latin typeface="Times New Roman"/>
                <a:cs typeface="Times New Roman"/>
              </a:rPr>
              <a:t>Slides 5–7 and 12–13 follow my SLA 1 article [1]. Slides 8–11 (scenario, code, hash example) are original demonstration material on synthetic data, supported by [2]–[6].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4"/>
          <p:cNvSpPr txBox="1">
            <a:spLocks noGrp="1"/>
          </p:cNvSpPr>
          <p:nvPr>
            <p:ph type="body" idx="1"/>
          </p:nvPr>
        </p:nvSpPr>
        <p:spPr>
          <a:xfrm>
            <a:off x="2333799" y="2636912"/>
            <a:ext cx="7704856" cy="103671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6600"/>
              <a:buNone/>
            </a:pPr>
            <a:r>
              <a:rPr lang="en-US" sz="6600">
                <a:latin typeface="Verdana"/>
                <a:ea typeface="Verdana"/>
                <a:cs typeface="Verdana"/>
                <a:sym typeface="Verdana"/>
              </a:rPr>
              <a:t>Thank You</a:t>
            </a:r>
            <a:endParaRPr/>
          </a:p>
        </p:txBody>
      </p:sp>
      <p:pic>
        <p:nvPicPr>
          <p:cNvPr id="169" name="Google Shape;169;p34"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70" name="Google Shape;170;p34"/>
          <p:cNvGrpSpPr/>
          <p:nvPr/>
        </p:nvGrpSpPr>
        <p:grpSpPr>
          <a:xfrm>
            <a:off x="7300" y="2220"/>
            <a:ext cx="1443834" cy="6855780"/>
            <a:chOff x="7300" y="2220"/>
            <a:chExt cx="1443834" cy="6855780"/>
          </a:xfrm>
        </p:grpSpPr>
        <p:sp>
          <p:nvSpPr>
            <p:cNvPr id="171" name="Google Shape;171;p34"/>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2" name="Google Shape;172;p34"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
        <p:nvSpPr>
          <p:cNvPr id="173" name="Google Shape;173;p3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74" name="Google Shape;174;p3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75" name="Google Shape;175;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528547-be21-4cb5-b3e5-9f4745cd629b">
      <Terms xmlns="http://schemas.microsoft.com/office/infopath/2007/PartnerControls"/>
    </lcf76f155ced4ddcb4097134ff3c332f>
    <TaxCatchAll xmlns="17f54f7e-8591-4f9a-8309-58e36c435fb9" xsi:nil="true"/>
    <ReferenceId xmlns="65528547-be21-4cb5-b3e5-9f4745cd62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22E9DACFE213439CA4353750D1E044" ma:contentTypeVersion="10" ma:contentTypeDescription="Create a new document." ma:contentTypeScope="" ma:versionID="2479fa9904c906d3237b484a01811b6e">
  <xsd:schema xmlns:xsd="http://www.w3.org/2001/XMLSchema" xmlns:xs="http://www.w3.org/2001/XMLSchema" xmlns:p="http://schemas.microsoft.com/office/2006/metadata/properties" xmlns:ns2="65528547-be21-4cb5-b3e5-9f4745cd629b" xmlns:ns3="17f54f7e-8591-4f9a-8309-58e36c435fb9" targetNamespace="http://schemas.microsoft.com/office/2006/metadata/properties" ma:root="true" ma:fieldsID="793431c81cb2616d36d2ff76712c594b" ns2:_="" ns3:_="">
    <xsd:import namespace="65528547-be21-4cb5-b3e5-9f4745cd629b"/>
    <xsd:import namespace="17f54f7e-8591-4f9a-8309-58e36c435fb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528547-be21-4cb5-b3e5-9f4745cd629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e69592b-492b-4a9a-8d6d-eb7c5dc7e319"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f54f7e-8591-4f9a-8309-58e36c435fb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2bae935-0890-4c7f-9879-7875db3e9754}" ma:internalName="TaxCatchAll" ma:showField="CatchAllData" ma:web="17f54f7e-8591-4f9a-8309-58e36c435f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AE2A52-8254-4352-A34F-82004FEBCBF7}">
  <ds:schemaRefs>
    <ds:schemaRef ds:uri="http://schemas.microsoft.com/sharepoint/v3/contenttype/forms"/>
  </ds:schemaRefs>
</ds:datastoreItem>
</file>

<file path=customXml/itemProps2.xml><?xml version="1.0" encoding="utf-8"?>
<ds:datastoreItem xmlns:ds="http://schemas.openxmlformats.org/officeDocument/2006/customXml" ds:itemID="{3A498B07-8437-4BD5-A2A0-09F438039E51}">
  <ds:schemaRefs>
    <ds:schemaRef ds:uri="http://schemas.microsoft.com/office/2006/metadata/properties"/>
    <ds:schemaRef ds:uri="http://schemas.microsoft.com/office/infopath/2007/PartnerControls"/>
    <ds:schemaRef ds:uri="65528547-be21-4cb5-b3e5-9f4745cd629b"/>
    <ds:schemaRef ds:uri="17f54f7e-8591-4f9a-8309-58e36c435fb9"/>
  </ds:schemaRefs>
</ds:datastoreItem>
</file>

<file path=customXml/itemProps3.xml><?xml version="1.0" encoding="utf-8"?>
<ds:datastoreItem xmlns:ds="http://schemas.openxmlformats.org/officeDocument/2006/customXml" ds:itemID="{7ED4E9A9-7CC5-43B8-B768-0708708C3B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528547-be21-4cb5-b3e5-9f4745cd629b"/>
    <ds:schemaRef ds:uri="17f54f7e-8591-4f9a-8309-58e36c435f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TotalTime>
  <Words>1993</Words>
  <Application>Microsoft Office PowerPoint</Application>
  <PresentationFormat>Widescreen</PresentationFormat>
  <Paragraphs>311</Paragraphs>
  <Slides>15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Bodoni</vt:lpstr>
      <vt:lpstr>Arial</vt:lpstr>
      <vt:lpstr>Times New Roman</vt:lpstr>
      <vt:lpstr>Verdana</vt:lpstr>
      <vt:lpstr>Courier New</vt:lpstr>
      <vt:lpstr>Office Theme</vt:lpstr>
      <vt:lpstr>  Mahavir Education Trust’s Shah &amp; Anchor Kutchhi Engineering College Chembur, Mumbai-400088 (An Autonomous Institute Affiliated to University of Mumbai)</vt:lpstr>
      <vt:lpstr>Vision &amp; Mission</vt:lpstr>
      <vt:lpstr>  Program Specific Outcomes </vt:lpstr>
      <vt:lpstr>Outline</vt:lpstr>
      <vt:lpstr>Introduction &amp; Objectives</vt:lpstr>
      <vt:lpstr>AI-Assisted Forensic Workflow</vt:lpstr>
      <vt:lpstr>Where AI Helps Investigators</vt:lpstr>
      <vt:lpstr>Synthetic Login-Log Scenario</vt:lpstr>
      <vt:lpstr>Rule-Based Flagging in Python</vt:lpstr>
      <vt:lpstr>From Alert to Conclusion</vt:lpstr>
      <vt:lpstr>Evidence Integrity: Hash Check</vt:lpstr>
      <vt:lpstr>Benefits, Risks &amp; Safeguards</vt:lpstr>
      <vt:lpstr>Future Scope &amp;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Mahavir Education Trust’s Shah &amp; Anchor Kutchhi Engineering College Chembur, Mumbai-400088 (An Autonomous Institute Affiliated to University of Mumbai)</dc:title>
  <dc:creator>Mahesh Patil</dc:creator>
  <cp:lastModifiedBy>Priya</cp:lastModifiedBy>
  <cp:revision>5</cp:revision>
  <dcterms:created xsi:type="dcterms:W3CDTF">2023-06-05T08:11:23Z</dcterms:created>
  <dcterms:modified xsi:type="dcterms:W3CDTF">2026-10-26T13:34:47Z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0x0101006922E9DACFE213439CA4353750D1E044</vt:lpwstr>
  </property>
  <property fmtid="{D5CDD505-2E9C-101B-9397-08002B2CF9AE}" pid="3" name="MediaServiceImageTags">
    <vt:lpwstr/>
  </property>
</Properties>
</file>